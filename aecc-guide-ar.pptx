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81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9F656B">
              <a:alpha val="20000"/>
            </a:srgbClr>
          </a:solidFill>
          <a:ln w="12700">
            <a:solidFill>
              <a:srgbClr val="9F656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CB8C78">
              <a:alpha val="15000"/>
            </a:srgbClr>
          </a:solidFill>
          <a:ln w="12700">
            <a:solidFill>
              <a:srgbClr val="CB8C78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18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نادي الإيمان للكيمياء</a:t>
            </a:r>
            <a:endParaRPr lang="ar-QA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استخدام المنصة</a:t>
            </a:r>
            <a:endParaRPr lang="ar-QA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16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خطوة بخطوة — من التسجيل إلى لوحة التحكم</a:t>
            </a:r>
            <a:endParaRPr lang="ar-Q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1200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مدرسة الإيمان الثانوية · 2026 – 2027</a:t>
            </a:r>
            <a:endParaRPr lang="ar-QA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81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2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الأولى</a:t>
            </a:r>
            <a:endParaRPr lang="ar-Q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36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افتحي الموقع</a:t>
            </a:r>
            <a:endParaRPr lang="ar-QA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3017520"/>
          </a:xfrm>
          <a:prstGeom prst="roundRect">
            <a:avLst>
              <a:gd name="adj" fmla="val 4545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37360"/>
            <a:ext cx="7132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400"/>
              </a:spcAft>
              <a:buNone/>
            </a:pPr>
            <a:r>
              <a:rPr lang="ar-QA" altLang="en-US" sz="1700" b="1" dirty="0">
                <a:solidFill>
                  <a:srgbClr val="48132F"/>
                </a:solidFill>
              </a:rPr>
              <a:t>الموقع العام مفتوح للجميع ويعرض:</a:t>
            </a:r>
            <a:endParaRPr lang="ar-QA" sz="1700" dirty="0"/>
          </a:p>
          <a:p>
            <a:pPr rtl="1" indent="0" marL="0">
              <a:spcAft>
                <a:spcPts val="400"/>
              </a:spcAft>
              <a:buNone/>
            </a:pPr>
            <a:endParaRPr lang="ar-QA" sz="1700" dirty="0"/>
          </a:p>
          <a:p>
            <a:pPr rtl="1" marL="342900" indent="-342900">
              <a:spcAft>
                <a:spcPts val="400"/>
              </a:spcAft>
              <a:buSzPct val="100000"/>
              <a:buChar char="•"/>
            </a:pPr>
            <a:r>
              <a:rPr lang="ar-QA" altLang="en-US" sz="1500" dirty="0">
                <a:solidFill>
                  <a:srgbClr val="2D1A1E"/>
                </a:solidFill>
              </a:rPr>
              <a:t>الصفحة الرئيسية — تعريف بالنادي وأهم الأنشطة</a:t>
            </a:r>
            <a:endParaRPr lang="ar-QA" sz="1700" dirty="0"/>
          </a:p>
          <a:p>
            <a:pPr rtl="1" marL="342900" indent="-342900">
              <a:spcAft>
                <a:spcPts val="400"/>
              </a:spcAft>
              <a:buSzPct val="100000"/>
              <a:buChar char="•"/>
            </a:pPr>
            <a:r>
              <a:rPr lang="ar-QA" altLang="en-US" sz="1500" dirty="0">
                <a:solidFill>
                  <a:srgbClr val="2D1A1E"/>
                </a:solidFill>
              </a:rPr>
              <a:t>عن النادي — الرسالة والرؤية والقيم</a:t>
            </a:r>
            <a:endParaRPr lang="ar-QA" sz="1700" dirty="0"/>
          </a:p>
          <a:p>
            <a:pPr rtl="1" marL="342900" indent="-342900">
              <a:spcAft>
                <a:spcPts val="400"/>
              </a:spcAft>
              <a:buSzPct val="100000"/>
              <a:buChar char="•"/>
            </a:pPr>
            <a:r>
              <a:rPr lang="ar-QA" altLang="en-US" sz="1500" dirty="0">
                <a:solidFill>
                  <a:srgbClr val="2D1A1E"/>
                </a:solidFill>
              </a:rPr>
              <a:t>حياة النادي — الأنشطة والإنجازات</a:t>
            </a:r>
            <a:endParaRPr lang="ar-QA" sz="1700" dirty="0"/>
          </a:p>
          <a:p>
            <a:pPr rtl="1" marL="342900" indent="-342900">
              <a:spcAft>
                <a:spcPts val="400"/>
              </a:spcAft>
              <a:buSzPct val="100000"/>
              <a:buChar char="•"/>
            </a:pPr>
            <a:r>
              <a:rPr lang="ar-QA" altLang="en-US" sz="1500" dirty="0">
                <a:solidFill>
                  <a:srgbClr val="2D1A1E"/>
                </a:solidFill>
              </a:rPr>
              <a:t>المجلة الإلكترونية — المقالات المنشورة</a:t>
            </a:r>
            <a:endParaRPr lang="ar-QA" sz="1700" dirty="0"/>
          </a:p>
          <a:p>
            <a:pPr rtl="1" marL="342900" indent="-342900">
              <a:spcAft>
                <a:spcPts val="400"/>
              </a:spcAft>
              <a:buSzPct val="100000"/>
              <a:buChar char="•"/>
            </a:pPr>
            <a:r>
              <a:rPr lang="ar-QA" altLang="en-US" sz="1500" dirty="0">
                <a:solidFill>
                  <a:srgbClr val="2D1A1E"/>
                </a:solidFill>
              </a:rPr>
              <a:t>معرض الصور — ألبومات الفعاليات</a:t>
            </a:r>
            <a:endParaRPr lang="ar-QA" sz="1700" dirty="0"/>
          </a:p>
          <a:p>
            <a:pPr rtl="1" indent="0" marL="0">
              <a:spcAft>
                <a:spcPts val="400"/>
              </a:spcAft>
              <a:buNone/>
            </a:pPr>
            <a:endParaRPr lang="ar-QA" sz="1700" dirty="0"/>
          </a:p>
          <a:p>
            <a:pPr rtl="1" indent="0" marL="0">
              <a:spcAft>
                <a:spcPts val="400"/>
              </a:spcAft>
              <a:buNone/>
            </a:pPr>
            <a:r>
              <a:rPr lang="ar-QA" altLang="en-US" sz="1500" b="1" dirty="0">
                <a:solidFill>
                  <a:srgbClr val="9F656B"/>
                </a:solidFill>
              </a:rPr>
              <a:t>اضغطي على "تسجيل الدخول" للانتقال إلى صفحة الدخول.</a:t>
            </a:r>
            <a:endParaRPr lang="ar-QA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81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2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الثانية</a:t>
            </a:r>
            <a:endParaRPr lang="ar-Q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36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 جديد</a:t>
            </a:r>
            <a:endParaRPr lang="ar-QA" sz="3600" dirty="0"/>
          </a:p>
        </p:txBody>
      </p:sp>
      <p:sp>
        <p:nvSpPr>
          <p:cNvPr id="5" name="Shape 3"/>
          <p:cNvSpPr/>
          <p:nvPr/>
        </p:nvSpPr>
        <p:spPr>
          <a:xfrm>
            <a:off x="4709160" y="1554480"/>
            <a:ext cx="388620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الكامل</a:t>
            </a:r>
            <a:endParaRPr lang="ar-Q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بالعربي والإنجليزي</a:t>
            </a:r>
            <a:endParaRPr lang="ar-QA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88620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المستخدم</a:t>
            </a:r>
            <a:endParaRPr lang="ar-Q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sara.almutairi</a:t>
            </a:r>
            <a:endParaRPr lang="ar-QA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14600"/>
            <a:ext cx="388620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</a:t>
            </a:r>
            <a:endParaRPr lang="ar-Q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الرسمي</a:t>
            </a:r>
            <a:endParaRPr lang="ar-QA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388620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الدراسي</a:t>
            </a:r>
            <a:endParaRPr lang="ar-Q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أو 11 أو 12</a:t>
            </a:r>
            <a:endParaRPr lang="ar-QA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474720"/>
            <a:ext cx="388620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المرور</a:t>
            </a:r>
            <a:endParaRPr lang="ar-QA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اختاري كلمة مرور قوية</a:t>
            </a:r>
            <a:endParaRPr lang="ar-QA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388620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كلمة المرور</a:t>
            </a:r>
            <a:endParaRPr lang="ar-QA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أعيدي كتابتها</a:t>
            </a:r>
            <a:endParaRPr lang="ar-QA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13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تعبئة البيانات، اضغطي "إنشاء حساب" ← يمكنك تسجيل الدخول فوراً</a:t>
            </a:r>
            <a:endParaRPr lang="ar-QA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81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2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الثالثة</a:t>
            </a:r>
            <a:endParaRPr lang="ar-Q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36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</a:t>
            </a:r>
            <a:endParaRPr lang="ar-QA" sz="3600" dirty="0"/>
          </a:p>
        </p:txBody>
      </p:sp>
      <p:sp>
        <p:nvSpPr>
          <p:cNvPr id="5" name="Shape 3"/>
          <p:cNvSpPr/>
          <p:nvPr/>
        </p:nvSpPr>
        <p:spPr>
          <a:xfrm>
            <a:off x="2286000" y="1463040"/>
            <a:ext cx="4572000" cy="2926080"/>
          </a:xfrm>
          <a:prstGeom prst="roundRect">
            <a:avLst>
              <a:gd name="adj" fmla="val 5625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560320" y="1645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20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مرحباً بعودتك</a:t>
            </a:r>
            <a:endParaRPr lang="ar-QA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19456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0B5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2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المستخدم</a:t>
            </a:r>
            <a:endParaRPr lang="ar-QA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278892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0B5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2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المرور</a:t>
            </a:r>
            <a:endParaRPr lang="ar-QA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34290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4813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43200" y="3429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</a:t>
            </a:r>
            <a:endParaRPr lang="ar-Q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13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نسيتِ كلمة المرور؟ اضغطي على الرابط وسيتواصل معك المشرف</a:t>
            </a:r>
            <a:endParaRPr lang="ar-Q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81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2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الرابعة</a:t>
            </a:r>
            <a:endParaRPr lang="ar-Q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36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التنقل في المنصة</a:t>
            </a:r>
            <a:endParaRPr lang="ar-QA" sz="3600" dirty="0"/>
          </a:p>
        </p:txBody>
      </p:sp>
      <p:sp>
        <p:nvSpPr>
          <p:cNvPr id="5" name="Shape 3"/>
          <p:cNvSpPr/>
          <p:nvPr/>
        </p:nvSpPr>
        <p:spPr>
          <a:xfrm>
            <a:off x="6400800" y="1463040"/>
            <a:ext cx="2194560" cy="3200400"/>
          </a:xfrm>
          <a:prstGeom prst="roundRect">
            <a:avLst>
              <a:gd name="adj" fmla="val 5000"/>
            </a:avLst>
          </a:prstGeom>
          <a:solidFill>
            <a:srgbClr val="48132F"/>
          </a:solidFill>
          <a:ln/>
        </p:spPr>
      </p:sp>
      <p:sp>
        <p:nvSpPr>
          <p:cNvPr id="6" name="Shape 4"/>
          <p:cNvSpPr/>
          <p:nvPr/>
        </p:nvSpPr>
        <p:spPr>
          <a:xfrm>
            <a:off x="6537960" y="1600200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9F656B">
              <a:alpha val="3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QA" alt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</a:t>
            </a:r>
            <a:endParaRPr lang="ar-QA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QA" altLang="en-US" sz="1000" dirty="0">
                <a:solidFill>
                  <a:srgbClr val="D7A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الأعضاء</a:t>
            </a:r>
            <a:endParaRPr lang="ar-QA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QA" altLang="en-US" sz="1000" dirty="0">
                <a:solidFill>
                  <a:srgbClr val="D7A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اللجان</a:t>
            </a:r>
            <a:endParaRPr lang="ar-QA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QA" altLang="en-US" sz="1000" dirty="0">
                <a:solidFill>
                  <a:srgbClr val="D7A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الفعاليات</a:t>
            </a:r>
            <a:endParaRPr lang="ar-QA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880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QA" altLang="en-US" sz="1000" dirty="0">
                <a:solidFill>
                  <a:srgbClr val="D7A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الحضور</a:t>
            </a:r>
            <a:endParaRPr lang="ar-QA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200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QA" altLang="en-US" sz="1000" dirty="0">
                <a:solidFill>
                  <a:srgbClr val="D7A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</a:t>
            </a:r>
            <a:endParaRPr lang="ar-QA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520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QA" altLang="en-US" sz="1000" dirty="0">
                <a:solidFill>
                  <a:srgbClr val="D7A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الإنجازات</a:t>
            </a:r>
            <a:endParaRPr lang="ar-QA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QA" altLang="en-US" sz="1000" dirty="0">
                <a:solidFill>
                  <a:srgbClr val="D7A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الإعلانات</a:t>
            </a:r>
            <a:endParaRPr lang="ar-QA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QA" altLang="en-US" sz="1000" dirty="0">
                <a:solidFill>
                  <a:srgbClr val="D7A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المجلة</a:t>
            </a:r>
            <a:endParaRPr lang="ar-QA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46304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300"/>
              </a:spcAft>
              <a:buNone/>
            </a:pPr>
            <a:r>
              <a:rPr lang="ar-QA" altLang="en-US" sz="1500" b="1" dirty="0">
                <a:solidFill>
                  <a:srgbClr val="48132F"/>
                </a:solidFill>
              </a:rPr>
              <a:t>الشريط الجانبي (على الحاسوب):</a:t>
            </a:r>
            <a:endParaRPr lang="ar-QA" sz="1500" dirty="0"/>
          </a:p>
          <a:p>
            <a:pPr rtl="1" indent="0" marL="0">
              <a:spcAft>
                <a:spcPts val="300"/>
              </a:spcAft>
              <a:buNone/>
            </a:pPr>
            <a:r>
              <a:rPr lang="ar-QA" altLang="en-US" sz="1300" dirty="0">
                <a:solidFill>
                  <a:srgbClr val="5E4650"/>
                </a:solidFill>
              </a:rPr>
              <a:t>يحتوي على جميع أقسام المنصة مقسمة إلى مجموعات</a:t>
            </a:r>
            <a:endParaRPr lang="ar-QA" sz="1500" dirty="0"/>
          </a:p>
          <a:p>
            <a:pPr rtl="1" indent="0" marL="0">
              <a:spcAft>
                <a:spcPts val="300"/>
              </a:spcAft>
              <a:buNone/>
            </a:pPr>
            <a:endParaRPr lang="ar-QA" sz="15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300" dirty="0">
                <a:solidFill>
                  <a:srgbClr val="2D1A1E"/>
                </a:solidFill>
              </a:rPr>
              <a:t>النادي: لوحة التحكم، الأعضاء، اللجان، الفعاليات، الحضور</a:t>
            </a:r>
            <a:endParaRPr lang="ar-QA" sz="15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300" dirty="0">
                <a:solidFill>
                  <a:srgbClr val="2D1A1E"/>
                </a:solidFill>
              </a:rPr>
              <a:t>النشاط: المهام، الإنجازات، الإعلانات</a:t>
            </a:r>
            <a:endParaRPr lang="ar-QA" sz="15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300" dirty="0">
                <a:solidFill>
                  <a:srgbClr val="2D1A1E"/>
                </a:solidFill>
              </a:rPr>
              <a:t>النشر: المجلة، الشهادات</a:t>
            </a:r>
            <a:endParaRPr lang="ar-QA" sz="15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300" dirty="0">
                <a:solidFill>
                  <a:srgbClr val="2D1A1E"/>
                </a:solidFill>
              </a:rPr>
              <a:t>الإدارة: إدارة المستخدمين</a:t>
            </a:r>
            <a:endParaRPr lang="ar-QA" sz="1500" dirty="0"/>
          </a:p>
          <a:p>
            <a:pPr rtl="1" indent="0" marL="0">
              <a:spcAft>
                <a:spcPts val="300"/>
              </a:spcAft>
              <a:buNone/>
            </a:pPr>
            <a:endParaRPr lang="ar-QA" sz="1500" dirty="0"/>
          </a:p>
          <a:p>
            <a:pPr rtl="1" indent="0" marL="0">
              <a:spcAft>
                <a:spcPts val="300"/>
              </a:spcAft>
              <a:buNone/>
            </a:pPr>
            <a:r>
              <a:rPr lang="ar-QA" altLang="en-US" sz="1500" b="1" dirty="0">
                <a:solidFill>
                  <a:srgbClr val="48132F"/>
                </a:solidFill>
              </a:rPr>
              <a:t>الشريط العلوي:</a:t>
            </a:r>
            <a:endParaRPr lang="ar-QA" sz="1500" dirty="0"/>
          </a:p>
          <a:p>
            <a:pPr rtl="1" indent="0" marL="0">
              <a:spcAft>
                <a:spcPts val="300"/>
              </a:spcAft>
              <a:buNone/>
            </a:pPr>
            <a:r>
              <a:rPr lang="ar-QA" altLang="en-US" sz="1300" dirty="0">
                <a:solidFill>
                  <a:srgbClr val="5E4650"/>
                </a:solidFill>
              </a:rPr>
              <a:t>يحتوي على:</a:t>
            </a:r>
            <a:endParaRPr lang="ar-QA" sz="15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300" dirty="0">
                <a:solidFill>
                  <a:srgbClr val="2D1A1E"/>
                </a:solidFill>
              </a:rPr>
              <a:t>الدور الوظيفي · أيقونة المهام · جرس الإشعارات</a:t>
            </a:r>
            <a:endParaRPr lang="ar-QA" sz="15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300" dirty="0">
                <a:solidFill>
                  <a:srgbClr val="2D1A1E"/>
                </a:solidFill>
              </a:rPr>
              <a:t>تبديل الوضع (فاتح/داكن) · تبديل اللغة (عربي/إنجليزي)</a:t>
            </a:r>
            <a:endParaRPr lang="ar-QA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81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2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الخامسة</a:t>
            </a:r>
            <a:endParaRPr lang="ar-QA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3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 — ما ستراه المعلمة</a:t>
            </a:r>
            <a:endParaRPr lang="ar-QA" sz="3400" dirty="0"/>
          </a:p>
        </p:txBody>
      </p:sp>
      <p:sp>
        <p:nvSpPr>
          <p:cNvPr id="5" name="Shape 3"/>
          <p:cNvSpPr/>
          <p:nvPr/>
        </p:nvSpPr>
        <p:spPr>
          <a:xfrm>
            <a:off x="6537960" y="14630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الأعضاء</a:t>
            </a:r>
            <a:endParaRPr lang="ar-QA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2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QA" sz="2400" dirty="0"/>
          </a:p>
        </p:txBody>
      </p:sp>
      <p:sp>
        <p:nvSpPr>
          <p:cNvPr id="8" name="Shape 6"/>
          <p:cNvSpPr/>
          <p:nvPr/>
        </p:nvSpPr>
        <p:spPr>
          <a:xfrm>
            <a:off x="4526280" y="14630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الفعاليات القادمة</a:t>
            </a:r>
            <a:endParaRPr lang="ar-QA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2400" b="1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QA" sz="2400" dirty="0"/>
          </a:p>
        </p:txBody>
      </p:sp>
      <p:sp>
        <p:nvSpPr>
          <p:cNvPr id="11" name="Shape 9"/>
          <p:cNvSpPr/>
          <p:nvPr/>
        </p:nvSpPr>
        <p:spPr>
          <a:xfrm>
            <a:off x="2514600" y="14630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المشاريع الجارية</a:t>
            </a:r>
            <a:endParaRPr lang="ar-QA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2400" b="1" dirty="0">
                <a:solidFill>
                  <a:srgbClr val="764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QA" sz="2400" dirty="0"/>
          </a:p>
        </p:txBody>
      </p:sp>
      <p:sp>
        <p:nvSpPr>
          <p:cNvPr id="14" name="Shape 12"/>
          <p:cNvSpPr/>
          <p:nvPr/>
        </p:nvSpPr>
        <p:spPr>
          <a:xfrm>
            <a:off x="502920" y="14630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الحضور</a:t>
            </a:r>
            <a:endParaRPr lang="ar-QA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2400" b="1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—%</a:t>
            </a:r>
            <a:endParaRPr lang="ar-QA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65176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spcAft>
                <a:spcPts val="300"/>
              </a:spcAft>
              <a:buNone/>
            </a:pPr>
            <a:r>
              <a:rPr lang="ar-QA" altLang="en-US" sz="1600" b="1" dirty="0">
                <a:solidFill>
                  <a:srgbClr val="48132F"/>
                </a:solidFill>
              </a:rPr>
              <a:t>لوحة التحكم تعرض لك:</a:t>
            </a:r>
            <a:endParaRPr lang="ar-QA" sz="1600" dirty="0"/>
          </a:p>
          <a:p>
            <a:pPr rtl="1" indent="0" marL="0">
              <a:spcAft>
                <a:spcPts val="300"/>
              </a:spcAft>
              <a:buNone/>
            </a:pPr>
            <a:endParaRPr lang="ar-QA" sz="16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400" dirty="0">
                <a:solidFill>
                  <a:srgbClr val="2D1A1E"/>
                </a:solidFill>
              </a:rPr>
              <a:t>إحصائيات النادي — عدد الأعضاء، الفعاليات، المشاريع، الحضور، النقاط</a:t>
            </a:r>
            <a:endParaRPr lang="ar-QA" sz="16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400" dirty="0">
                <a:solidFill>
                  <a:srgbClr val="2D1A1E"/>
                </a:solidFill>
              </a:rPr>
              <a:t>آخر الإعلانات — أحدث إعلان منشور في النادي</a:t>
            </a:r>
            <a:endParaRPr lang="ar-QA" sz="16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400" dirty="0">
                <a:solidFill>
                  <a:srgbClr val="2D1A1E"/>
                </a:solidFill>
              </a:rPr>
              <a:t>الفعاليات القادمة — أقرب ٣ فعاليات مجدولة</a:t>
            </a:r>
            <a:endParaRPr lang="ar-QA" sz="16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400" dirty="0">
                <a:solidFill>
                  <a:srgbClr val="2D1A1E"/>
                </a:solidFill>
              </a:rPr>
              <a:t>تقدم المشاريع — نسبة إنجاز المشاريع النشطة</a:t>
            </a:r>
            <a:endParaRPr lang="ar-QA" sz="16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400" dirty="0">
                <a:solidFill>
                  <a:srgbClr val="2D1A1E"/>
                </a:solidFill>
              </a:rPr>
              <a:t>النشاط الأخير — آخر الأنشطة في النادي</a:t>
            </a:r>
            <a:endParaRPr lang="ar-QA" sz="16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400" dirty="0">
                <a:solidFill>
                  <a:srgbClr val="2D1A1E"/>
                </a:solidFill>
              </a:rPr>
              <a:t>إجراءات سريعة — اختصارات لأهم العمليات</a:t>
            </a:r>
            <a:endParaRPr lang="ar-QA" sz="1600" dirty="0"/>
          </a:p>
          <a:p>
            <a:pPr rtl="1" marL="342900" indent="-342900">
              <a:spcAft>
                <a:spcPts val="300"/>
              </a:spcAft>
              <a:buSzPct val="100000"/>
              <a:buChar char="•"/>
            </a:pPr>
            <a:r>
              <a:rPr lang="ar-QA" altLang="en-US" sz="1400" dirty="0">
                <a:solidFill>
                  <a:srgbClr val="2D1A1E"/>
                </a:solidFill>
              </a:rPr>
              <a:t>لوحة المتصدرين — ترتيب الأعضاء حسب النقاط</a:t>
            </a:r>
            <a:endParaRPr lang="ar-QA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813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3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أدوات المنصة</a:t>
            </a:r>
            <a:endParaRPr lang="ar-QA" sz="3400" dirty="0"/>
          </a:p>
        </p:txBody>
      </p:sp>
      <p:sp>
        <p:nvSpPr>
          <p:cNvPr id="4" name="Shape 2"/>
          <p:cNvSpPr/>
          <p:nvPr/>
        </p:nvSpPr>
        <p:spPr>
          <a:xfrm>
            <a:off x="4663440" y="109728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الفعاليات</a:t>
            </a:r>
            <a:endParaRPr lang="ar-QA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فعاليات وتحديد التاريخ والمكان والسعة</a:t>
            </a:r>
            <a:endParaRPr lang="ar-QA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الحضور</a:t>
            </a:r>
            <a:endParaRPr lang="ar-QA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حضور كل عضوة في كل فعالية</a:t>
            </a:r>
            <a:endParaRPr lang="ar-QA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05740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 النقاط</a:t>
            </a:r>
            <a:endParaRPr lang="ar-QA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مكافأة الأعضاء بالنقاط مع ذكر السبب</a:t>
            </a:r>
            <a:endParaRPr lang="ar-QA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المهام</a:t>
            </a:r>
            <a:endParaRPr lang="ar-QA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المهام على الأعضاء مع مواعيد التسليم</a:t>
            </a:r>
            <a:endParaRPr lang="ar-QA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المجلة الإلكترونية</a:t>
            </a:r>
            <a:endParaRPr lang="ar-QA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ونشر مقالات الأعضاء</a:t>
            </a:r>
            <a:endParaRPr lang="ar-QA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الشهادات</a:t>
            </a:r>
            <a:endParaRPr lang="ar-QA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 شهادات مشاركة وتميز للأعضاء</a:t>
            </a:r>
            <a:endParaRPr lang="ar-QA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97764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4069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الإنجازات والأوسمة</a:t>
            </a:r>
            <a:endParaRPr lang="ar-QA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 شارات تقدير للأعضاء المتميزات</a:t>
            </a:r>
            <a:endParaRPr lang="ar-QA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FBEAE6"/>
          </a:solidFill>
          <a:ln w="12700">
            <a:solidFill>
              <a:srgbClr val="E8D0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069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400" b="1" dirty="0">
                <a:solidFill>
                  <a:srgbClr val="481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المستخدمين</a:t>
            </a:r>
            <a:endParaRPr lang="ar-QA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QA" altLang="en-US" sz="1100" dirty="0">
                <a:solidFill>
                  <a:srgbClr val="5E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حسابات وتحديد الأدوار والصلاحيات</a:t>
            </a:r>
            <a:endParaRPr lang="ar-QA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81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9F656B">
              <a:alpha val="15000"/>
            </a:srgbClr>
          </a:solidFill>
          <a:ln w="12700">
            <a:solidFill>
              <a:srgbClr val="9F656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CB8C78">
              <a:alpha val="15000"/>
            </a:srgbClr>
          </a:solidFill>
          <a:ln w="12700">
            <a:solidFill>
              <a:srgbClr val="CB8C78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!ابدأي الآن</a:t>
            </a:r>
            <a:endParaRPr lang="ar-QA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1800" dirty="0">
                <a:solidFill>
                  <a:srgbClr val="CB8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جاهزة — سجلي دخولك واستكشفي جميع الأدوات</a:t>
            </a:r>
            <a:endParaRPr lang="ar-QA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1400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استكشفي · تفاعلي · اكتشفي</a:t>
            </a:r>
            <a:endParaRPr lang="ar-Q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QA" altLang="en-US" sz="1100" dirty="0">
                <a:solidFill>
                  <a:srgbClr val="9F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نادي الإيمان للكيمياء · مدرسة الإيمان الثانوية · 2026–2027</a:t>
            </a:r>
            <a:endParaRPr lang="ar-QA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دليل استخدام منصة نادي الإيمان للكيمياء</dc:title>
  <dc:subject>دليل استخدام المنصة</dc:subject>
  <dc:creator>AECC Platform</dc:creator>
  <cp:lastModifiedBy>AECC Platform</cp:lastModifiedBy>
  <cp:revision>1</cp:revision>
  <dcterms:created xsi:type="dcterms:W3CDTF">2026-08-28T09:32:37Z</dcterms:created>
  <dcterms:modified xsi:type="dcterms:W3CDTF">2026-08-28T09:32:37Z</dcterms:modified>
</cp:coreProperties>
</file>