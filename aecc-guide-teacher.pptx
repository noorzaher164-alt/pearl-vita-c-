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9F656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CB8C7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نادي الإيمان للكيمياء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المعلمة الشامل</a:t>
            </a:r>
            <a:endParaRPr lang="ar-SA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تحتاجينه لإدارة المنصة — من التسجيل إلى التقارير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الإيمان الثانوية · 2026 – 2027</a:t>
            </a:r>
            <a:endParaRPr lang="ar-SA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محتويات الدليل</a:t>
            </a:r>
            <a:endParaRPr lang="ar-SA" sz="2800" dirty="0"/>
          </a:p>
        </p:txBody>
      </p:sp>
      <p:sp>
        <p:nvSpPr>
          <p:cNvPr id="3" name="Shape 1"/>
          <p:cNvSpPr/>
          <p:nvPr/>
        </p:nvSpPr>
        <p:spPr>
          <a:xfrm>
            <a:off x="7132320" y="1335024"/>
            <a:ext cx="274320" cy="274320"/>
          </a:xfrm>
          <a:prstGeom prst="ellipse">
            <a:avLst/>
          </a:prstGeom>
          <a:solidFill>
            <a:srgbClr val="4813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14032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الموقع والصفحات العامة</a:t>
            </a:r>
            <a:endParaRPr lang="ar-SA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810512"/>
            <a:ext cx="274320" cy="274320"/>
          </a:xfrm>
          <a:prstGeom prst="ellipse">
            <a:avLst/>
          </a:prstGeom>
          <a:solidFill>
            <a:srgbClr val="4813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14032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773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وتسجيل الدخول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2286000"/>
            <a:ext cx="274320" cy="274320"/>
          </a:xfrm>
          <a:prstGeom prst="ellipse">
            <a:avLst/>
          </a:prstGeom>
          <a:solidFill>
            <a:srgbClr val="4813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4032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2494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والتنقل</a:t>
            </a:r>
            <a:endParaRPr lang="ar-SA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2761488"/>
            <a:ext cx="274320" cy="274320"/>
          </a:xfrm>
          <a:prstGeom prst="ellipse">
            <a:avLst/>
          </a:prstGeom>
          <a:solidFill>
            <a:srgbClr val="4813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14032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24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العضوات</a:t>
            </a:r>
            <a:endParaRPr lang="ar-SA" sz="1300" dirty="0"/>
          </a:p>
        </p:txBody>
      </p:sp>
      <p:sp>
        <p:nvSpPr>
          <p:cNvPr id="15" name="Shape 13"/>
          <p:cNvSpPr/>
          <p:nvPr/>
        </p:nvSpPr>
        <p:spPr>
          <a:xfrm>
            <a:off x="7132320" y="3236976"/>
            <a:ext cx="274320" cy="274320"/>
          </a:xfrm>
          <a:prstGeom prst="ellipse">
            <a:avLst/>
          </a:prstGeom>
          <a:solidFill>
            <a:srgbClr val="4813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14032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اللجان والفعاليات</a:t>
            </a:r>
            <a:endParaRPr lang="ar-SA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3712464"/>
            <a:ext cx="274320" cy="274320"/>
          </a:xfrm>
          <a:prstGeom prst="ellipse">
            <a:avLst/>
          </a:prstGeom>
          <a:solidFill>
            <a:srgbClr val="4813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675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والنقاط</a:t>
            </a:r>
            <a:endParaRPr lang="ar-SA" sz="1300" dirty="0"/>
          </a:p>
        </p:txBody>
      </p:sp>
      <p:sp>
        <p:nvSpPr>
          <p:cNvPr id="21" name="Shape 19"/>
          <p:cNvSpPr/>
          <p:nvPr/>
        </p:nvSpPr>
        <p:spPr>
          <a:xfrm>
            <a:off x="7132320" y="4187952"/>
            <a:ext cx="274320" cy="274320"/>
          </a:xfrm>
          <a:prstGeom prst="ellipse">
            <a:avLst/>
          </a:prstGeom>
          <a:solidFill>
            <a:srgbClr val="48132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14032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151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والمشاريع</a:t>
            </a:r>
            <a:endParaRPr lang="ar-SA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335024"/>
            <a:ext cx="274320" cy="274320"/>
          </a:xfrm>
          <a:prstGeom prst="ellipse">
            <a:avLst/>
          </a:prstGeom>
          <a:solidFill>
            <a:srgbClr val="9F65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73552" y="1316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1298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المسابقات وصندوق الأفكار</a:t>
            </a:r>
            <a:endParaRPr lang="ar-SA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1810512"/>
            <a:ext cx="274320" cy="274320"/>
          </a:xfrm>
          <a:prstGeom prst="ellipse">
            <a:avLst/>
          </a:prstGeom>
          <a:solidFill>
            <a:srgbClr val="9F65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73552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17739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الإعلانات</a:t>
            </a:r>
            <a:endParaRPr lang="ar-SA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286000"/>
            <a:ext cx="274320" cy="274320"/>
          </a:xfrm>
          <a:prstGeom prst="ellipse">
            <a:avLst/>
          </a:prstGeom>
          <a:solidFill>
            <a:srgbClr val="9F65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73552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2494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 الإلكترونية</a:t>
            </a:r>
            <a:endParaRPr lang="ar-SA" sz="1300" dirty="0"/>
          </a:p>
        </p:txBody>
      </p:sp>
      <p:sp>
        <p:nvSpPr>
          <p:cNvPr id="33" name="Shape 31"/>
          <p:cNvSpPr/>
          <p:nvPr/>
        </p:nvSpPr>
        <p:spPr>
          <a:xfrm>
            <a:off x="3291840" y="2761488"/>
            <a:ext cx="274320" cy="274320"/>
          </a:xfrm>
          <a:prstGeom prst="ellipse">
            <a:avLst/>
          </a:prstGeom>
          <a:solidFill>
            <a:srgbClr val="9F65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73552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2724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الشهادات والإنجازات</a:t>
            </a:r>
            <a:endParaRPr lang="ar-SA" sz="1300" dirty="0"/>
          </a:p>
        </p:txBody>
      </p:sp>
      <p:sp>
        <p:nvSpPr>
          <p:cNvPr id="36" name="Shape 34"/>
          <p:cNvSpPr/>
          <p:nvPr/>
        </p:nvSpPr>
        <p:spPr>
          <a:xfrm>
            <a:off x="3291840" y="3236976"/>
            <a:ext cx="274320" cy="274320"/>
          </a:xfrm>
          <a:prstGeom prst="ellipse">
            <a:avLst/>
          </a:prstGeom>
          <a:solidFill>
            <a:srgbClr val="9F656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273552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200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المعرض والمصادر</a:t>
            </a:r>
            <a:endParaRPr lang="ar-SA" sz="1300" dirty="0"/>
          </a:p>
        </p:txBody>
      </p:sp>
      <p:sp>
        <p:nvSpPr>
          <p:cNvPr id="39" name="Shape 37"/>
          <p:cNvSpPr/>
          <p:nvPr/>
        </p:nvSpPr>
        <p:spPr>
          <a:xfrm>
            <a:off x="3291840" y="3712464"/>
            <a:ext cx="274320" cy="274320"/>
          </a:xfrm>
          <a:prstGeom prst="ellipse">
            <a:avLst/>
          </a:prstGeom>
          <a:solidFill>
            <a:srgbClr val="9F65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27355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36758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والإحصائيات</a:t>
            </a:r>
            <a:endParaRPr lang="ar-SA" sz="1300" dirty="0"/>
          </a:p>
        </p:txBody>
      </p:sp>
      <p:sp>
        <p:nvSpPr>
          <p:cNvPr id="42" name="Shape 40"/>
          <p:cNvSpPr/>
          <p:nvPr/>
        </p:nvSpPr>
        <p:spPr>
          <a:xfrm>
            <a:off x="3291840" y="4187952"/>
            <a:ext cx="274320" cy="274320"/>
          </a:xfrm>
          <a:prstGeom prst="ellipse">
            <a:avLst/>
          </a:prstGeom>
          <a:solidFill>
            <a:srgbClr val="9F656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273552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1513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الحسابات والإعدادات</a:t>
            </a:r>
            <a:endParaRPr lang="ar-SA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الأولى</a:t>
            </a:r>
            <a:endParaRPr lang="ar-SA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افتحي الموقع — الصفحات العامة</a:t>
            </a:r>
            <a:endParaRPr lang="ar-SA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العام مفتوح لأي زائر ويحتوي على: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810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الصفحة الرئيسية</a:t>
            </a:r>
            <a:endParaRPr lang="ar-S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84832"/>
            <a:ext cx="7772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بالنادي وأبرز الأنشطة والإحصائيات</a:t>
            </a:r>
            <a:endParaRPr lang="ar-SA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14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 النادي</a:t>
            </a:r>
            <a:endParaRPr lang="ar-SA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88336"/>
            <a:ext cx="7772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الرسالة والرؤية والقيم والهيكل التنظيمي</a:t>
            </a:r>
            <a:endParaRPr lang="ar-SA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017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حياة النادي</a:t>
            </a:r>
            <a:endParaRPr lang="ar-SA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291840"/>
            <a:ext cx="7772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معرض الأنشطة والإنجازات والفعاليات</a:t>
            </a:r>
            <a:endParaRPr lang="ar-SA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6210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 الإلكترونية</a:t>
            </a:r>
            <a:endParaRPr lang="ar-SA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895344"/>
            <a:ext cx="7772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المقالات المنشورة للقراءة العامة</a:t>
            </a:r>
            <a:endParaRPr lang="ar-SA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51376"/>
            <a:ext cx="8046720" cy="530352"/>
          </a:xfrm>
          <a:prstGeom prst="roundRect">
            <a:avLst>
              <a:gd name="adj" fmla="val 20690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42245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معرض الصور</a:t>
            </a:r>
            <a:endParaRPr lang="ar-S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498848"/>
            <a:ext cx="7772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ألبومات الفعاليات والأنشطة العامة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i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اضغطي على «تسجيل الدخول» في الشريط العلوي للانتقال إلى صفحة الدخول</a:t>
            </a:r>
            <a:endParaRPr lang="ar-SA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الثانية</a:t>
            </a:r>
            <a:endParaRPr lang="ar-SA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جديد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709160" y="132588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DF5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46320" y="1399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المستخدم</a:t>
            </a:r>
            <a:endParaRPr lang="ar-S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sara.almutairi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DF5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399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الكامل</a:t>
            </a:r>
            <a:endParaRPr lang="ar-SA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91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بالعربي والإنجليزي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19456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DF5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2267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الدراسي</a:t>
            </a:r>
            <a:endParaRPr lang="ar-S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أو 11 أو 12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DF5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267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الرسمي للمدرسة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DF5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المرور</a:t>
            </a:r>
            <a:endParaRPr lang="ar-SA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اختاري كلمة مرور قوية</a:t>
            </a:r>
            <a:endParaRPr lang="ar-SA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886200" cy="749808"/>
          </a:xfrm>
          <a:prstGeom prst="roundRect">
            <a:avLst>
              <a:gd name="adj" fmla="val 12195"/>
            </a:avLst>
          </a:prstGeom>
          <a:solidFill>
            <a:srgbClr val="FDF5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136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كلمة المرور</a:t>
            </a:r>
            <a:endParaRPr lang="ar-SA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أعيدي كتابتها للتأكيد</a:t>
            </a:r>
            <a:endParaRPr lang="ar-SA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i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التعبئة، اضغطي «إنشاء حساب» ← يمكنك تسجيل الدخول فوراً</a:t>
            </a:r>
            <a:endParaRPr lang="ar-SA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4813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بصفتك مشرفة النظام، يمكنك إنشاء حسابات المعلمات والطالبات من «إدارة الحسابات» مباشرة</a:t>
            </a:r>
            <a:endParaRPr lang="ar-SA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الثالثة</a:t>
            </a:r>
            <a:endParaRPr lang="ar-SA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2560320" y="137160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52400" dist="381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834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مرحباً بعودتك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3017520" y="2011680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B5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2029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المستخدم</a:t>
            </a:r>
            <a:endParaRPr lang="ar-SA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560320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B5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578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المرور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3154680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4813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</a:t>
            </a:r>
            <a:endParaRPr lang="ar-S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i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نسيتِ كلمة المرور؟ تواصلي مع مسؤولة النظام لإعادة التعيين</a:t>
            </a:r>
            <a:endParaRPr lang="ar-SA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الرابعة</a:t>
            </a:r>
            <a:endParaRPr lang="ar-SA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التنقل في المنصة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6400800" y="128016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4813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37960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النادي</a:t>
            </a:r>
            <a:endParaRPr lang="ar-SA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591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ar-SA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810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العضوات</a:t>
            </a:r>
            <a:endParaRPr lang="ar-SA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029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اللجان</a:t>
            </a:r>
            <a:endParaRPr lang="ar-SA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94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</a:t>
            </a:r>
            <a:endParaRPr lang="ar-SA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688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</a:t>
            </a:r>
            <a:endParaRPr lang="ar-SA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883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الأنشطة</a:t>
            </a:r>
            <a:endParaRPr lang="ar-SA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ar-SA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272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</a:t>
            </a:r>
            <a:endParaRPr lang="ar-SA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الإعلانات</a:t>
            </a:r>
            <a:endParaRPr lang="ar-SA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5661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النشر</a:t>
            </a:r>
            <a:endParaRPr lang="ar-SA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</a:t>
            </a:r>
            <a:endParaRPr lang="ar-SA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الشهادات</a:t>
            </a:r>
            <a:endParaRPr lang="ar-SA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224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</a:t>
            </a:r>
            <a:endParaRPr lang="ar-SA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4439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الحسابات</a:t>
            </a:r>
            <a:endParaRPr lang="ar-SA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28016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الشريط الجانبي (على الحاسوب):</a:t>
            </a:r>
            <a:endParaRPr lang="en-US" sz="1300" dirty="0"/>
          </a:p>
          <a:p>
            <a:pPr rtl="1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يحتوي على جميع أقسام المنصة مقسمة إلى ٤ مجموعات: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النادي: لوحة التحكم، العضوات، اللجان، الفعاليات، الحضور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الأنشطة: المهام، الإنجازات، الإعلانات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النشر: المجلة الإلكترونية، الشهادات</a:t>
            </a:r>
            <a:endParaRPr lang="en-US" sz="13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الإدارة: إدارة الحسابات (للمشرفة فقط)</a:t>
            </a:r>
            <a:endParaRPr lang="en-US" sz="1300" dirty="0"/>
          </a:p>
          <a:p>
            <a:pPr rtl="1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الشريط العلوي: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 الوظيفي · أيقونة المهام · جرس الإشعارات</a:t>
            </a:r>
            <a:endParaRPr lang="en-US" sz="13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تبديل الوضع (فاتح/داكن) · تبديل اللغة (عربي/إنجليزي)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الخامسة</a:t>
            </a:r>
            <a:endParaRPr lang="ar-SA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— الإحصائيات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399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العضوات</a:t>
            </a:r>
            <a:endParaRPr lang="ar-S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جميع عضوات النادي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32588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1399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 القادمة</a:t>
            </a:r>
            <a:endParaRPr lang="ar-SA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 المجدولة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399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 الجارية</a:t>
            </a:r>
            <a:endParaRPr lang="ar-S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673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 النشطة حالياً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2542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الحضور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الحضور الإجمالية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46888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66160" y="2542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النادي</a:t>
            </a:r>
            <a:endParaRPr lang="ar-SA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 النقاط الممنوحة</a:t>
            </a:r>
            <a:endParaRPr lang="ar-SA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468880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46520" y="2542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المقالات المنشورة</a:t>
            </a:r>
            <a:endParaRPr lang="ar-SA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المجلة الإلكترونية</a:t>
            </a:r>
            <a:endParaRPr lang="ar-SA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تعرض لك نظرة شاملة على كل شيء في النادي من مكان واحد</a:t>
            </a:r>
            <a:endParaRPr lang="ar-SA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الإجراءات السريعة:</a:t>
            </a:r>
            <a:endParaRPr lang="ar-SA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عضوة · إنشاء فعالية · رصد الحضور · منح نقاط · نشر إعلان · إضافة مقال</a:t>
            </a:r>
            <a:endParaRPr lang="ar-SA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— الأقسام التفصيلية</a:t>
            </a:r>
            <a:endParaRPr lang="ar-SA" sz="2800" dirty="0"/>
          </a:p>
        </p:txBody>
      </p:sp>
      <p:sp>
        <p:nvSpPr>
          <p:cNvPr id="3" name="Shape 1"/>
          <p:cNvSpPr/>
          <p:nvPr/>
        </p:nvSpPr>
        <p:spPr>
          <a:xfrm>
            <a:off x="4663440" y="10515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80060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المشرفة</a:t>
            </a:r>
            <a:endParaRPr lang="ar-SA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1399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 اختصارات سريعة لأهم المهام الإشرافية</a:t>
            </a:r>
            <a:endParaRPr lang="ar-SA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الإعلانات</a:t>
            </a:r>
            <a:endParaRPr lang="ar-SA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99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أحدث إعلان منشور في النادي</a:t>
            </a:r>
            <a:endParaRPr lang="ar-SA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00600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 القادمة</a:t>
            </a:r>
            <a:endParaRPr lang="ar-S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359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أقرب ٣ فعاليات مجدولة مع التواريخ</a:t>
            </a:r>
            <a:endParaRPr lang="ar-SA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تقدم المشاريع</a:t>
            </a:r>
            <a:endParaRPr lang="ar-SA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359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إنجاز المشاريع النشطة</a:t>
            </a:r>
            <a:endParaRPr lang="ar-SA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0060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المتصدرين</a:t>
            </a:r>
            <a:endParaRPr lang="ar-SA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الأعضاء حسب النقاط</a:t>
            </a:r>
            <a:endParaRPr lang="ar-SA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 الأخير</a:t>
            </a:r>
            <a:endParaRPr lang="ar-SA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الأحداث في النادي</a:t>
            </a:r>
            <a:endParaRPr lang="ar-SA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93192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00600" y="4005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 النادي</a:t>
            </a:r>
            <a:endParaRPr lang="ar-SA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كل دور وصلاحياته</a:t>
            </a:r>
            <a:endParaRPr lang="ar-SA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" y="4005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الحضور</a:t>
            </a:r>
            <a:endParaRPr lang="ar-SA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رسم بياني لمعدل الحضور</a:t>
            </a:r>
            <a:endParaRPr lang="ar-SA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FBEAE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5994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المعلمة ترى لوحة تحكم مختلفة عن الطالبة — تعرض الإحصائيات الإشرافية بدلاً من الملف الشخصي</a:t>
            </a:r>
            <a:endParaRPr lang="ar-SA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9F656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CB8C7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الأول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العضوات</a:t>
            </a:r>
            <a:endParaRPr lang="ar-SA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الملفات · تعديل البيانات · ملاحظات المشرفة</a:t>
            </a:r>
            <a:endParaRPr lang="ar-SA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العضوات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العضوات تعرض جميع عضوات النادي مع أدوات البحث والتصفية: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بالاسم أو اسم المستخدم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التصفية حسب: الصف الدراسي، اللجنة، الدور، الحالة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القائمة كملف CSV</a:t>
            </a:r>
            <a:endParaRPr lang="en-US" sz="1200" dirty="0"/>
          </a:p>
          <a:p>
            <a:pPr rtl="1" marL="342900" indent="-342900"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الضغط على اسم العضوة لفتح ملفها الكامل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 الشخصي للعضوة يحتوي على: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3429000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0060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الشخصية</a:t>
            </a:r>
            <a:endParaRPr lang="ar-S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37764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الاسم، الصف، البريد، الهاتف، ولي الأمر</a:t>
            </a:r>
            <a:endParaRPr lang="ar-SA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النقاط والإنجازات</a:t>
            </a:r>
            <a:endParaRPr lang="ar-SA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764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النقاط والشارات الممنوحة</a:t>
            </a:r>
            <a:endParaRPr lang="ar-SA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4160520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00600" y="4233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 والمهام</a:t>
            </a:r>
            <a:endParaRPr lang="ar-SA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507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الحضور والمهام المسندة</a:t>
            </a:r>
            <a:endParaRPr lang="ar-SA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4233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المشرفة</a:t>
            </a:r>
            <a:endParaRPr lang="ar-SA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507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خاصة لا تظهر للطالبة أبداً</a:t>
            </a:r>
            <a:endParaRPr lang="ar-SA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بيانات العضوة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ملف العضوة، اضغطي «تعديل» لتغيير: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الكامل (بالعربي والإنجليزي)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الدراسي والبريد الإلكتروني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الهاتف ورقم ولي الأمر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النبذة الشخصية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اللجنة التابعة لها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 الوظيفي (عضوة، قائدة لجنة، نائبة، رئيسة)</a:t>
            </a:r>
            <a:endParaRPr lang="en-US" sz="1200" dirty="0"/>
          </a:p>
          <a:p>
            <a:pPr rtl="1" marL="342900" indent="-342900"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المشرفة الخاصة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الأدوار المتاحة: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4813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41422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مشرفة النادي</a:t>
            </a:r>
            <a:endParaRPr lang="ar-SA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4622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الصلاحيات</a:t>
            </a:r>
            <a:endParaRPr lang="ar-SA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411480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DF5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40864" y="41422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رئيسة النادي</a:t>
            </a:r>
            <a:endParaRPr lang="ar-SA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40864" y="44622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+ مراجعة</a:t>
            </a:r>
            <a:endParaRPr lang="ar-SA" sz="900" dirty="0"/>
          </a:p>
        </p:txBody>
      </p:sp>
      <p:sp>
        <p:nvSpPr>
          <p:cNvPr id="11" name="Shape 9"/>
          <p:cNvSpPr/>
          <p:nvPr/>
        </p:nvSpPr>
        <p:spPr>
          <a:xfrm>
            <a:off x="3986784" y="411480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DF5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59936" y="41422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نائبة الرئيسة</a:t>
            </a:r>
            <a:endParaRPr lang="ar-SA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059936" y="44622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محدودة</a:t>
            </a:r>
            <a:endParaRPr lang="ar-SA" sz="900" dirty="0"/>
          </a:p>
        </p:txBody>
      </p:sp>
      <p:sp>
        <p:nvSpPr>
          <p:cNvPr id="14" name="Shape 12"/>
          <p:cNvSpPr/>
          <p:nvPr/>
        </p:nvSpPr>
        <p:spPr>
          <a:xfrm>
            <a:off x="5705856" y="411480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DF5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79008" y="41422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قائدة لجنة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79008" y="44622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لجنتها</a:t>
            </a:r>
            <a:endParaRPr lang="ar-SA" sz="900" dirty="0"/>
          </a:p>
        </p:txBody>
      </p:sp>
      <p:sp>
        <p:nvSpPr>
          <p:cNvPr id="17" name="Shape 15"/>
          <p:cNvSpPr/>
          <p:nvPr/>
        </p:nvSpPr>
        <p:spPr>
          <a:xfrm>
            <a:off x="7424928" y="411480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DF5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414223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عضوة</a:t>
            </a:r>
            <a:endParaRPr lang="ar-SA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462272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فقط</a:t>
            </a:r>
            <a:endParaRPr lang="ar-SA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9F656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CB8C7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الثاني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اللجان والفعاليات</a:t>
            </a:r>
            <a:endParaRPr lang="ar-SA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اللجان · إنشاء الفعاليات · إدارة التسجيل</a:t>
            </a:r>
            <a:endParaRPr lang="ar-SA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اللجان والفعاليات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84632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اللجان</a:t>
            </a:r>
            <a:endParaRPr lang="ar-SA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62763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جميع اللجان مع القائدات وعدد الأعضاء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 النشطة لكل لجنة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الحالية والأنشطة القادمة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إعلانات كل لجنة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الفعاليات في شكل قائمة أو تقويم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فعالية جديدة مع كل التفاصيل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الموافقة على طلبات التسجيل أو رفضها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الحضور للمشاركات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فعالية — الحقول: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7033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 (عربي/إنجليزي)</a:t>
            </a:r>
            <a:endParaRPr lang="ar-SA" sz="1000" dirty="0"/>
          </a:p>
        </p:txBody>
      </p:sp>
      <p:sp>
        <p:nvSpPr>
          <p:cNvPr id="10" name="Shape 8"/>
          <p:cNvSpPr/>
          <p:nvPr/>
        </p:nvSpPr>
        <p:spPr>
          <a:xfrm>
            <a:off x="2670048" y="365760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61488" y="37033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الوصف والتفاصيل</a:t>
            </a:r>
            <a:endParaRPr lang="ar-SA" sz="1000" dirty="0"/>
          </a:p>
        </p:txBody>
      </p:sp>
      <p:sp>
        <p:nvSpPr>
          <p:cNvPr id="12" name="Shape 10"/>
          <p:cNvSpPr/>
          <p:nvPr/>
        </p:nvSpPr>
        <p:spPr>
          <a:xfrm>
            <a:off x="4791456" y="365760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82896" y="37033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 والوقت</a:t>
            </a:r>
            <a:endParaRPr lang="ar-SA" sz="1000" dirty="0"/>
          </a:p>
        </p:txBody>
      </p:sp>
      <p:sp>
        <p:nvSpPr>
          <p:cNvPr id="14" name="Shape 12"/>
          <p:cNvSpPr/>
          <p:nvPr/>
        </p:nvSpPr>
        <p:spPr>
          <a:xfrm>
            <a:off x="6912864" y="365760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04304" y="370332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المكان</a:t>
            </a:r>
            <a:endParaRPr lang="ar-SA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976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السعة القصوى</a:t>
            </a:r>
            <a:endParaRPr lang="ar-SA" sz="1000" dirty="0"/>
          </a:p>
        </p:txBody>
      </p:sp>
      <p:sp>
        <p:nvSpPr>
          <p:cNvPr id="18" name="Shape 16"/>
          <p:cNvSpPr/>
          <p:nvPr/>
        </p:nvSpPr>
        <p:spPr>
          <a:xfrm>
            <a:off x="2670048" y="42519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61488" y="42976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موعد للتسجيل</a:t>
            </a:r>
            <a:endParaRPr lang="ar-SA" sz="1000" dirty="0"/>
          </a:p>
        </p:txBody>
      </p:sp>
      <p:sp>
        <p:nvSpPr>
          <p:cNvPr id="20" name="Shape 18"/>
          <p:cNvSpPr/>
          <p:nvPr/>
        </p:nvSpPr>
        <p:spPr>
          <a:xfrm>
            <a:off x="4791456" y="42519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82896" y="42976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اللجنة المنظمة</a:t>
            </a:r>
            <a:endParaRPr lang="ar-SA" sz="1000" dirty="0"/>
          </a:p>
        </p:txBody>
      </p:sp>
      <p:sp>
        <p:nvSpPr>
          <p:cNvPr id="22" name="Shape 20"/>
          <p:cNvSpPr/>
          <p:nvPr/>
        </p:nvSpPr>
        <p:spPr>
          <a:xfrm>
            <a:off x="6912864" y="42519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DF5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04304" y="42976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النقاط المكتسبة</a:t>
            </a:r>
            <a:endParaRPr lang="ar-SA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الحضور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جلسة حضور جديدة: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اختاري نوع الجلسة: اجتماع، ورشة عمل، فعالية، مسابقة، اجتماع لجنة</a:t>
            </a:r>
            <a:endParaRPr lang="en-US" sz="13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حددي العنوان (عربي/إنجليزي) والتاريخ واللجنة</a:t>
            </a:r>
            <a:endParaRPr lang="en-US" sz="1300" dirty="0"/>
          </a:p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الحضور:</a:t>
            </a:r>
            <a:endParaRPr lang="en-US" sz="1300" dirty="0"/>
          </a:p>
          <a:p>
            <a:pPr rtl="1" indent="0" marL="0">
              <a:spcAft>
                <a:spcPts val="300"/>
              </a:spcAft>
              <a:buNone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حددي حالة كل عضوة: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12864" y="292608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22C55E">
              <a:alpha val="1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12864" y="29260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حاضرة</a:t>
            </a:r>
            <a:endParaRPr lang="ar-SA" sz="1400" dirty="0"/>
          </a:p>
        </p:txBody>
      </p:sp>
      <p:sp>
        <p:nvSpPr>
          <p:cNvPr id="6" name="Shape 4"/>
          <p:cNvSpPr/>
          <p:nvPr/>
        </p:nvSpPr>
        <p:spPr>
          <a:xfrm>
            <a:off x="4791456" y="292608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EF4444">
              <a:alpha val="1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91456" y="29260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غائبة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2670048" y="292608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29260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متأخرة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938528" cy="502920"/>
          </a:xfrm>
          <a:prstGeom prst="roundRect">
            <a:avLst>
              <a:gd name="adj" fmla="val 14545"/>
            </a:avLst>
          </a:prstGeom>
          <a:solidFill>
            <a:srgbClr val="3B82F6">
              <a:alpha val="1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بعذر</a:t>
            </a:r>
            <a:endParaRPr lang="ar-SA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11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 «تحضير الكل» لتسجيل جميع العضوات حاضرات مرة واحدة</a:t>
            </a:r>
            <a:endParaRPr lang="en-US" sz="12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تعديل الحضور لاحقاً (مع تسجيل في سجل المراجعة)</a:t>
            </a:r>
            <a:endParaRPr lang="en-US" sz="1200" dirty="0"/>
          </a:p>
          <a:p>
            <a:pPr rtl="1" marL="342900" indent="-342900"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الحضور تعرض: نسبة الحضور الإجمالية، الحضور حسب اللجنة، كل الجلسات السابقة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النقاط ولوحة المتصدرين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النقاط:</a:t>
            </a:r>
            <a:endParaRPr lang="ar-SA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627632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اختاري العضوة المراد منحها نقاطاً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حددي عدد النقاط (أو اختاري سبباً جاهزاً)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اكتبي السبب (مثال: مشاركة متميزة)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يمكن منح نقاط لنفسك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عكس/تصحيح نقاط سابقة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المتصدرين:</a:t>
            </a:r>
            <a:endParaRPr lang="ar-SA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العضوات حسب النقاط المكتسبة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فترات العرض: شهري، فصلي، الكل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متاحة لجميع العضوات للاطلاع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BE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794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النقاط تراكمي — لا يمكن حذف سجل، فقط عكسه بإدخال تعويضي مع ذكر السبب</a:t>
            </a:r>
            <a:endParaRPr lang="ar-SA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9F656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CB8C7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الثالث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والمشاريع</a:t>
            </a:r>
            <a:endParaRPr lang="ar-SA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المهام · متابعة التقدم · إدارة المشاريع</a:t>
            </a:r>
            <a:endParaRPr lang="ar-SA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المهام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2801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مهمة جديدة: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 والوصف (عربي/إنجليزي)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الأولوية: منخفضة، متوسطة، عالية، عاجلة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التسليم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اللجنة والمشروع (اختياري)</a:t>
            </a:r>
            <a:endParaRPr lang="en-US" sz="13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تعيين المهمة لعضوات محددات (حصري للمشرفة)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المهام (Kanban):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691640"/>
            <a:ext cx="868680" cy="2011680"/>
          </a:xfrm>
          <a:prstGeom prst="roundRect">
            <a:avLst>
              <a:gd name="adj" fmla="val 842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0" y="17190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للتنفيذ</a:t>
            </a:r>
            <a:endParaRPr lang="ar-SA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691640"/>
            <a:ext cx="868680" cy="2011680"/>
          </a:xfrm>
          <a:prstGeom prst="roundRect">
            <a:avLst>
              <a:gd name="adj" fmla="val 8421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7190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العمل</a:t>
            </a:r>
            <a:endParaRPr lang="ar-SA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691640"/>
            <a:ext cx="868680" cy="2011680"/>
          </a:xfrm>
          <a:prstGeom prst="roundRect">
            <a:avLst>
              <a:gd name="adj" fmla="val 842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17190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للمراجعة</a:t>
            </a:r>
            <a:endParaRPr lang="ar-SA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868680" cy="2011680"/>
          </a:xfrm>
          <a:prstGeom prst="roundRect">
            <a:avLst>
              <a:gd name="adj" fmla="val 842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7190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ar-SA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يمكنك سحب المهام بين الأعمدة أو تغيير حالتها من صفحة المهمة</a:t>
            </a:r>
            <a:endParaRPr lang="ar-SA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مشروع: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 والوصف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 المشارك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 (تاريخ البداية والنهاية)</a:t>
            </a:r>
            <a:endParaRPr lang="en-US" sz="13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المراحل والإنجازات المرحلية</a:t>
            </a:r>
            <a:endParaRPr lang="en-US" sz="1300" dirty="0"/>
          </a:p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المشروع: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الإنجاز لكل مشروع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كل مرحلة (مخطط، قيد التنفيذ، مكتمل)</a:t>
            </a:r>
            <a:endParaRPr lang="en-US" sz="1300" dirty="0"/>
          </a:p>
          <a:p>
            <a:pPr rtl="1" marL="342900" indent="-342900"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الملفات والصور المرفقة والنتائج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المسابقات الكيميائية وصندوق الأفكار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المسابقات:</a:t>
            </a:r>
            <a:endParaRPr lang="ar-SA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627632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مسابقة مع سؤال وخيارات والإجابة الصحيحة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أنواع: اختيار من متعدد، إجابة قصيرة، صورة، لغز كيميائي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فترة المسابقة (تاريخ الفتح والإغلاق)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المكافأة للإجابات الصحيحة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إحصائيات المشاركة (عدد المشاركات، نسبة الصحة)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صندوق الأفكار:</a:t>
            </a:r>
            <a:endParaRPr lang="ar-SA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العضوات يقدمن أفكاراً واقتراحات</a:t>
            </a:r>
            <a:endParaRPr lang="en-US" sz="1100" dirty="0"/>
          </a:p>
          <a:p>
            <a:pPr rtl="1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المشرفة تراجع وتغير الحالة:</a:t>
            </a:r>
            <a:endParaRPr lang="en-US" sz="1100" dirty="0"/>
          </a:p>
          <a:p>
            <a:pPr rtl="1" indent="0" marL="0">
              <a:spcAft>
                <a:spcPts val="300"/>
              </a:spcAft>
              <a:buNone/>
            </a:pPr>
            <a:r>
              <a:rPr lang="ar-SA" altLang="en-US" sz="10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جديدة ← قيد المراجعة ← مقبولة ← مختارة ← مخطط لها ← منفذة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ملاحظات المشرفة على كل فكرة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تفعيل/إيقاف التصويت على الأفكار من إعدادات النادي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BE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المشرفة يمكنها أيضاً تقديم أفكارها الخاصة والمشاركة في المسابقات</a:t>
            </a:r>
            <a:endParaRPr lang="ar-SA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الإعلانات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إعلان جديد: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العنوان والمحتوى (عربي/إنجليزي)</a:t>
            </a:r>
            <a:endParaRPr lang="en-US" sz="1300" dirty="0"/>
          </a:p>
          <a:p>
            <a:pPr rtl="1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مستوى الإعلان: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72784" y="2423160"/>
            <a:ext cx="2679192" cy="457200"/>
          </a:xfrm>
          <a:prstGeom prst="roundRect">
            <a:avLst>
              <a:gd name="adj" fmla="val 16000"/>
            </a:avLst>
          </a:prstGeom>
          <a:solidFill>
            <a:srgbClr val="3B82F6">
              <a:alpha val="1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72784" y="24231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عادي</a:t>
            </a:r>
            <a:endParaRPr lang="ar-SA" sz="1400" dirty="0"/>
          </a:p>
        </p:txBody>
      </p:sp>
      <p:sp>
        <p:nvSpPr>
          <p:cNvPr id="6" name="Shape 4"/>
          <p:cNvSpPr/>
          <p:nvPr/>
        </p:nvSpPr>
        <p:spPr>
          <a:xfrm>
            <a:off x="3410712" y="2423160"/>
            <a:ext cx="2679192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0712" y="24231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679192" cy="457200"/>
          </a:xfrm>
          <a:prstGeom prst="roundRect">
            <a:avLst>
              <a:gd name="adj" fmla="val 16000"/>
            </a:avLst>
          </a:prstGeom>
          <a:solidFill>
            <a:srgbClr val="EF4444">
              <a:alpha val="1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عاجل</a:t>
            </a:r>
            <a:endParaRPr lang="ar-S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 المستهدف: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12864" y="3429000"/>
            <a:ext cx="1938528" cy="640080"/>
          </a:xfrm>
          <a:prstGeom prst="roundRect">
            <a:avLst>
              <a:gd name="adj" fmla="val 1714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50024" y="35021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الجميع</a:t>
            </a:r>
            <a:endParaRPr lang="ar-SA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50024" y="37764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العضوات</a:t>
            </a:r>
            <a:endParaRPr lang="ar-SA" sz="1100" dirty="0"/>
          </a:p>
        </p:txBody>
      </p:sp>
      <p:sp>
        <p:nvSpPr>
          <p:cNvPr id="14" name="Shape 12"/>
          <p:cNvSpPr/>
          <p:nvPr/>
        </p:nvSpPr>
        <p:spPr>
          <a:xfrm>
            <a:off x="4791456" y="3429000"/>
            <a:ext cx="1938528" cy="640080"/>
          </a:xfrm>
          <a:prstGeom prst="roundRect">
            <a:avLst>
              <a:gd name="adj" fmla="val 1714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28616" y="35021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لجنة محددة</a:t>
            </a:r>
            <a:endParaRPr lang="ar-SA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28616" y="37764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عضوات لجنة واحدة</a:t>
            </a:r>
            <a:endParaRPr lang="ar-SA" sz="1100" dirty="0"/>
          </a:p>
        </p:txBody>
      </p:sp>
      <p:sp>
        <p:nvSpPr>
          <p:cNvPr id="17" name="Shape 15"/>
          <p:cNvSpPr/>
          <p:nvPr/>
        </p:nvSpPr>
        <p:spPr>
          <a:xfrm>
            <a:off x="2670048" y="3429000"/>
            <a:ext cx="1938528" cy="640080"/>
          </a:xfrm>
          <a:prstGeom prst="roundRect">
            <a:avLst>
              <a:gd name="adj" fmla="val 1714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807208" y="35021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القائدات فقط</a:t>
            </a:r>
            <a:endParaRPr lang="ar-S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07208" y="37764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القائدات والنائبات</a:t>
            </a:r>
            <a:endParaRPr lang="ar-SA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938528" cy="640080"/>
          </a:xfrm>
          <a:prstGeom prst="roundRect">
            <a:avLst>
              <a:gd name="adj" fmla="val 17143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" y="35021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عضوات محددات</a:t>
            </a:r>
            <a:endParaRPr lang="ar-SA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764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يدوي</a:t>
            </a:r>
            <a:endParaRPr lang="ar-SA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تثبيت الإعلان على لوحة التحكم · يمكن حذف الإعلان بعد النشر</a:t>
            </a:r>
            <a:endParaRPr lang="ar-SA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9F656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CB8C7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الرابع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 الإلكترونية</a:t>
            </a:r>
            <a:endParaRPr lang="ar-SA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التحرير · مراجعة المقالات · النشر والإصدارات</a:t>
            </a:r>
            <a:endParaRPr lang="ar-SA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 — لوحة التحرير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المشرفة ترى لوحة التحرير الكاملة (وليس فقط «مقالاتي»):</a:t>
            </a:r>
            <a:endParaRPr lang="ar-SA" sz="1200" dirty="0"/>
          </a:p>
        </p:txBody>
      </p:sp>
      <p:sp>
        <p:nvSpPr>
          <p:cNvPr id="4" name="Shape 2"/>
          <p:cNvSpPr/>
          <p:nvPr/>
        </p:nvSpPr>
        <p:spPr>
          <a:xfrm>
            <a:off x="4663440" y="17373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80060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المقالات</a:t>
            </a:r>
            <a:endParaRPr lang="ar-S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المقالات في كل حالة (مسودة، مقدمة، قيد المراجعة، منشورة)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 المقالات المقدمة</a:t>
            </a:r>
            <a:endParaRPr lang="ar-SA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كل ما قدمته العضوات للمراجعة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6517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2724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الأكثر قراءة</a:t>
            </a:r>
            <a:endParaRPr lang="ar-S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المقالات حسب عدد القراءات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2724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الكاتبات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إحصائية بعدد العضوات المساهمات</a:t>
            </a:r>
            <a:endParaRPr lang="ar-S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سير عمل المقال:</a:t>
            </a:r>
            <a:endParaRPr lang="ar-SA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406908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مسودة</a:t>
            </a:r>
            <a:endParaRPr lang="ar-SA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34072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مقدمة</a:t>
            </a:r>
            <a:endParaRPr lang="ar-SA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016752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406908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0060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المراجعة</a:t>
            </a:r>
            <a:endParaRPr lang="ar-SA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406908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38328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مقبولة</a:t>
            </a:r>
            <a:endParaRPr lang="ar-SA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182112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65960" y="406908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FDF5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96596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مجدولة</a:t>
            </a:r>
            <a:endParaRPr lang="ar-SA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764792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4813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0690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منشورة</a:t>
            </a:r>
            <a:endParaRPr lang="ar-SA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i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المشرفة فقط تستطيع: النشر، إلغاء النشر، الجدولة، وضع المقال على الغلاف</a:t>
            </a:r>
            <a:endParaRPr lang="ar-SA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 — المراجعة والإصدارات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المقالات: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بدء المراجعة — نقل المقال إلى «قيد المراجعة»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الموافقة — قبول المقال للنشر</a:t>
            </a:r>
            <a:endParaRPr lang="en-US" sz="13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تعديل — إعادة المقال للكاتبة مع ملاحظات</a:t>
            </a:r>
            <a:endParaRPr lang="en-US" sz="1300" dirty="0"/>
          </a:p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إصدارات المجلة: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عدد جديد بعنوان وكلمة المحررة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المقالات المعتمدة بالعدد</a:t>
            </a:r>
            <a:endParaRPr lang="en-US" sz="1300" dirty="0"/>
          </a:p>
          <a:p>
            <a:pPr rtl="1" marL="342900" indent="-342900"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العدد ليظهر في الموقع العام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الشهادات والإنجازات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شهادة (حصري للمشرفة):</a:t>
            </a:r>
            <a:endParaRPr lang="ar-SA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6459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مشاركة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عضوة متميزة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سفيرة الكيمياء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جائزة مسابقة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بحثية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قوالب: كلاسيك، حديث، أنيق · رقم تسلسلي تلقائي</a:t>
            </a:r>
            <a:endParaRPr lang="ar-SA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 والأوسمة:</a:t>
            </a:r>
            <a:endParaRPr lang="ar-SA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731520" cy="731520"/>
          </a:xfrm>
          <a:prstGeom prst="ellipse">
            <a:avLst/>
          </a:prstGeom>
          <a:solidFill>
            <a:srgbClr val="CB8C78">
              <a:alpha val="8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أساسي</a:t>
            </a:r>
            <a:endParaRPr lang="ar-SA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737360"/>
            <a:ext cx="731520" cy="731520"/>
          </a:xfrm>
          <a:prstGeom prst="ellipse">
            <a:avLst/>
          </a:prstGeom>
          <a:solidFill>
            <a:srgbClr val="9F656B">
              <a:alpha val="8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7452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تميز</a:t>
            </a:r>
            <a:endParaRPr lang="ar-SA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rgbClr val="48132F">
              <a:alpha val="8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شرف</a:t>
            </a:r>
            <a:endParaRPr lang="ar-SA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80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شارة لعضوة مع ملاحظة (اختيارية)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سجل جميع الشارات الممنوحة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معرض الصور والمصادر التعليمية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معرض الصور:</a:t>
            </a:r>
            <a:endParaRPr lang="ar-SA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6276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ألبوم جديد (عام أو للأعضاء فقط)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صور الفعاليات والأنشطة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الألبومات العامة تظهر في الموقع العام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 التعليمية:</a:t>
            </a:r>
            <a:endParaRPr lang="ar-SA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مصادر: PDF، DOC، عروض، جداول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تصنيف: السلامة، أوراق التجارب، قوالب البحث، إرشادات المسابقات، سياسات النادي، عروض تقديمية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مستويات الرؤية للمصادر: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6272784" y="3401568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4224" y="34472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العضوات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64224" y="374904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 عضوات النادي يرونها</a:t>
            </a:r>
            <a:endParaRPr lang="ar-SA" sz="1000" dirty="0"/>
          </a:p>
        </p:txBody>
      </p:sp>
      <p:sp>
        <p:nvSpPr>
          <p:cNvPr id="11" name="Shape 9"/>
          <p:cNvSpPr/>
          <p:nvPr/>
        </p:nvSpPr>
        <p:spPr>
          <a:xfrm>
            <a:off x="3410712" y="3401568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34472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القائدات والمشرفات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74904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القائدات والمشرفات فقط</a:t>
            </a:r>
            <a:endParaRPr lang="ar-SA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2679192" cy="777240"/>
          </a:xfrm>
          <a:prstGeom prst="roundRect">
            <a:avLst>
              <a:gd name="adj" fmla="val 941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4472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المشرفات فقط</a:t>
            </a:r>
            <a:endParaRPr lang="ar-SA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4904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المعلمة المشرفة حصرياً</a:t>
            </a:r>
            <a:endParaRPr lang="ar-SA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والإحصائيات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التقارير تعرض لك رؤية شاملة عن أداء النادي:</a:t>
            </a:r>
            <a:endParaRPr lang="ar-SA" sz="1200" dirty="0"/>
          </a:p>
        </p:txBody>
      </p:sp>
      <p:sp>
        <p:nvSpPr>
          <p:cNvPr id="4" name="Shape 2"/>
          <p:cNvSpPr/>
          <p:nvPr/>
        </p:nvSpPr>
        <p:spPr>
          <a:xfrm>
            <a:off x="6912864" y="173736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50024" y="18105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الأعضاء النشطات</a:t>
            </a:r>
            <a:endParaRPr lang="ar-S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50024" y="20848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العضوات الفعّالات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4791456" y="173736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28616" y="18105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إحصائيات الحضور</a:t>
            </a:r>
            <a:endParaRPr lang="ar-SA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28616" y="20848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رسم بياني لمعدل الحضور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2670048" y="173736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07208" y="18105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النقاط</a:t>
            </a:r>
            <a:endParaRPr lang="ar-S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07208" y="20848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بحسب اللجان (رسم أعمدة)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18105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أنشط اللجان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0848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اللجان حسب النشاط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6912864" y="274320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50024" y="28163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في الفعاليات</a:t>
            </a:r>
            <a:endParaRPr lang="ar-SA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50024" y="30906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الحضور للفعاليات</a:t>
            </a:r>
            <a:endParaRPr lang="ar-SA" sz="1100" dirty="0"/>
          </a:p>
        </p:txBody>
      </p:sp>
      <p:sp>
        <p:nvSpPr>
          <p:cNvPr id="19" name="Shape 17"/>
          <p:cNvSpPr/>
          <p:nvPr/>
        </p:nvSpPr>
        <p:spPr>
          <a:xfrm>
            <a:off x="4791456" y="274320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928616" y="28163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تقدم المشاريع</a:t>
            </a:r>
            <a:endParaRPr lang="ar-SA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28616" y="30906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كل مشروع نشط</a:t>
            </a:r>
            <a:endParaRPr lang="ar-SA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274320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807208" y="28163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المسابقات</a:t>
            </a:r>
            <a:endParaRPr lang="ar-SA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07208" y="30906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المشاركات والنتائج</a:t>
            </a:r>
            <a:endParaRPr lang="ar-SA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743200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FDF5F2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5800" y="28163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</a:t>
            </a:r>
            <a:endParaRPr lang="ar-SA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0906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مقالات مقدمة ومنشورة</a:t>
            </a:r>
            <a:endParaRPr lang="ar-SA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تصدير التقارير · البيانات محدثة لحظياً</a:t>
            </a:r>
            <a:endParaRPr lang="ar-SA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9F656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CB8C7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الخامس</a:t>
            </a:r>
            <a:endParaRPr lang="ar-S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</a:t>
            </a:r>
            <a:endParaRPr lang="ar-SA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الحسابات · سجل المراجعة · إعدادات النادي</a:t>
            </a:r>
            <a:endParaRPr lang="ar-SA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الحسابات (حصري للمشرفة)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جديد: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المستخدم، البريد، كلمة المرور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الدور (عضوة، قائدة، نائبة، رئيسة، مشرفة)</a:t>
            </a:r>
            <a:endParaRPr lang="en-US" sz="13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الصف واللجنة</a:t>
            </a:r>
            <a:endParaRPr lang="en-US" sz="1300" dirty="0"/>
          </a:p>
          <a:p>
            <a:pPr rtl="1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الحسابات الحالية: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 / تعطيل الحساب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تعيين كخريجة</a:t>
            </a:r>
            <a:endParaRPr lang="en-US" sz="13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تعيين كلمة المرور (كلمة مرور مؤقتة تُغيَّر عند أول دخول)</a:t>
            </a:r>
            <a:endParaRPr lang="en-US" sz="1300" dirty="0"/>
          </a:p>
          <a:p>
            <a:pPr rtl="1" marL="342900" indent="-342900">
              <a:buSzPct val="100000"/>
              <a:buChar char="•"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تاريخ آخر تسجيل دخول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المراجعة وإعدادات النادي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المراجعة (Audit Log):</a:t>
            </a:r>
            <a:endParaRPr lang="ar-SA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627632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300"/>
              </a:spcAft>
              <a:buNone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يسجل كل عملية حساسة تلقائياً:</a:t>
            </a:r>
            <a:endParaRPr lang="en-US" sz="1100" dirty="0"/>
          </a:p>
          <a:p>
            <a:pPr rtl="1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الحسابات وتعديل الأدوار</a:t>
            </a:r>
            <a:endParaRPr lang="en-US" sz="1100" dirty="0"/>
          </a:p>
          <a:p>
            <a:pPr rtl="1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الحضور ومنح النقاط</a:t>
            </a:r>
            <a:endParaRPr lang="en-US" sz="1100" dirty="0"/>
          </a:p>
          <a:p>
            <a:pPr rtl="1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المقالات وإصدار الشهادات</a:t>
            </a:r>
            <a:endParaRPr lang="en-US" sz="1100" dirty="0"/>
          </a:p>
          <a:p>
            <a:pPr rtl="1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0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الإعدادات وإعادة تعيين كلمات المرور</a:t>
            </a:r>
            <a:endParaRPr lang="en-US" sz="1100" dirty="0"/>
          </a:p>
          <a:p>
            <a:pPr rtl="1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سجل يتضمن: من، ماذا، متى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إعدادات النادي:</a:t>
            </a:r>
            <a:endParaRPr lang="ar-SA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تفعيل/إيقاف التصويت على الأفكار</a:t>
            </a:r>
            <a:endParaRPr lang="en-US" sz="11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تفعيل/إيقاف الموافقة على تسجيل الفعاليات</a:t>
            </a:r>
            <a:endParaRPr lang="en-US" sz="1100" dirty="0"/>
          </a:p>
          <a:p>
            <a:pPr rtl="1" marL="342900" indent="-342900">
              <a:buSzPct val="100000"/>
              <a:buChar char="•"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إعدادات النادي (الأسماء، التواريخ)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مصفوفة الصلاحيات:</a:t>
            </a:r>
            <a:endParaRPr lang="ar-SA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«الأدوار والصلاحيات» يمكنك رؤية جدول كامل بكل صلاحية ومن يملكها — ٣٧ صلاحية موزعة على ٥ أدوار</a:t>
            </a:r>
            <a:endParaRPr lang="ar-SA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 الشخصي والإعدادات:</a:t>
            </a:r>
            <a:endParaRPr lang="ar-SA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879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 اللغة (عربي/إنجليزي) · تغيير كلمة المرور · تعديل الصورة الشخصية · إعدادات الإشعارات · تبديل الوضع الفاتح/الداكن</a:t>
            </a:r>
            <a:endParaRPr lang="ar-SA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حصرية للمشرفة</a:t>
            </a:r>
            <a:endParaRPr lang="ar-SA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2D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المهام لا يستطيع أحد غير المشرفة تنفيذها:</a:t>
            </a:r>
            <a:endParaRPr lang="ar-SA" sz="1200" dirty="0"/>
          </a:p>
        </p:txBody>
      </p:sp>
      <p:sp>
        <p:nvSpPr>
          <p:cNvPr id="4" name="Shape 2"/>
          <p:cNvSpPr/>
          <p:nvPr/>
        </p:nvSpPr>
        <p:spPr>
          <a:xfrm>
            <a:off x="4663440" y="173736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80060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وإدارة الحسابات</a:t>
            </a:r>
            <a:endParaRPr lang="ar-S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حسابات جديدة، تفعيل/تعطيل، إعادة تعيين كلمة المرور</a:t>
            </a:r>
            <a:endParaRPr lang="ar-SA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 أدوار العضوات</a:t>
            </a:r>
            <a:endParaRPr lang="ar-SA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ترقية أو تغيير دور أي عضوة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48716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0060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المشرفة</a:t>
            </a:r>
            <a:endParaRPr lang="ar-SA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كتابة ملاحظات خاصة على ملفات العضوات لا تظهر لهن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المقالات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نشر، إلغاء نشر، جدولة المقالات، وضعها على الغلاف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36976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0060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الشهادات</a:t>
            </a:r>
            <a:endParaRPr lang="ar-SA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شهادات رسمية بأنواعها المختلفة</a:t>
            </a:r>
            <a:endParaRPr lang="ar-SA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تعيين المهام</a:t>
            </a:r>
            <a:endParaRPr lang="ar-SA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584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إسناد مهام لعضوات بعينهن</a:t>
            </a:r>
            <a:endParaRPr lang="ar-SA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986784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0060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المراجعة</a:t>
            </a:r>
            <a:endParaRPr lang="ar-SA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4334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الاطلاع على سجل كل العمليات الحساسة</a:t>
            </a:r>
            <a:endParaRPr lang="ar-SA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86784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BEAE6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580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إعدادات النادي</a:t>
            </a:r>
            <a:endParaRPr lang="ar-SA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334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B4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 إعدادات المنصة والتبديلات</a:t>
            </a:r>
            <a:endParaRPr lang="ar-SA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9F656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CB8C7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أنتِ جاهزة!</a:t>
            </a:r>
            <a:endParaRPr lang="ar-SA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بين يديك — سجلي دخولك واستكشفي جميع الأدوات</a:t>
            </a:r>
            <a:endParaRPr lang="ar-SA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٣٧ صلاحية · ١٤ قسم · منصة واحدة شاملة</a:t>
            </a:r>
            <a:endParaRPr lang="ar-S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نادي الإيمان للكيمياء · مدرسة الإيمان الثانوية · 2026–2027</a:t>
            </a:r>
            <a:endParaRPr lang="ar-SA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دليل استخدام منصة نادي الإيمان للكيمياء — المعلمة</dc:title>
  <dc:subject>دليل المعلمة الشامل</dc:subject>
  <dc:creator>AECC Platform</dc:creator>
  <cp:lastModifiedBy>AECC Platform</cp:lastModifiedBy>
  <cp:revision>1</cp:revision>
  <dcterms:created xsi:type="dcterms:W3CDTF">2026-08-28T14:58:44Z</dcterms:created>
  <dcterms:modified xsi:type="dcterms:W3CDTF">2026-08-28T14:58:44Z</dcterms:modified>
</cp:coreProperties>
</file>