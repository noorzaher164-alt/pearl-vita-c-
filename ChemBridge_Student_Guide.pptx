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This presentation will walk you through everything you need to know about using ChemBridge – Nourhan's Chemistry Tutoring platform. ChemBridge is designed specifically for Qatar University students taking CHEM 101 and CHEM 103.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ChemBridge was created specifically for Qatar University chemistry students. The platform brings together everything a student needs: structured video lectures, comprehensive notes, practice problems, and quizzes — all aligned with the QU CHEM 101 and CHEM 103 curriculum. Students can study at their own pace and always reach out to Teacher Nourhan for personal support.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first open ChemBridge, you'll see the homepage with a clean navigation bar at the top. It has links to Courses, Notes, Quizzes, Progress, and Contact. The hero section shows a welcome message and two main buttons: Get Started and View Courses. Below that you'll find course cards for CHEM 101 and CHEM 103 which take you directly into your relevant course content.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most platforms, ChemBridge accounts are set up by Teacher Nourhan — students do not register themselves. Once enrolled, you receive a welcome email from chembridge@msnour.com with a 'Set my password' button. Click it, create your password, and you're ready to log in. This keeps the platform secure and ensures only enrolled students have access.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Logging in is simple. Go to chembridge.msnour.com and click Sign In. Enter the email address where you received your invitation and the password you created. The site works on any device — phone, tablet, or computer. If you forget your password, reach out to Teacher Nourhan on WhatsApp at 33625942.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ChemBridge currently offers two courses: CHEM 101 (General Chemistry I) and CHEM 103 (General Chemistry II). Each course is organized into chapters and contains video lessons, downloadable notes, practice exercises, and quizzes. To enter a course, simply click on its card from the Courses page.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open a chapter, start by going to Courses in the top navigation, select your course (CHEM 101 or CHEM 103), and you'll see a list of all available chapters. Simply click on any chapter to open it. Inside, you'll find video lessons, notes, exercises, and a quiz for that chapter.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each chapter you'll find video lectures recorded by Teacher Nourhan. The video player has full controls: play/pause, skip forward or back, a progress bar to jump to any point, playback speed control (great for review at 1.5x), and a fullscreen mode. You can re-watch videos as many times as you need.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ChemBridge provides four types of study materials for each chapter: detailed lecture notes, formula reference sheets, chapter summaries, and downloadable PDFs. Everything is available inside the chapter page. Click the download icon next to any material to save it to your device for offline study.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watching a video and reading the notes, it's time to practice. Each chapter has a practice question set with multiple-choice questions. When you select an answer, you immediately see whether it's correct and why — the explanation helps you learn from mistakes. You can retry any question as many times as needed.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Quizzes are the best way to test your understanding before an exam. Open the chapter, scroll to the bottom, and click 'Take Quiz'. Answer all questions, then submit to see your score. The results page shows your percentage, how many you got right, and explanations for any missed questions. Aim for 80% or higher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Progress page gives you a dashboard view of your learning journey. You can see how many lessons you've completed, your average quiz score, how many chapters you've mastered, and your total study time. The chapter table shows the status of each chapter — complete, in progress, or locked. Focus on completing each chapter before moving to the next.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recommended way to study each chapter on ChemBridge. Start by watching the video lecture, then read the notes PDF. Next, work through the practice questions and take the chapter quiz. If you make mistakes, review them using the explanations. Once you score 80% or higher on the quiz, you've mastered the chapter and can confidently move on to the next 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ever need help, Teacher Nourhan is available through three channels. WhatsApp at 33625942 is the fastest way to get a quick answer. For longer questions, email noorzaher164@gmail.com. And of course, the platform itself at chembridge.msnour.com is available 24/7. Don't hesitate to ask — that's what ChemBridge is here for!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ChemBridge is your complete chemistry learning companion for CHEM 101 and CHEM 103 at Qatar University. Visit chembridge.msnour.com to start your journey today. If you have any questions, contact Teacher Nourhan on WhatsApp at 33625942 or email noorzaher164@gmail.com. You've got this — chemistry made easy!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703923" cy="685800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77240" y="685800"/>
            <a:ext cx="640080" cy="64008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 y="89611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87568" y="5961888"/>
            <a:ext cx="512064" cy="512064"/>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833872" y="610819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56032" y="4828032"/>
            <a:ext cx="402336" cy="402336"/>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7472" y="491947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504688" y="1207008"/>
            <a:ext cx="329184" cy="32918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16168" y="1256386"/>
            <a:ext cx="230428" cy="230428"/>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191964" y="1256386"/>
            <a:ext cx="230428" cy="230428"/>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54066" y="1618488"/>
            <a:ext cx="230428" cy="230428"/>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4066" y="894284"/>
            <a:ext cx="230428" cy="230428"/>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99616" y="5522976"/>
            <a:ext cx="292608" cy="292608"/>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865376" y="5566868"/>
            <a:ext cx="204824" cy="20482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221640" y="5566868"/>
            <a:ext cx="204824" cy="20482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543508" y="5888736"/>
            <a:ext cx="204824" cy="20482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543508" y="5245000"/>
            <a:ext cx="204824" cy="20482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126480"/>
            <a:ext cx="6703923" cy="73152"/>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00032" y="896112"/>
            <a:ext cx="402336" cy="40233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02952" y="956463"/>
            <a:ext cx="281634" cy="28163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017814" y="956463"/>
            <a:ext cx="281634" cy="28163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60383" y="1399032"/>
            <a:ext cx="281634" cy="28163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60383" y="513894"/>
            <a:ext cx="281634" cy="28163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561320" y="4617720"/>
            <a:ext cx="822960" cy="822960"/>
          </a:xfrm>
          <a:prstGeom prst="ellipse">
            <a:avLst/>
          </a:prstGeom>
          <a:noFill/>
          <a:ln w="19050">
            <a:solidFill>
              <a:srgbClr val="F5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863072" y="4919472"/>
            <a:ext cx="219456" cy="219456"/>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882128" y="5779008"/>
            <a:ext cx="329184" cy="32918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93608" y="5828386"/>
            <a:ext cx="230428" cy="230428"/>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69404" y="5828386"/>
            <a:ext cx="230428" cy="230428"/>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31506" y="6190488"/>
            <a:ext cx="230428" cy="230428"/>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31506" y="5466284"/>
            <a:ext cx="230428" cy="230428"/>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651760" y="777240"/>
            <a:ext cx="1371600" cy="1371600"/>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706624" y="832104"/>
            <a:ext cx="1261872" cy="126187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51760" y="777240"/>
            <a:ext cx="1371600" cy="1371600"/>
          </a:xfrm>
          <a:prstGeom prst="rect">
            <a:avLst/>
          </a:prstGeom>
          <a:noFill/>
        </p:spPr>
        <p:txBody>
          <a:bodyPr wrap="square">
            <a:spAutoFit/>
          </a:bodyPr>
          <a:lstStyle/>
          <a:p>
            <a:pPr algn="ctr"/>
            <a:r>
              <a:rPr sz="2800" b="1" i="0">
                <a:solidFill>
                  <a:srgbClr val="3E1D68"/>
                </a:solidFill>
                <a:latin typeface="Calibri"/>
              </a:rPr>
              <a:t>CB</a:t>
            </a:r>
          </a:p>
        </p:txBody>
      </p:sp>
      <p:sp>
        <p:nvSpPr>
          <p:cNvPr id="35" name="TextBox 34"/>
          <p:cNvSpPr txBox="1"/>
          <p:nvPr/>
        </p:nvSpPr>
        <p:spPr>
          <a:xfrm>
            <a:off x="457200" y="2423160"/>
            <a:ext cx="6035040" cy="548640"/>
          </a:xfrm>
          <a:prstGeom prst="rect">
            <a:avLst/>
          </a:prstGeom>
          <a:noFill/>
        </p:spPr>
        <p:txBody>
          <a:bodyPr wrap="square">
            <a:spAutoFit/>
          </a:bodyPr>
          <a:lstStyle/>
          <a:p>
            <a:pPr algn="ctr"/>
            <a:r>
              <a:rPr sz="2000" b="0" i="1">
                <a:solidFill>
                  <a:srgbClr val="C98BA6"/>
                </a:solidFill>
                <a:latin typeface="Calibri"/>
              </a:rPr>
              <a:t>Welcome to</a:t>
            </a:r>
          </a:p>
        </p:txBody>
      </p:sp>
      <p:sp>
        <p:nvSpPr>
          <p:cNvPr id="36" name="TextBox 35"/>
          <p:cNvSpPr txBox="1"/>
          <p:nvPr/>
        </p:nvSpPr>
        <p:spPr>
          <a:xfrm>
            <a:off x="457200" y="2926080"/>
            <a:ext cx="6035040" cy="914400"/>
          </a:xfrm>
          <a:prstGeom prst="rect">
            <a:avLst/>
          </a:prstGeom>
          <a:noFill/>
        </p:spPr>
        <p:txBody>
          <a:bodyPr wrap="square">
            <a:spAutoFit/>
          </a:bodyPr>
          <a:lstStyle/>
          <a:p>
            <a:pPr algn="ctr"/>
            <a:r>
              <a:rPr sz="4400" b="1" i="0">
                <a:solidFill>
                  <a:srgbClr val="FFFFFF"/>
                </a:solidFill>
                <a:latin typeface="Calibri"/>
              </a:rPr>
              <a:t>ChemBridge</a:t>
            </a:r>
          </a:p>
        </p:txBody>
      </p:sp>
      <p:sp>
        <p:nvSpPr>
          <p:cNvPr id="37" name="Rectangle 36"/>
          <p:cNvSpPr/>
          <p:nvPr/>
        </p:nvSpPr>
        <p:spPr>
          <a:xfrm>
            <a:off x="1645920" y="3822191"/>
            <a:ext cx="3291840" cy="36576"/>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3931920"/>
            <a:ext cx="6035040" cy="502920"/>
          </a:xfrm>
          <a:prstGeom prst="rect">
            <a:avLst/>
          </a:prstGeom>
          <a:noFill/>
        </p:spPr>
        <p:txBody>
          <a:bodyPr wrap="square">
            <a:spAutoFit/>
          </a:bodyPr>
          <a:lstStyle/>
          <a:p>
            <a:pPr algn="ctr"/>
            <a:r>
              <a:rPr sz="1300" b="0" i="0">
                <a:solidFill>
                  <a:srgbClr val="C98BA6"/>
                </a:solidFill>
                <a:latin typeface="Calibri"/>
              </a:rPr>
              <a:t>Your Complete Chemistry Learning Platform</a:t>
            </a:r>
          </a:p>
        </p:txBody>
      </p:sp>
      <p:sp>
        <p:nvSpPr>
          <p:cNvPr id="39" name="TextBox 38"/>
          <p:cNvSpPr txBox="1"/>
          <p:nvPr/>
        </p:nvSpPr>
        <p:spPr>
          <a:xfrm>
            <a:off x="457200" y="4663440"/>
            <a:ext cx="6035040" cy="384048"/>
          </a:xfrm>
          <a:prstGeom prst="rect">
            <a:avLst/>
          </a:prstGeom>
          <a:noFill/>
        </p:spPr>
        <p:txBody>
          <a:bodyPr wrap="square">
            <a:spAutoFit/>
          </a:bodyPr>
          <a:lstStyle/>
          <a:p>
            <a:pPr algn="ctr"/>
            <a:r>
              <a:rPr sz="1100" b="0" i="1">
                <a:solidFill>
                  <a:srgbClr val="E8D5B7"/>
                </a:solidFill>
                <a:latin typeface="Calibri"/>
              </a:rPr>
              <a:t>by Teacher Nourhan Zaher</a:t>
            </a:r>
          </a:p>
        </p:txBody>
      </p:sp>
      <p:sp>
        <p:nvSpPr>
          <p:cNvPr id="40" name="Rectangle 39"/>
          <p:cNvSpPr/>
          <p:nvPr/>
        </p:nvSpPr>
        <p:spPr>
          <a:xfrm>
            <a:off x="1280160" y="5193792"/>
            <a:ext cx="3840480" cy="38404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80160" y="5230368"/>
            <a:ext cx="3840480" cy="347472"/>
          </a:xfrm>
          <a:prstGeom prst="rect">
            <a:avLst/>
          </a:prstGeom>
          <a:noFill/>
        </p:spPr>
        <p:txBody>
          <a:bodyPr wrap="square">
            <a:spAutoFit/>
          </a:bodyPr>
          <a:lstStyle/>
          <a:p>
            <a:pPr algn="ctr"/>
            <a:r>
              <a:rPr sz="1000" b="1" i="0">
                <a:solidFill>
                  <a:srgbClr val="FFFFFF"/>
                </a:solidFill>
                <a:latin typeface="Calibri"/>
              </a:rPr>
              <a:t>chembridge.msnour.com</a:t>
            </a:r>
          </a:p>
        </p:txBody>
      </p:sp>
      <p:sp>
        <p:nvSpPr>
          <p:cNvPr id="42" name="TextBox 41"/>
          <p:cNvSpPr txBox="1"/>
          <p:nvPr/>
        </p:nvSpPr>
        <p:spPr>
          <a:xfrm>
            <a:off x="6858000" y="2651760"/>
            <a:ext cx="4572000" cy="502920"/>
          </a:xfrm>
          <a:prstGeom prst="rect">
            <a:avLst/>
          </a:prstGeom>
          <a:noFill/>
        </p:spPr>
        <p:txBody>
          <a:bodyPr wrap="square">
            <a:spAutoFit/>
          </a:bodyPr>
          <a:lstStyle/>
          <a:p>
            <a:pPr algn="ctr"/>
            <a:r>
              <a:rPr sz="1500" b="1" i="0">
                <a:solidFill>
                  <a:srgbClr val="3E1D68"/>
                </a:solidFill>
                <a:latin typeface="Calibri"/>
              </a:rPr>
              <a:t>Nourhan's Chemistry Tutoring</a:t>
            </a:r>
          </a:p>
        </p:txBody>
      </p:sp>
      <p:sp>
        <p:nvSpPr>
          <p:cNvPr id="43" name="TextBox 42"/>
          <p:cNvSpPr txBox="1"/>
          <p:nvPr/>
        </p:nvSpPr>
        <p:spPr>
          <a:xfrm>
            <a:off x="6858000" y="3218688"/>
            <a:ext cx="4572000" cy="685800"/>
          </a:xfrm>
          <a:prstGeom prst="rect">
            <a:avLst/>
          </a:prstGeom>
          <a:noFill/>
        </p:spPr>
        <p:txBody>
          <a:bodyPr wrap="square">
            <a:spAutoFit/>
          </a:bodyPr>
          <a:lstStyle/>
          <a:p>
            <a:pPr algn="ctr"/>
            <a:r>
              <a:rPr sz="1200" b="0" i="0">
                <a:solidFill>
                  <a:srgbClr val="6A3D9A"/>
                </a:solidFill>
                <a:latin typeface="Calibri"/>
              </a:rPr>
              <a:t>Chemistry for Qatar University
CHEM 101 &amp; CHEM 103</a:t>
            </a:r>
          </a:p>
        </p:txBody>
      </p:sp>
      <p:sp>
        <p:nvSpPr>
          <p:cNvPr id="44" name="Rectangle 43"/>
          <p:cNvSpPr/>
          <p:nvPr/>
        </p:nvSpPr>
        <p:spPr>
          <a:xfrm>
            <a:off x="7223760" y="4160520"/>
            <a:ext cx="3749039" cy="36576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23760" y="4215384"/>
            <a:ext cx="3749039" cy="320040"/>
          </a:xfrm>
          <a:prstGeom prst="rect">
            <a:avLst/>
          </a:prstGeom>
          <a:noFill/>
        </p:spPr>
        <p:txBody>
          <a:bodyPr wrap="square">
            <a:spAutoFit/>
          </a:bodyPr>
          <a:lstStyle/>
          <a:p>
            <a:pPr algn="ctr"/>
            <a:r>
              <a:rPr sz="1000" b="0" i="0">
                <a:solidFill>
                  <a:srgbClr val="3E1D68"/>
                </a:solidFill>
                <a:latin typeface="Calibri"/>
              </a:rPr>
              <a:t>📹  Video Lessons</a:t>
            </a:r>
          </a:p>
        </p:txBody>
      </p:sp>
      <p:sp>
        <p:nvSpPr>
          <p:cNvPr id="46" name="Rectangle 45"/>
          <p:cNvSpPr/>
          <p:nvPr/>
        </p:nvSpPr>
        <p:spPr>
          <a:xfrm>
            <a:off x="7223760" y="4663440"/>
            <a:ext cx="3749039" cy="36576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23760" y="4718304"/>
            <a:ext cx="3749039" cy="320040"/>
          </a:xfrm>
          <a:prstGeom prst="rect">
            <a:avLst/>
          </a:prstGeom>
          <a:noFill/>
        </p:spPr>
        <p:txBody>
          <a:bodyPr wrap="square">
            <a:spAutoFit/>
          </a:bodyPr>
          <a:lstStyle/>
          <a:p>
            <a:pPr algn="ctr"/>
            <a:r>
              <a:rPr sz="1000" b="0" i="0">
                <a:solidFill>
                  <a:srgbClr val="3E1D68"/>
                </a:solidFill>
                <a:latin typeface="Calibri"/>
              </a:rPr>
              <a:t>📝  Study Notes</a:t>
            </a:r>
          </a:p>
        </p:txBody>
      </p:sp>
      <p:sp>
        <p:nvSpPr>
          <p:cNvPr id="48" name="Rectangle 47"/>
          <p:cNvSpPr/>
          <p:nvPr/>
        </p:nvSpPr>
        <p:spPr>
          <a:xfrm>
            <a:off x="7223760" y="5166360"/>
            <a:ext cx="3749039" cy="36576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23760" y="5221224"/>
            <a:ext cx="3749039" cy="320040"/>
          </a:xfrm>
          <a:prstGeom prst="rect">
            <a:avLst/>
          </a:prstGeom>
          <a:noFill/>
        </p:spPr>
        <p:txBody>
          <a:bodyPr wrap="square">
            <a:spAutoFit/>
          </a:bodyPr>
          <a:lstStyle/>
          <a:p>
            <a:pPr algn="ctr"/>
            <a:r>
              <a:rPr sz="1000" b="0" i="0">
                <a:solidFill>
                  <a:srgbClr val="3E1D68"/>
                </a:solidFill>
                <a:latin typeface="Calibri"/>
              </a:rPr>
              <a:t>✅  Quizzes</a:t>
            </a:r>
          </a:p>
        </p:txBody>
      </p:sp>
      <p:sp>
        <p:nvSpPr>
          <p:cNvPr id="50" name="Rectangle 49"/>
          <p:cNvSpPr/>
          <p:nvPr/>
        </p:nvSpPr>
        <p:spPr>
          <a:xfrm>
            <a:off x="7223760" y="5669280"/>
            <a:ext cx="3749039" cy="36576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23760" y="5724144"/>
            <a:ext cx="3749039" cy="320040"/>
          </a:xfrm>
          <a:prstGeom prst="rect">
            <a:avLst/>
          </a:prstGeom>
          <a:noFill/>
        </p:spPr>
        <p:txBody>
          <a:bodyPr wrap="square">
            <a:spAutoFit/>
          </a:bodyPr>
          <a:lstStyle/>
          <a:p>
            <a:pPr algn="ctr"/>
            <a:r>
              <a:rPr sz="1000" b="0" i="0">
                <a:solidFill>
                  <a:srgbClr val="3E1D68"/>
                </a:solidFill>
                <a:latin typeface="Calibri"/>
              </a:rPr>
              <a:t>📊  Progress Tracking</a:t>
            </a:r>
          </a:p>
        </p:txBody>
      </p:sp>
      <p:sp>
        <p:nvSpPr>
          <p:cNvPr id="52" name="Rectangle 51"/>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65760" y="6035040"/>
            <a:ext cx="365760" cy="365760"/>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1" y="6089905"/>
            <a:ext cx="256030" cy="256030"/>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289" y="6089905"/>
            <a:ext cx="256030" cy="256030"/>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0625" y="6492241"/>
            <a:ext cx="256030" cy="256030"/>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0625" y="5687569"/>
            <a:ext cx="256030" cy="256030"/>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01168"/>
            <a:ext cx="1828800" cy="457200"/>
          </a:xfrm>
          <a:prstGeom prst="rect">
            <a:avLst/>
          </a:prstGeom>
          <a:noFill/>
        </p:spPr>
        <p:txBody>
          <a:bodyPr wrap="square">
            <a:spAutoFit/>
          </a:bodyPr>
          <a:lstStyle/>
          <a:p>
            <a:pPr algn="l"/>
            <a:r>
              <a:rPr sz="900" b="1" i="0">
                <a:solidFill>
                  <a:srgbClr val="C98BA6"/>
                </a:solidFill>
                <a:latin typeface="Calibri"/>
              </a:rPr>
              <a:t>ABOUT</a:t>
            </a:r>
          </a:p>
        </p:txBody>
      </p:sp>
      <p:sp>
        <p:nvSpPr>
          <p:cNvPr id="12" name="TextBox 11"/>
          <p:cNvSpPr txBox="1"/>
          <p:nvPr/>
        </p:nvSpPr>
        <p:spPr>
          <a:xfrm>
            <a:off x="457200" y="475488"/>
            <a:ext cx="7315200" cy="640080"/>
          </a:xfrm>
          <a:prstGeom prst="rect">
            <a:avLst/>
          </a:prstGeom>
          <a:noFill/>
        </p:spPr>
        <p:txBody>
          <a:bodyPr wrap="square">
            <a:spAutoFit/>
          </a:bodyPr>
          <a:lstStyle/>
          <a:p>
            <a:pPr algn="l"/>
            <a:r>
              <a:rPr sz="2800" b="1" i="0">
                <a:solidFill>
                  <a:srgbClr val="FFFFFF"/>
                </a:solidFill>
                <a:latin typeface="Calibri"/>
              </a:rPr>
              <a:t>About ChemBridge</a:t>
            </a:r>
          </a:p>
        </p:txBody>
      </p:sp>
      <p:sp>
        <p:nvSpPr>
          <p:cNvPr id="13" name="Rectangle 12"/>
          <p:cNvSpPr/>
          <p:nvPr/>
        </p:nvSpPr>
        <p:spPr>
          <a:xfrm>
            <a:off x="457200" y="1508760"/>
            <a:ext cx="11274552" cy="658368"/>
          </a:xfrm>
          <a:prstGeom prst="rect">
            <a:avLst/>
          </a:prstGeom>
          <a:solidFill>
            <a:srgbClr val="F5ECF3"/>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572768"/>
            <a:ext cx="10908792" cy="566928"/>
          </a:xfrm>
          <a:prstGeom prst="rect">
            <a:avLst/>
          </a:prstGeom>
          <a:noFill/>
        </p:spPr>
        <p:txBody>
          <a:bodyPr wrap="square">
            <a:spAutoFit/>
          </a:bodyPr>
          <a:lstStyle/>
          <a:p>
            <a:pPr algn="ctr"/>
            <a:r>
              <a:rPr sz="1100" b="0" i="0">
                <a:solidFill>
                  <a:srgbClr val="3E1D68"/>
                </a:solidFill>
                <a:latin typeface="Calibri"/>
              </a:rPr>
              <a:t>🎯  ChemBridge is an online learning platform built to help Qatar University students master CHEM 101 &amp; CHEM 103 through structured video lessons, practice questions, and smart quizzes.</a:t>
            </a:r>
          </a:p>
        </p:txBody>
      </p:sp>
      <p:sp>
        <p:nvSpPr>
          <p:cNvPr id="15" name="Rectangle 14"/>
          <p:cNvSpPr/>
          <p:nvPr/>
        </p:nvSpPr>
        <p:spPr>
          <a:xfrm>
            <a:off x="457200" y="2331720"/>
            <a:ext cx="2788920" cy="1508760"/>
          </a:xfrm>
          <a:prstGeom prst="rect">
            <a:avLst/>
          </a:prstGeom>
          <a:solidFill>
            <a:srgbClr val="F5ECF3"/>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41448"/>
            <a:ext cx="548640" cy="502920"/>
          </a:xfrm>
          <a:prstGeom prst="rect">
            <a:avLst/>
          </a:prstGeom>
          <a:noFill/>
        </p:spPr>
        <p:txBody>
          <a:bodyPr wrap="square">
            <a:spAutoFit/>
          </a:bodyPr>
          <a:lstStyle/>
          <a:p>
            <a:pPr algn="ctr"/>
            <a:r>
              <a:rPr sz="2200" b="0" i="0">
                <a:solidFill>
                  <a:srgbClr val="3E1D68"/>
                </a:solidFill>
                <a:latin typeface="Calibri"/>
              </a:rPr>
              <a:t>🎓</a:t>
            </a:r>
          </a:p>
        </p:txBody>
      </p:sp>
      <p:sp>
        <p:nvSpPr>
          <p:cNvPr id="17" name="TextBox 16"/>
          <p:cNvSpPr txBox="1"/>
          <p:nvPr/>
        </p:nvSpPr>
        <p:spPr>
          <a:xfrm>
            <a:off x="1143000" y="2459736"/>
            <a:ext cx="2011680" cy="347472"/>
          </a:xfrm>
          <a:prstGeom prst="rect">
            <a:avLst/>
          </a:prstGeom>
          <a:noFill/>
        </p:spPr>
        <p:txBody>
          <a:bodyPr wrap="square">
            <a:spAutoFit/>
          </a:bodyPr>
          <a:lstStyle/>
          <a:p>
            <a:pPr algn="l"/>
            <a:r>
              <a:rPr sz="1100" b="1" i="0">
                <a:solidFill>
                  <a:srgbClr val="3E1D68"/>
                </a:solidFill>
                <a:latin typeface="Calibri"/>
              </a:rPr>
              <a:t>Expert Guidance</a:t>
            </a:r>
          </a:p>
        </p:txBody>
      </p:sp>
      <p:sp>
        <p:nvSpPr>
          <p:cNvPr id="18" name="TextBox 17"/>
          <p:cNvSpPr txBox="1"/>
          <p:nvPr/>
        </p:nvSpPr>
        <p:spPr>
          <a:xfrm>
            <a:off x="566928" y="2898648"/>
            <a:ext cx="2569464" cy="850392"/>
          </a:xfrm>
          <a:prstGeom prst="rect">
            <a:avLst/>
          </a:prstGeom>
          <a:noFill/>
        </p:spPr>
        <p:txBody>
          <a:bodyPr wrap="square">
            <a:spAutoFit/>
          </a:bodyPr>
          <a:lstStyle/>
          <a:p>
            <a:pPr algn="l"/>
            <a:r>
              <a:rPr sz="850" b="0" i="0">
                <a:solidFill>
                  <a:srgbClr val="333344"/>
                </a:solidFill>
                <a:latin typeface="Calibri"/>
              </a:rPr>
              <a:t>Taught by Nourhan Zaher, an experienced chemistry instructor specialized in QU curriculum.</a:t>
            </a:r>
          </a:p>
        </p:txBody>
      </p:sp>
      <p:sp>
        <p:nvSpPr>
          <p:cNvPr id="19" name="Rectangle 18"/>
          <p:cNvSpPr/>
          <p:nvPr/>
        </p:nvSpPr>
        <p:spPr>
          <a:xfrm>
            <a:off x="3364992" y="2331720"/>
            <a:ext cx="2788920" cy="1508760"/>
          </a:xfrm>
          <a:prstGeom prst="rect">
            <a:avLst/>
          </a:prstGeom>
          <a:solidFill>
            <a:srgbClr val="F5ECF3"/>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441448"/>
            <a:ext cx="548640" cy="502920"/>
          </a:xfrm>
          <a:prstGeom prst="rect">
            <a:avLst/>
          </a:prstGeom>
          <a:noFill/>
        </p:spPr>
        <p:txBody>
          <a:bodyPr wrap="square">
            <a:spAutoFit/>
          </a:bodyPr>
          <a:lstStyle/>
          <a:p>
            <a:pPr algn="ctr"/>
            <a:r>
              <a:rPr sz="2200" b="0" i="0">
                <a:solidFill>
                  <a:srgbClr val="3E1D68"/>
                </a:solidFill>
                <a:latin typeface="Calibri"/>
              </a:rPr>
              <a:t>🏗️</a:t>
            </a:r>
          </a:p>
        </p:txBody>
      </p:sp>
      <p:sp>
        <p:nvSpPr>
          <p:cNvPr id="21" name="TextBox 20"/>
          <p:cNvSpPr txBox="1"/>
          <p:nvPr/>
        </p:nvSpPr>
        <p:spPr>
          <a:xfrm>
            <a:off x="4050792" y="2459736"/>
            <a:ext cx="2011680" cy="347472"/>
          </a:xfrm>
          <a:prstGeom prst="rect">
            <a:avLst/>
          </a:prstGeom>
          <a:noFill/>
        </p:spPr>
        <p:txBody>
          <a:bodyPr wrap="square">
            <a:spAutoFit/>
          </a:bodyPr>
          <a:lstStyle/>
          <a:p>
            <a:pPr algn="l"/>
            <a:r>
              <a:rPr sz="1100" b="1" i="0">
                <a:solidFill>
                  <a:srgbClr val="3E1D68"/>
                </a:solidFill>
                <a:latin typeface="Calibri"/>
              </a:rPr>
              <a:t>Structured Curriculum</a:t>
            </a:r>
          </a:p>
        </p:txBody>
      </p:sp>
      <p:sp>
        <p:nvSpPr>
          <p:cNvPr id="22" name="TextBox 21"/>
          <p:cNvSpPr txBox="1"/>
          <p:nvPr/>
        </p:nvSpPr>
        <p:spPr>
          <a:xfrm>
            <a:off x="3474720" y="2898648"/>
            <a:ext cx="2569464" cy="850392"/>
          </a:xfrm>
          <a:prstGeom prst="rect">
            <a:avLst/>
          </a:prstGeom>
          <a:noFill/>
        </p:spPr>
        <p:txBody>
          <a:bodyPr wrap="square">
            <a:spAutoFit/>
          </a:bodyPr>
          <a:lstStyle/>
          <a:p>
            <a:pPr algn="l"/>
            <a:r>
              <a:rPr sz="850" b="0" i="0">
                <a:solidFill>
                  <a:srgbClr val="333344"/>
                </a:solidFill>
                <a:latin typeface="Calibri"/>
              </a:rPr>
              <a:t>Content is organized by chapter and topic — aligned exactly with your university syllabus.</a:t>
            </a:r>
          </a:p>
        </p:txBody>
      </p:sp>
      <p:sp>
        <p:nvSpPr>
          <p:cNvPr id="23" name="Rectangle 22"/>
          <p:cNvSpPr/>
          <p:nvPr/>
        </p:nvSpPr>
        <p:spPr>
          <a:xfrm>
            <a:off x="6272784" y="2331720"/>
            <a:ext cx="2788920" cy="1508760"/>
          </a:xfrm>
          <a:prstGeom prst="rect">
            <a:avLst/>
          </a:prstGeom>
          <a:solidFill>
            <a:srgbClr val="F5ECF3"/>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2441448"/>
            <a:ext cx="548640" cy="502920"/>
          </a:xfrm>
          <a:prstGeom prst="rect">
            <a:avLst/>
          </a:prstGeom>
          <a:noFill/>
        </p:spPr>
        <p:txBody>
          <a:bodyPr wrap="square">
            <a:spAutoFit/>
          </a:bodyPr>
          <a:lstStyle/>
          <a:p>
            <a:pPr algn="ctr"/>
            <a:r>
              <a:rPr sz="2200" b="0" i="0">
                <a:solidFill>
                  <a:srgbClr val="3E1D68"/>
                </a:solidFill>
                <a:latin typeface="Calibri"/>
              </a:rPr>
              <a:t>⏰</a:t>
            </a:r>
          </a:p>
        </p:txBody>
      </p:sp>
      <p:sp>
        <p:nvSpPr>
          <p:cNvPr id="25" name="TextBox 24"/>
          <p:cNvSpPr txBox="1"/>
          <p:nvPr/>
        </p:nvSpPr>
        <p:spPr>
          <a:xfrm>
            <a:off x="6958584" y="2459736"/>
            <a:ext cx="2011680" cy="347472"/>
          </a:xfrm>
          <a:prstGeom prst="rect">
            <a:avLst/>
          </a:prstGeom>
          <a:noFill/>
        </p:spPr>
        <p:txBody>
          <a:bodyPr wrap="square">
            <a:spAutoFit/>
          </a:bodyPr>
          <a:lstStyle/>
          <a:p>
            <a:pPr algn="l"/>
            <a:r>
              <a:rPr sz="1100" b="1" i="0">
                <a:solidFill>
                  <a:srgbClr val="3E1D68"/>
                </a:solidFill>
                <a:latin typeface="Calibri"/>
              </a:rPr>
              <a:t>Study Anytime</a:t>
            </a:r>
          </a:p>
        </p:txBody>
      </p:sp>
      <p:sp>
        <p:nvSpPr>
          <p:cNvPr id="26" name="TextBox 25"/>
          <p:cNvSpPr txBox="1"/>
          <p:nvPr/>
        </p:nvSpPr>
        <p:spPr>
          <a:xfrm>
            <a:off x="6382512" y="2898648"/>
            <a:ext cx="2569464" cy="850392"/>
          </a:xfrm>
          <a:prstGeom prst="rect">
            <a:avLst/>
          </a:prstGeom>
          <a:noFill/>
        </p:spPr>
        <p:txBody>
          <a:bodyPr wrap="square">
            <a:spAutoFit/>
          </a:bodyPr>
          <a:lstStyle/>
          <a:p>
            <a:pPr algn="l"/>
            <a:r>
              <a:rPr sz="850" b="0" i="0">
                <a:solidFill>
                  <a:srgbClr val="333344"/>
                </a:solidFill>
                <a:latin typeface="Calibri"/>
              </a:rPr>
              <a:t>Access lessons, notes, and quizzes 24/7 from any device — at your own pace.</a:t>
            </a:r>
          </a:p>
        </p:txBody>
      </p:sp>
      <p:sp>
        <p:nvSpPr>
          <p:cNvPr id="27" name="Rectangle 26"/>
          <p:cNvSpPr/>
          <p:nvPr/>
        </p:nvSpPr>
        <p:spPr>
          <a:xfrm>
            <a:off x="9180576" y="2331720"/>
            <a:ext cx="2788920" cy="1508760"/>
          </a:xfrm>
          <a:prstGeom prst="rect">
            <a:avLst/>
          </a:prstGeom>
          <a:solidFill>
            <a:srgbClr val="F5ECF3"/>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90304" y="2441448"/>
            <a:ext cx="548640" cy="502920"/>
          </a:xfrm>
          <a:prstGeom prst="rect">
            <a:avLst/>
          </a:prstGeom>
          <a:noFill/>
        </p:spPr>
        <p:txBody>
          <a:bodyPr wrap="square">
            <a:spAutoFit/>
          </a:bodyPr>
          <a:lstStyle/>
          <a:p>
            <a:pPr algn="ctr"/>
            <a:r>
              <a:rPr sz="2200" b="0" i="0">
                <a:solidFill>
                  <a:srgbClr val="3E1D68"/>
                </a:solidFill>
                <a:latin typeface="Calibri"/>
              </a:rPr>
              <a:t>📈</a:t>
            </a:r>
          </a:p>
        </p:txBody>
      </p:sp>
      <p:sp>
        <p:nvSpPr>
          <p:cNvPr id="29" name="TextBox 28"/>
          <p:cNvSpPr txBox="1"/>
          <p:nvPr/>
        </p:nvSpPr>
        <p:spPr>
          <a:xfrm>
            <a:off x="9866376" y="2459736"/>
            <a:ext cx="2011680" cy="347472"/>
          </a:xfrm>
          <a:prstGeom prst="rect">
            <a:avLst/>
          </a:prstGeom>
          <a:noFill/>
        </p:spPr>
        <p:txBody>
          <a:bodyPr wrap="square">
            <a:spAutoFit/>
          </a:bodyPr>
          <a:lstStyle/>
          <a:p>
            <a:pPr algn="l"/>
            <a:r>
              <a:rPr sz="1100" b="1" i="0">
                <a:solidFill>
                  <a:srgbClr val="3E1D68"/>
                </a:solidFill>
                <a:latin typeface="Calibri"/>
              </a:rPr>
              <a:t>Track Your Progress</a:t>
            </a:r>
          </a:p>
        </p:txBody>
      </p:sp>
      <p:sp>
        <p:nvSpPr>
          <p:cNvPr id="30" name="TextBox 29"/>
          <p:cNvSpPr txBox="1"/>
          <p:nvPr/>
        </p:nvSpPr>
        <p:spPr>
          <a:xfrm>
            <a:off x="9290304" y="2898648"/>
            <a:ext cx="2569464" cy="850392"/>
          </a:xfrm>
          <a:prstGeom prst="rect">
            <a:avLst/>
          </a:prstGeom>
          <a:noFill/>
        </p:spPr>
        <p:txBody>
          <a:bodyPr wrap="square">
            <a:spAutoFit/>
          </a:bodyPr>
          <a:lstStyle/>
          <a:p>
            <a:pPr algn="l"/>
            <a:r>
              <a:rPr sz="850" b="0" i="0">
                <a:solidFill>
                  <a:srgbClr val="333344"/>
                </a:solidFill>
                <a:latin typeface="Calibri"/>
              </a:rPr>
              <a:t>Monitor quiz scores and completed lessons to stay on top of your study goals.</a:t>
            </a:r>
          </a:p>
        </p:txBody>
      </p:sp>
      <p:sp>
        <p:nvSpPr>
          <p:cNvPr id="31" name="Rectangle 30"/>
          <p:cNvSpPr/>
          <p:nvPr/>
        </p:nvSpPr>
        <p:spPr>
          <a:xfrm>
            <a:off x="457200" y="4005072"/>
            <a:ext cx="2788920" cy="1508760"/>
          </a:xfrm>
          <a:prstGeom prst="rect">
            <a:avLst/>
          </a:prstGeom>
          <a:solidFill>
            <a:srgbClr val="F5ECF3"/>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114800"/>
            <a:ext cx="548640" cy="502920"/>
          </a:xfrm>
          <a:prstGeom prst="rect">
            <a:avLst/>
          </a:prstGeom>
          <a:noFill/>
        </p:spPr>
        <p:txBody>
          <a:bodyPr wrap="square">
            <a:spAutoFit/>
          </a:bodyPr>
          <a:lstStyle/>
          <a:p>
            <a:pPr algn="ctr"/>
            <a:r>
              <a:rPr sz="2200" b="0" i="0">
                <a:solidFill>
                  <a:srgbClr val="3E1D68"/>
                </a:solidFill>
                <a:latin typeface="Calibri"/>
              </a:rPr>
              <a:t>📹</a:t>
            </a:r>
          </a:p>
        </p:txBody>
      </p:sp>
      <p:sp>
        <p:nvSpPr>
          <p:cNvPr id="33" name="TextBox 32"/>
          <p:cNvSpPr txBox="1"/>
          <p:nvPr/>
        </p:nvSpPr>
        <p:spPr>
          <a:xfrm>
            <a:off x="1143000" y="4133088"/>
            <a:ext cx="2011680" cy="347472"/>
          </a:xfrm>
          <a:prstGeom prst="rect">
            <a:avLst/>
          </a:prstGeom>
          <a:noFill/>
        </p:spPr>
        <p:txBody>
          <a:bodyPr wrap="square">
            <a:spAutoFit/>
          </a:bodyPr>
          <a:lstStyle/>
          <a:p>
            <a:pPr algn="l"/>
            <a:r>
              <a:rPr sz="1100" b="1" i="0">
                <a:solidFill>
                  <a:srgbClr val="3E1D68"/>
                </a:solidFill>
                <a:latin typeface="Calibri"/>
              </a:rPr>
              <a:t>HD Video Lessons</a:t>
            </a:r>
          </a:p>
        </p:txBody>
      </p:sp>
      <p:sp>
        <p:nvSpPr>
          <p:cNvPr id="34" name="TextBox 33"/>
          <p:cNvSpPr txBox="1"/>
          <p:nvPr/>
        </p:nvSpPr>
        <p:spPr>
          <a:xfrm>
            <a:off x="566928" y="4572000"/>
            <a:ext cx="2569464" cy="850392"/>
          </a:xfrm>
          <a:prstGeom prst="rect">
            <a:avLst/>
          </a:prstGeom>
          <a:noFill/>
        </p:spPr>
        <p:txBody>
          <a:bodyPr wrap="square">
            <a:spAutoFit/>
          </a:bodyPr>
          <a:lstStyle/>
          <a:p>
            <a:pPr algn="l"/>
            <a:r>
              <a:rPr sz="850" b="0" i="0">
                <a:solidFill>
                  <a:srgbClr val="333344"/>
                </a:solidFill>
                <a:latin typeface="Calibri"/>
              </a:rPr>
              <a:t>Clear, high-quality recorded lectures you can re-watch as many times as needed.</a:t>
            </a:r>
          </a:p>
        </p:txBody>
      </p:sp>
      <p:sp>
        <p:nvSpPr>
          <p:cNvPr id="35" name="Rectangle 34"/>
          <p:cNvSpPr/>
          <p:nvPr/>
        </p:nvSpPr>
        <p:spPr>
          <a:xfrm>
            <a:off x="3364992" y="4005072"/>
            <a:ext cx="2788920" cy="1508760"/>
          </a:xfrm>
          <a:prstGeom prst="rect">
            <a:avLst/>
          </a:prstGeom>
          <a:solidFill>
            <a:srgbClr val="F5ECF3"/>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74720" y="4114800"/>
            <a:ext cx="548640" cy="502920"/>
          </a:xfrm>
          <a:prstGeom prst="rect">
            <a:avLst/>
          </a:prstGeom>
          <a:noFill/>
        </p:spPr>
        <p:txBody>
          <a:bodyPr wrap="square">
            <a:spAutoFit/>
          </a:bodyPr>
          <a:lstStyle/>
          <a:p>
            <a:pPr algn="ctr"/>
            <a:r>
              <a:rPr sz="2200" b="0" i="0">
                <a:solidFill>
                  <a:srgbClr val="3E1D68"/>
                </a:solidFill>
                <a:latin typeface="Calibri"/>
              </a:rPr>
              <a:t>📝</a:t>
            </a:r>
          </a:p>
        </p:txBody>
      </p:sp>
      <p:sp>
        <p:nvSpPr>
          <p:cNvPr id="37" name="TextBox 36"/>
          <p:cNvSpPr txBox="1"/>
          <p:nvPr/>
        </p:nvSpPr>
        <p:spPr>
          <a:xfrm>
            <a:off x="4050792" y="4133088"/>
            <a:ext cx="2011680" cy="347472"/>
          </a:xfrm>
          <a:prstGeom prst="rect">
            <a:avLst/>
          </a:prstGeom>
          <a:noFill/>
        </p:spPr>
        <p:txBody>
          <a:bodyPr wrap="square">
            <a:spAutoFit/>
          </a:bodyPr>
          <a:lstStyle/>
          <a:p>
            <a:pPr algn="l"/>
            <a:r>
              <a:rPr sz="1100" b="1" i="0">
                <a:solidFill>
                  <a:srgbClr val="3E1D68"/>
                </a:solidFill>
                <a:latin typeface="Calibri"/>
              </a:rPr>
              <a:t>Study Materials</a:t>
            </a:r>
          </a:p>
        </p:txBody>
      </p:sp>
      <p:sp>
        <p:nvSpPr>
          <p:cNvPr id="38" name="TextBox 37"/>
          <p:cNvSpPr txBox="1"/>
          <p:nvPr/>
        </p:nvSpPr>
        <p:spPr>
          <a:xfrm>
            <a:off x="3474720" y="4572000"/>
            <a:ext cx="2569464" cy="850392"/>
          </a:xfrm>
          <a:prstGeom prst="rect">
            <a:avLst/>
          </a:prstGeom>
          <a:noFill/>
        </p:spPr>
        <p:txBody>
          <a:bodyPr wrap="square">
            <a:spAutoFit/>
          </a:bodyPr>
          <a:lstStyle/>
          <a:p>
            <a:pPr algn="l"/>
            <a:r>
              <a:rPr sz="850" b="0" i="0">
                <a:solidFill>
                  <a:srgbClr val="333344"/>
                </a:solidFill>
                <a:latin typeface="Calibri"/>
              </a:rPr>
              <a:t>Downloadable notes, formula sheets, and chapter summaries at your fingertips.</a:t>
            </a:r>
          </a:p>
        </p:txBody>
      </p:sp>
      <p:sp>
        <p:nvSpPr>
          <p:cNvPr id="39" name="Rectangle 38"/>
          <p:cNvSpPr/>
          <p:nvPr/>
        </p:nvSpPr>
        <p:spPr>
          <a:xfrm>
            <a:off x="6272784" y="4005072"/>
            <a:ext cx="2788920" cy="1508760"/>
          </a:xfrm>
          <a:prstGeom prst="rect">
            <a:avLst/>
          </a:prstGeom>
          <a:solidFill>
            <a:srgbClr val="F5ECF3"/>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82512" y="4114800"/>
            <a:ext cx="548640" cy="502920"/>
          </a:xfrm>
          <a:prstGeom prst="rect">
            <a:avLst/>
          </a:prstGeom>
          <a:noFill/>
        </p:spPr>
        <p:txBody>
          <a:bodyPr wrap="square">
            <a:spAutoFit/>
          </a:bodyPr>
          <a:lstStyle/>
          <a:p>
            <a:pPr algn="ctr"/>
            <a:r>
              <a:rPr sz="2200" b="0" i="0">
                <a:solidFill>
                  <a:srgbClr val="3E1D68"/>
                </a:solidFill>
                <a:latin typeface="Calibri"/>
              </a:rPr>
              <a:t>✅</a:t>
            </a:r>
          </a:p>
        </p:txBody>
      </p:sp>
      <p:sp>
        <p:nvSpPr>
          <p:cNvPr id="41" name="TextBox 40"/>
          <p:cNvSpPr txBox="1"/>
          <p:nvPr/>
        </p:nvSpPr>
        <p:spPr>
          <a:xfrm>
            <a:off x="6958584" y="4133088"/>
            <a:ext cx="2011680" cy="347472"/>
          </a:xfrm>
          <a:prstGeom prst="rect">
            <a:avLst/>
          </a:prstGeom>
          <a:noFill/>
        </p:spPr>
        <p:txBody>
          <a:bodyPr wrap="square">
            <a:spAutoFit/>
          </a:bodyPr>
          <a:lstStyle/>
          <a:p>
            <a:pPr algn="l"/>
            <a:r>
              <a:rPr sz="1100" b="1" i="0">
                <a:solidFill>
                  <a:srgbClr val="3E1D68"/>
                </a:solidFill>
                <a:latin typeface="Calibri"/>
              </a:rPr>
              <a:t>Practice &amp; Quizzes</a:t>
            </a:r>
          </a:p>
        </p:txBody>
      </p:sp>
      <p:sp>
        <p:nvSpPr>
          <p:cNvPr id="42" name="TextBox 41"/>
          <p:cNvSpPr txBox="1"/>
          <p:nvPr/>
        </p:nvSpPr>
        <p:spPr>
          <a:xfrm>
            <a:off x="6382512" y="4572000"/>
            <a:ext cx="2569464" cy="850392"/>
          </a:xfrm>
          <a:prstGeom prst="rect">
            <a:avLst/>
          </a:prstGeom>
          <a:noFill/>
        </p:spPr>
        <p:txBody>
          <a:bodyPr wrap="square">
            <a:spAutoFit/>
          </a:bodyPr>
          <a:lstStyle/>
          <a:p>
            <a:pPr algn="l"/>
            <a:r>
              <a:rPr sz="850" b="0" i="0">
                <a:solidFill>
                  <a:srgbClr val="333344"/>
                </a:solidFill>
                <a:latin typeface="Calibri"/>
              </a:rPr>
              <a:t>Test your knowledge with targeted exercises and timed quizzes after each chapter.</a:t>
            </a:r>
          </a:p>
        </p:txBody>
      </p:sp>
      <p:sp>
        <p:nvSpPr>
          <p:cNvPr id="43" name="Rectangle 42"/>
          <p:cNvSpPr/>
          <p:nvPr/>
        </p:nvSpPr>
        <p:spPr>
          <a:xfrm>
            <a:off x="9180576" y="4005072"/>
            <a:ext cx="2788920" cy="1508760"/>
          </a:xfrm>
          <a:prstGeom prst="rect">
            <a:avLst/>
          </a:prstGeom>
          <a:solidFill>
            <a:srgbClr val="F5ECF3"/>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90304" y="4114800"/>
            <a:ext cx="548640" cy="502920"/>
          </a:xfrm>
          <a:prstGeom prst="rect">
            <a:avLst/>
          </a:prstGeom>
          <a:noFill/>
        </p:spPr>
        <p:txBody>
          <a:bodyPr wrap="square">
            <a:spAutoFit/>
          </a:bodyPr>
          <a:lstStyle/>
          <a:p>
            <a:pPr algn="ctr"/>
            <a:r>
              <a:rPr sz="2200" b="0" i="0">
                <a:solidFill>
                  <a:srgbClr val="3E1D68"/>
                </a:solidFill>
                <a:latin typeface="Calibri"/>
              </a:rPr>
              <a:t>💬</a:t>
            </a:r>
          </a:p>
        </p:txBody>
      </p:sp>
      <p:sp>
        <p:nvSpPr>
          <p:cNvPr id="45" name="TextBox 44"/>
          <p:cNvSpPr txBox="1"/>
          <p:nvPr/>
        </p:nvSpPr>
        <p:spPr>
          <a:xfrm>
            <a:off x="9866376" y="4133088"/>
            <a:ext cx="2011680" cy="347472"/>
          </a:xfrm>
          <a:prstGeom prst="rect">
            <a:avLst/>
          </a:prstGeom>
          <a:noFill/>
        </p:spPr>
        <p:txBody>
          <a:bodyPr wrap="square">
            <a:spAutoFit/>
          </a:bodyPr>
          <a:lstStyle/>
          <a:p>
            <a:pPr algn="l"/>
            <a:r>
              <a:rPr sz="1100" b="1" i="0">
                <a:solidFill>
                  <a:srgbClr val="3E1D68"/>
                </a:solidFill>
                <a:latin typeface="Calibri"/>
              </a:rPr>
              <a:t>Direct Support</a:t>
            </a:r>
          </a:p>
        </p:txBody>
      </p:sp>
      <p:sp>
        <p:nvSpPr>
          <p:cNvPr id="46" name="TextBox 45"/>
          <p:cNvSpPr txBox="1"/>
          <p:nvPr/>
        </p:nvSpPr>
        <p:spPr>
          <a:xfrm>
            <a:off x="9290304" y="4572000"/>
            <a:ext cx="2569464" cy="850392"/>
          </a:xfrm>
          <a:prstGeom prst="rect">
            <a:avLst/>
          </a:prstGeom>
          <a:noFill/>
        </p:spPr>
        <p:txBody>
          <a:bodyPr wrap="square">
            <a:spAutoFit/>
          </a:bodyPr>
          <a:lstStyle/>
          <a:p>
            <a:pPr algn="l"/>
            <a:r>
              <a:rPr sz="850" b="0" i="0">
                <a:solidFill>
                  <a:srgbClr val="333344"/>
                </a:solidFill>
                <a:latin typeface="Calibri"/>
              </a:rPr>
              <a:t>Reach Teacher Nourhan directly via WhatsApp for any questions or help.</a:t>
            </a:r>
          </a:p>
        </p:txBody>
      </p:sp>
      <p:sp>
        <p:nvSpPr>
          <p:cNvPr id="47" name="Rectangle 46"/>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
            <a:ext cx="2286000" cy="457200"/>
          </a:xfrm>
          <a:prstGeom prst="rect">
            <a:avLst/>
          </a:prstGeom>
          <a:noFill/>
        </p:spPr>
        <p:txBody>
          <a:bodyPr wrap="square">
            <a:spAutoFit/>
          </a:bodyPr>
          <a:lstStyle/>
          <a:p>
            <a:pPr algn="l"/>
            <a:r>
              <a:rPr sz="900" b="1" i="0">
                <a:solidFill>
                  <a:srgbClr val="C98BA6"/>
                </a:solidFill>
                <a:latin typeface="Calibri"/>
              </a:rPr>
              <a:t>NAVIGATION</a:t>
            </a:r>
          </a:p>
        </p:txBody>
      </p:sp>
      <p:sp>
        <p:nvSpPr>
          <p:cNvPr id="7" name="TextBox 6"/>
          <p:cNvSpPr txBox="1"/>
          <p:nvPr/>
        </p:nvSpPr>
        <p:spPr>
          <a:xfrm>
            <a:off x="457200" y="475488"/>
            <a:ext cx="8229600" cy="640080"/>
          </a:xfrm>
          <a:prstGeom prst="rect">
            <a:avLst/>
          </a:prstGeom>
          <a:noFill/>
        </p:spPr>
        <p:txBody>
          <a:bodyPr wrap="square">
            <a:spAutoFit/>
          </a:bodyPr>
          <a:lstStyle/>
          <a:p>
            <a:pPr algn="l"/>
            <a:r>
              <a:rPr sz="2800" b="1" i="0">
                <a:solidFill>
                  <a:srgbClr val="FFFFFF"/>
                </a:solidFill>
                <a:latin typeface="Calibri"/>
              </a:rPr>
              <a:t>Homepage Overview</a:t>
            </a:r>
          </a:p>
        </p:txBody>
      </p:sp>
      <p:sp>
        <p:nvSpPr>
          <p:cNvPr id="8" name="Rectangle 7"/>
          <p:cNvSpPr/>
          <p:nvPr/>
        </p:nvSpPr>
        <p:spPr>
          <a:xfrm>
            <a:off x="457200" y="1417320"/>
            <a:ext cx="7498079" cy="4892040"/>
          </a:xfrm>
          <a:prstGeom prst="rect">
            <a:avLst/>
          </a:prstGeom>
          <a:solidFill>
            <a:srgbClr val="333344"/>
          </a:solid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17320"/>
            <a:ext cx="7498079" cy="329184"/>
          </a:xfrm>
          <a:prstGeom prst="rect">
            <a:avLst/>
          </a:prstGeom>
          <a:solidFill>
            <a:srgbClr val="2222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76072" y="1517904"/>
            <a:ext cx="128016" cy="128016"/>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1517904"/>
            <a:ext cx="128016" cy="128016"/>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517904"/>
            <a:ext cx="128016" cy="128016"/>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71600" y="1481328"/>
            <a:ext cx="5029200" cy="201168"/>
          </a:xfrm>
          <a:prstGeom prst="rect">
            <a:avLst/>
          </a:prstGeom>
          <a:solidFill>
            <a:srgbClr val="44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499616"/>
            <a:ext cx="4937760" cy="182880"/>
          </a:xfrm>
          <a:prstGeom prst="rect">
            <a:avLst/>
          </a:prstGeom>
          <a:noFill/>
        </p:spPr>
        <p:txBody>
          <a:bodyPr wrap="square">
            <a:spAutoFit/>
          </a:bodyPr>
          <a:lstStyle/>
          <a:p>
            <a:pPr algn="ctr"/>
            <a:r>
              <a:rPr sz="800" b="0" i="0">
                <a:solidFill>
                  <a:srgbClr val="C98BA6"/>
                </a:solidFill>
                <a:latin typeface="Calibri"/>
              </a:rPr>
              <a:t>chembridge.msnour.com</a:t>
            </a:r>
          </a:p>
        </p:txBody>
      </p:sp>
      <p:sp>
        <p:nvSpPr>
          <p:cNvPr id="15" name="Rectangle 14"/>
          <p:cNvSpPr/>
          <p:nvPr/>
        </p:nvSpPr>
        <p:spPr>
          <a:xfrm>
            <a:off x="457200" y="1746504"/>
            <a:ext cx="7498079" cy="38404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1801368"/>
            <a:ext cx="1051560" cy="347472"/>
          </a:xfrm>
          <a:prstGeom prst="rect">
            <a:avLst/>
          </a:prstGeom>
          <a:noFill/>
        </p:spPr>
        <p:txBody>
          <a:bodyPr wrap="square">
            <a:spAutoFit/>
          </a:bodyPr>
          <a:lstStyle/>
          <a:p>
            <a:pPr algn="ctr"/>
            <a:r>
              <a:rPr sz="900" b="1" i="0">
                <a:solidFill>
                  <a:srgbClr val="FFFFFF"/>
                </a:solidFill>
                <a:latin typeface="Calibri"/>
              </a:rPr>
              <a:t>Home</a:t>
            </a:r>
          </a:p>
        </p:txBody>
      </p:sp>
      <p:sp>
        <p:nvSpPr>
          <p:cNvPr id="17" name="TextBox 16"/>
          <p:cNvSpPr txBox="1"/>
          <p:nvPr/>
        </p:nvSpPr>
        <p:spPr>
          <a:xfrm>
            <a:off x="2057400" y="1801368"/>
            <a:ext cx="1051560" cy="347472"/>
          </a:xfrm>
          <a:prstGeom prst="rect">
            <a:avLst/>
          </a:prstGeom>
          <a:noFill/>
        </p:spPr>
        <p:txBody>
          <a:bodyPr wrap="square">
            <a:spAutoFit/>
          </a:bodyPr>
          <a:lstStyle/>
          <a:p>
            <a:pPr algn="ctr"/>
            <a:r>
              <a:rPr sz="900" b="0" i="0">
                <a:solidFill>
                  <a:srgbClr val="FFFFFF"/>
                </a:solidFill>
                <a:latin typeface="Calibri"/>
              </a:rPr>
              <a:t>Courses</a:t>
            </a:r>
          </a:p>
        </p:txBody>
      </p:sp>
      <p:sp>
        <p:nvSpPr>
          <p:cNvPr id="18" name="TextBox 17"/>
          <p:cNvSpPr txBox="1"/>
          <p:nvPr/>
        </p:nvSpPr>
        <p:spPr>
          <a:xfrm>
            <a:off x="3200400" y="1801368"/>
            <a:ext cx="1051560" cy="347472"/>
          </a:xfrm>
          <a:prstGeom prst="rect">
            <a:avLst/>
          </a:prstGeom>
          <a:noFill/>
        </p:spPr>
        <p:txBody>
          <a:bodyPr wrap="square">
            <a:spAutoFit/>
          </a:bodyPr>
          <a:lstStyle/>
          <a:p>
            <a:pPr algn="ctr"/>
            <a:r>
              <a:rPr sz="900" b="0" i="0">
                <a:solidFill>
                  <a:srgbClr val="FFFFFF"/>
                </a:solidFill>
                <a:latin typeface="Calibri"/>
              </a:rPr>
              <a:t>Notes</a:t>
            </a:r>
          </a:p>
        </p:txBody>
      </p:sp>
      <p:sp>
        <p:nvSpPr>
          <p:cNvPr id="19" name="TextBox 18"/>
          <p:cNvSpPr txBox="1"/>
          <p:nvPr/>
        </p:nvSpPr>
        <p:spPr>
          <a:xfrm>
            <a:off x="4343400" y="1801368"/>
            <a:ext cx="1051560" cy="347472"/>
          </a:xfrm>
          <a:prstGeom prst="rect">
            <a:avLst/>
          </a:prstGeom>
          <a:noFill/>
        </p:spPr>
        <p:txBody>
          <a:bodyPr wrap="square">
            <a:spAutoFit/>
          </a:bodyPr>
          <a:lstStyle/>
          <a:p>
            <a:pPr algn="ctr"/>
            <a:r>
              <a:rPr sz="900" b="0" i="0">
                <a:solidFill>
                  <a:srgbClr val="FFFFFF"/>
                </a:solidFill>
                <a:latin typeface="Calibri"/>
              </a:rPr>
              <a:t>Quizzes</a:t>
            </a:r>
          </a:p>
        </p:txBody>
      </p:sp>
      <p:sp>
        <p:nvSpPr>
          <p:cNvPr id="20" name="TextBox 19"/>
          <p:cNvSpPr txBox="1"/>
          <p:nvPr/>
        </p:nvSpPr>
        <p:spPr>
          <a:xfrm>
            <a:off x="5486400" y="1801368"/>
            <a:ext cx="1051560" cy="347472"/>
          </a:xfrm>
          <a:prstGeom prst="rect">
            <a:avLst/>
          </a:prstGeom>
          <a:noFill/>
        </p:spPr>
        <p:txBody>
          <a:bodyPr wrap="square">
            <a:spAutoFit/>
          </a:bodyPr>
          <a:lstStyle/>
          <a:p>
            <a:pPr algn="ctr"/>
            <a:r>
              <a:rPr sz="900" b="0" i="0">
                <a:solidFill>
                  <a:srgbClr val="FFFFFF"/>
                </a:solidFill>
                <a:latin typeface="Calibri"/>
              </a:rPr>
              <a:t>Progress</a:t>
            </a:r>
          </a:p>
        </p:txBody>
      </p:sp>
      <p:sp>
        <p:nvSpPr>
          <p:cNvPr id="21" name="TextBox 20"/>
          <p:cNvSpPr txBox="1"/>
          <p:nvPr/>
        </p:nvSpPr>
        <p:spPr>
          <a:xfrm>
            <a:off x="6629400" y="1801368"/>
            <a:ext cx="1051560" cy="347472"/>
          </a:xfrm>
          <a:prstGeom prst="rect">
            <a:avLst/>
          </a:prstGeom>
          <a:noFill/>
        </p:spPr>
        <p:txBody>
          <a:bodyPr wrap="square">
            <a:spAutoFit/>
          </a:bodyPr>
          <a:lstStyle/>
          <a:p>
            <a:pPr algn="ctr"/>
            <a:r>
              <a:rPr sz="900" b="0" i="0">
                <a:solidFill>
                  <a:srgbClr val="FFFFFF"/>
                </a:solidFill>
                <a:latin typeface="Calibri"/>
              </a:rPr>
              <a:t>Contact</a:t>
            </a:r>
          </a:p>
        </p:txBody>
      </p:sp>
      <p:sp>
        <p:nvSpPr>
          <p:cNvPr id="22" name="Rectangle 21"/>
          <p:cNvSpPr/>
          <p:nvPr/>
        </p:nvSpPr>
        <p:spPr>
          <a:xfrm>
            <a:off x="457200" y="2130552"/>
            <a:ext cx="7498079" cy="1463040"/>
          </a:xfrm>
          <a:prstGeom prst="rect">
            <a:avLst/>
          </a:prstGeom>
          <a:solidFill>
            <a:srgbClr val="553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2313432"/>
            <a:ext cx="4572000" cy="502920"/>
          </a:xfrm>
          <a:prstGeom prst="rect">
            <a:avLst/>
          </a:prstGeom>
          <a:noFill/>
        </p:spPr>
        <p:txBody>
          <a:bodyPr wrap="square">
            <a:spAutoFit/>
          </a:bodyPr>
          <a:lstStyle/>
          <a:p>
            <a:pPr algn="l"/>
            <a:r>
              <a:rPr sz="1700" b="1" i="0">
                <a:solidFill>
                  <a:srgbClr val="FFFFFF"/>
                </a:solidFill>
                <a:latin typeface="Calibri"/>
              </a:rPr>
              <a:t>Welcome to ChemBridge</a:t>
            </a:r>
          </a:p>
        </p:txBody>
      </p:sp>
      <p:sp>
        <p:nvSpPr>
          <p:cNvPr id="24" name="TextBox 23"/>
          <p:cNvSpPr txBox="1"/>
          <p:nvPr/>
        </p:nvSpPr>
        <p:spPr>
          <a:xfrm>
            <a:off x="822960" y="2770632"/>
            <a:ext cx="4572000" cy="411480"/>
          </a:xfrm>
          <a:prstGeom prst="rect">
            <a:avLst/>
          </a:prstGeom>
          <a:noFill/>
        </p:spPr>
        <p:txBody>
          <a:bodyPr wrap="square">
            <a:spAutoFit/>
          </a:bodyPr>
          <a:lstStyle/>
          <a:p>
            <a:pPr algn="l"/>
            <a:r>
              <a:rPr sz="900" b="0" i="0">
                <a:solidFill>
                  <a:srgbClr val="C98BA6"/>
                </a:solidFill>
                <a:latin typeface="Calibri"/>
              </a:rPr>
              <a:t>Master CHEM 101 &amp; CHEM 103 with structured lessons, notes &amp; quizzes</a:t>
            </a:r>
          </a:p>
        </p:txBody>
      </p:sp>
      <p:sp>
        <p:nvSpPr>
          <p:cNvPr id="25" name="Rectangle 24"/>
          <p:cNvSpPr/>
          <p:nvPr/>
        </p:nvSpPr>
        <p:spPr>
          <a:xfrm>
            <a:off x="822960" y="3227832"/>
            <a:ext cx="1280160" cy="256032"/>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246120"/>
            <a:ext cx="1280160" cy="237744"/>
          </a:xfrm>
          <a:prstGeom prst="rect">
            <a:avLst/>
          </a:prstGeom>
          <a:noFill/>
        </p:spPr>
        <p:txBody>
          <a:bodyPr wrap="square">
            <a:spAutoFit/>
          </a:bodyPr>
          <a:lstStyle/>
          <a:p>
            <a:pPr algn="ctr"/>
            <a:r>
              <a:rPr sz="850" b="1" i="0">
                <a:solidFill>
                  <a:srgbClr val="FFFFFF"/>
                </a:solidFill>
                <a:latin typeface="Calibri"/>
              </a:rPr>
              <a:t>Get Started →</a:t>
            </a:r>
          </a:p>
        </p:txBody>
      </p:sp>
      <p:sp>
        <p:nvSpPr>
          <p:cNvPr id="27" name="Rectangle 26"/>
          <p:cNvSpPr/>
          <p:nvPr/>
        </p:nvSpPr>
        <p:spPr>
          <a:xfrm>
            <a:off x="2240280" y="3227832"/>
            <a:ext cx="1280160" cy="256032"/>
          </a:xfrm>
          <a:prstGeom prst="rect">
            <a:avLst/>
          </a:prstGeom>
          <a:solidFill>
            <a:srgbClr val="44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40280" y="3246120"/>
            <a:ext cx="1280160" cy="237744"/>
          </a:xfrm>
          <a:prstGeom prst="rect">
            <a:avLst/>
          </a:prstGeom>
          <a:noFill/>
        </p:spPr>
        <p:txBody>
          <a:bodyPr wrap="square">
            <a:spAutoFit/>
          </a:bodyPr>
          <a:lstStyle/>
          <a:p>
            <a:pPr algn="ctr"/>
            <a:r>
              <a:rPr sz="850" b="1" i="0">
                <a:solidFill>
                  <a:srgbClr val="C98BA6"/>
                </a:solidFill>
                <a:latin typeface="Calibri"/>
              </a:rPr>
              <a:t>View Courses</a:t>
            </a:r>
          </a:p>
        </p:txBody>
      </p:sp>
      <p:sp>
        <p:nvSpPr>
          <p:cNvPr id="29" name="Rectangle 28"/>
          <p:cNvSpPr/>
          <p:nvPr/>
        </p:nvSpPr>
        <p:spPr>
          <a:xfrm>
            <a:off x="822960" y="3703320"/>
            <a:ext cx="3200400" cy="1005840"/>
          </a:xfrm>
          <a:prstGeom prst="rect">
            <a:avLst/>
          </a:prstGeom>
          <a:solidFill>
            <a:srgbClr val="2A1244"/>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3794760"/>
            <a:ext cx="2286000" cy="347472"/>
          </a:xfrm>
          <a:prstGeom prst="rect">
            <a:avLst/>
          </a:prstGeom>
          <a:noFill/>
        </p:spPr>
        <p:txBody>
          <a:bodyPr wrap="square">
            <a:spAutoFit/>
          </a:bodyPr>
          <a:lstStyle/>
          <a:p>
            <a:pPr algn="l"/>
            <a:r>
              <a:rPr sz="1300" b="1" i="0">
                <a:solidFill>
                  <a:srgbClr val="C98BA6"/>
                </a:solidFill>
                <a:latin typeface="Calibri"/>
              </a:rPr>
              <a:t>CHEM 101</a:t>
            </a:r>
          </a:p>
        </p:txBody>
      </p:sp>
      <p:sp>
        <p:nvSpPr>
          <p:cNvPr id="31" name="TextBox 30"/>
          <p:cNvSpPr txBox="1"/>
          <p:nvPr/>
        </p:nvSpPr>
        <p:spPr>
          <a:xfrm>
            <a:off x="960120" y="4142232"/>
            <a:ext cx="2743200" cy="256032"/>
          </a:xfrm>
          <a:prstGeom prst="rect">
            <a:avLst/>
          </a:prstGeom>
          <a:noFill/>
        </p:spPr>
        <p:txBody>
          <a:bodyPr wrap="square">
            <a:spAutoFit/>
          </a:bodyPr>
          <a:lstStyle/>
          <a:p>
            <a:pPr algn="l"/>
            <a:r>
              <a:rPr sz="850" b="0" i="0">
                <a:solidFill>
                  <a:srgbClr val="FFFFFF"/>
                </a:solidFill>
                <a:latin typeface="Calibri"/>
              </a:rPr>
              <a:t>General Chemistry I</a:t>
            </a:r>
          </a:p>
        </p:txBody>
      </p:sp>
      <p:sp>
        <p:nvSpPr>
          <p:cNvPr id="32" name="Rectangle 31"/>
          <p:cNvSpPr/>
          <p:nvPr/>
        </p:nvSpPr>
        <p:spPr>
          <a:xfrm>
            <a:off x="4297680" y="3703320"/>
            <a:ext cx="3200400" cy="1005840"/>
          </a:xfrm>
          <a:prstGeom prst="rect">
            <a:avLst/>
          </a:prstGeom>
          <a:solidFill>
            <a:srgbClr val="2A1244"/>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34840" y="3794760"/>
            <a:ext cx="2286000" cy="347472"/>
          </a:xfrm>
          <a:prstGeom prst="rect">
            <a:avLst/>
          </a:prstGeom>
          <a:noFill/>
        </p:spPr>
        <p:txBody>
          <a:bodyPr wrap="square">
            <a:spAutoFit/>
          </a:bodyPr>
          <a:lstStyle/>
          <a:p>
            <a:pPr algn="l"/>
            <a:r>
              <a:rPr sz="1300" b="1" i="0">
                <a:solidFill>
                  <a:srgbClr val="C98BA6"/>
                </a:solidFill>
                <a:latin typeface="Calibri"/>
              </a:rPr>
              <a:t>CHEM 103</a:t>
            </a:r>
          </a:p>
        </p:txBody>
      </p:sp>
      <p:sp>
        <p:nvSpPr>
          <p:cNvPr id="34" name="TextBox 33"/>
          <p:cNvSpPr txBox="1"/>
          <p:nvPr/>
        </p:nvSpPr>
        <p:spPr>
          <a:xfrm>
            <a:off x="4434840" y="4142232"/>
            <a:ext cx="2743200" cy="256032"/>
          </a:xfrm>
          <a:prstGeom prst="rect">
            <a:avLst/>
          </a:prstGeom>
          <a:noFill/>
        </p:spPr>
        <p:txBody>
          <a:bodyPr wrap="square">
            <a:spAutoFit/>
          </a:bodyPr>
          <a:lstStyle/>
          <a:p>
            <a:pPr algn="l"/>
            <a:r>
              <a:rPr sz="850" b="0" i="0">
                <a:solidFill>
                  <a:srgbClr val="FFFFFF"/>
                </a:solidFill>
                <a:latin typeface="Calibri"/>
              </a:rPr>
              <a:t>General Chemistry II</a:t>
            </a:r>
          </a:p>
        </p:txBody>
      </p:sp>
      <p:sp>
        <p:nvSpPr>
          <p:cNvPr id="35" name="Rectangle 34"/>
          <p:cNvSpPr/>
          <p:nvPr/>
        </p:nvSpPr>
        <p:spPr>
          <a:xfrm>
            <a:off x="8275320" y="1691640"/>
            <a:ext cx="3657600" cy="59436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66760" y="1755648"/>
            <a:ext cx="3474720" cy="530352"/>
          </a:xfrm>
          <a:prstGeom prst="rect">
            <a:avLst/>
          </a:prstGeom>
          <a:noFill/>
        </p:spPr>
        <p:txBody>
          <a:bodyPr wrap="square">
            <a:spAutoFit/>
          </a:bodyPr>
          <a:lstStyle/>
          <a:p>
            <a:pPr algn="l"/>
            <a:r>
              <a:rPr sz="900" b="0" i="0">
                <a:solidFill>
                  <a:srgbClr val="3E1D68"/>
                </a:solidFill>
                <a:latin typeface="Calibri"/>
              </a:rPr>
              <a:t>🔷 Top Navigation Bar
Quick access to all sections</a:t>
            </a:r>
          </a:p>
        </p:txBody>
      </p:sp>
      <p:sp>
        <p:nvSpPr>
          <p:cNvPr id="37" name="Rectangle 36"/>
          <p:cNvSpPr/>
          <p:nvPr/>
        </p:nvSpPr>
        <p:spPr>
          <a:xfrm>
            <a:off x="8275320" y="2423160"/>
            <a:ext cx="3657600" cy="59436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66760" y="2487168"/>
            <a:ext cx="3474720" cy="530352"/>
          </a:xfrm>
          <a:prstGeom prst="rect">
            <a:avLst/>
          </a:prstGeom>
          <a:noFill/>
        </p:spPr>
        <p:txBody>
          <a:bodyPr wrap="square">
            <a:spAutoFit/>
          </a:bodyPr>
          <a:lstStyle/>
          <a:p>
            <a:pPr algn="l"/>
            <a:r>
              <a:rPr sz="900" b="0" i="0">
                <a:solidFill>
                  <a:srgbClr val="3E1D68"/>
                </a:solidFill>
                <a:latin typeface="Calibri"/>
              </a:rPr>
              <a:t>🔷 Hero Section
Welcome banner &amp; CTA buttons</a:t>
            </a:r>
          </a:p>
        </p:txBody>
      </p:sp>
      <p:sp>
        <p:nvSpPr>
          <p:cNvPr id="39" name="Rectangle 38"/>
          <p:cNvSpPr/>
          <p:nvPr/>
        </p:nvSpPr>
        <p:spPr>
          <a:xfrm>
            <a:off x="8275320" y="3200400"/>
            <a:ext cx="3657600" cy="59436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66760" y="3264408"/>
            <a:ext cx="3474720" cy="530352"/>
          </a:xfrm>
          <a:prstGeom prst="rect">
            <a:avLst/>
          </a:prstGeom>
          <a:noFill/>
        </p:spPr>
        <p:txBody>
          <a:bodyPr wrap="square">
            <a:spAutoFit/>
          </a:bodyPr>
          <a:lstStyle/>
          <a:p>
            <a:pPr algn="l"/>
            <a:r>
              <a:rPr sz="900" b="0" i="0">
                <a:solidFill>
                  <a:srgbClr val="3E1D68"/>
                </a:solidFill>
                <a:latin typeface="Calibri"/>
              </a:rPr>
              <a:t>🔷 Course Cards
CHEM 101 &amp; CHEM 103 shortcuts</a:t>
            </a:r>
          </a:p>
        </p:txBody>
      </p:sp>
      <p:sp>
        <p:nvSpPr>
          <p:cNvPr id="41" name="Rectangle 40"/>
          <p:cNvSpPr/>
          <p:nvPr/>
        </p:nvSpPr>
        <p:spPr>
          <a:xfrm>
            <a:off x="8275320" y="3977639"/>
            <a:ext cx="3657600" cy="59436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66760" y="4041647"/>
            <a:ext cx="3474720" cy="530352"/>
          </a:xfrm>
          <a:prstGeom prst="rect">
            <a:avLst/>
          </a:prstGeom>
          <a:noFill/>
        </p:spPr>
        <p:txBody>
          <a:bodyPr wrap="square">
            <a:spAutoFit/>
          </a:bodyPr>
          <a:lstStyle/>
          <a:p>
            <a:pPr algn="l"/>
            <a:r>
              <a:rPr sz="900" b="0" i="0">
                <a:solidFill>
                  <a:srgbClr val="3E1D68"/>
                </a:solidFill>
                <a:latin typeface="Calibri"/>
              </a:rPr>
              <a:t>🔷 Login / Sign Up
Access your personal dashboard</a:t>
            </a:r>
          </a:p>
        </p:txBody>
      </p:sp>
      <p:sp>
        <p:nvSpPr>
          <p:cNvPr id="43" name="Rectangle 42"/>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
            <a:ext cx="2286000" cy="457200"/>
          </a:xfrm>
          <a:prstGeom prst="rect">
            <a:avLst/>
          </a:prstGeom>
          <a:noFill/>
        </p:spPr>
        <p:txBody>
          <a:bodyPr wrap="square">
            <a:spAutoFit/>
          </a:bodyPr>
          <a:lstStyle/>
          <a:p>
            <a:pPr algn="l"/>
            <a:r>
              <a:rPr sz="900" b="1" i="0">
                <a:solidFill>
                  <a:srgbClr val="C98BA6"/>
                </a:solidFill>
                <a:latin typeface="Calibri"/>
              </a:rPr>
              <a:t>GET STARTED</a:t>
            </a:r>
          </a:p>
        </p:txBody>
      </p:sp>
      <p:sp>
        <p:nvSpPr>
          <p:cNvPr id="7" name="TextBox 6"/>
          <p:cNvSpPr txBox="1"/>
          <p:nvPr/>
        </p:nvSpPr>
        <p:spPr>
          <a:xfrm>
            <a:off x="457200" y="475488"/>
            <a:ext cx="9144000" cy="640080"/>
          </a:xfrm>
          <a:prstGeom prst="rect">
            <a:avLst/>
          </a:prstGeom>
          <a:noFill/>
        </p:spPr>
        <p:txBody>
          <a:bodyPr wrap="square">
            <a:spAutoFit/>
          </a:bodyPr>
          <a:lstStyle/>
          <a:p>
            <a:pPr algn="l"/>
            <a:r>
              <a:rPr sz="2800" b="1" i="0">
                <a:solidFill>
                  <a:srgbClr val="FFFFFF"/>
                </a:solidFill>
                <a:latin typeface="Calibri"/>
              </a:rPr>
              <a:t>How to Create Your Account</a:t>
            </a:r>
          </a:p>
        </p:txBody>
      </p:sp>
      <p:sp>
        <p:nvSpPr>
          <p:cNvPr id="8" name="Rectangle 7"/>
          <p:cNvSpPr/>
          <p:nvPr/>
        </p:nvSpPr>
        <p:spPr>
          <a:xfrm>
            <a:off x="457200" y="1444752"/>
            <a:ext cx="11274552" cy="475488"/>
          </a:xfrm>
          <a:prstGeom prst="rect">
            <a:avLst/>
          </a:prstGeom>
          <a:solidFill>
            <a:srgbClr val="F5ECF3"/>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08760"/>
            <a:ext cx="10908792" cy="384048"/>
          </a:xfrm>
          <a:prstGeom prst="rect">
            <a:avLst/>
          </a:prstGeom>
          <a:noFill/>
        </p:spPr>
        <p:txBody>
          <a:bodyPr wrap="square">
            <a:spAutoFit/>
          </a:bodyPr>
          <a:lstStyle/>
          <a:p>
            <a:pPr algn="ctr"/>
            <a:r>
              <a:rPr sz="1000" b="0" i="0">
                <a:solidFill>
                  <a:srgbClr val="3E1D68"/>
                </a:solidFill>
                <a:latin typeface="Calibri"/>
              </a:rPr>
              <a:t>⚠️  Accounts are created by Teacher Nourhan. You will receive a welcome email with a link to set your password — no self-registration required.</a:t>
            </a:r>
          </a:p>
        </p:txBody>
      </p:sp>
      <p:sp>
        <p:nvSpPr>
          <p:cNvPr id="10" name="Rectangle 9"/>
          <p:cNvSpPr/>
          <p:nvPr/>
        </p:nvSpPr>
        <p:spPr>
          <a:xfrm>
            <a:off x="242316" y="2103120"/>
            <a:ext cx="2194560" cy="3200400"/>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6988" y="2267712"/>
            <a:ext cx="585216" cy="58521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6988" y="2286000"/>
            <a:ext cx="585216" cy="530352"/>
          </a:xfrm>
          <a:prstGeom prst="rect">
            <a:avLst/>
          </a:prstGeom>
          <a:noFill/>
        </p:spPr>
        <p:txBody>
          <a:bodyPr wrap="square">
            <a:spAutoFit/>
          </a:bodyPr>
          <a:lstStyle/>
          <a:p>
            <a:pPr algn="ctr"/>
            <a:r>
              <a:rPr sz="1600" b="1" i="0">
                <a:solidFill>
                  <a:srgbClr val="FFFFFF"/>
                </a:solidFill>
                <a:latin typeface="Calibri"/>
              </a:rPr>
              <a:t>1</a:t>
            </a:r>
          </a:p>
        </p:txBody>
      </p:sp>
      <p:sp>
        <p:nvSpPr>
          <p:cNvPr id="13" name="TextBox 12"/>
          <p:cNvSpPr txBox="1"/>
          <p:nvPr/>
        </p:nvSpPr>
        <p:spPr>
          <a:xfrm>
            <a:off x="333756" y="3063240"/>
            <a:ext cx="2011680" cy="457200"/>
          </a:xfrm>
          <a:prstGeom prst="rect">
            <a:avLst/>
          </a:prstGeom>
          <a:noFill/>
        </p:spPr>
        <p:txBody>
          <a:bodyPr wrap="square">
            <a:spAutoFit/>
          </a:bodyPr>
          <a:lstStyle/>
          <a:p>
            <a:pPr algn="ctr"/>
            <a:r>
              <a:rPr sz="1000" b="1" i="0">
                <a:solidFill>
                  <a:srgbClr val="C98BA6"/>
                </a:solidFill>
                <a:latin typeface="Calibri"/>
              </a:rPr>
              <a:t>Receive Invitation</a:t>
            </a:r>
          </a:p>
        </p:txBody>
      </p:sp>
      <p:sp>
        <p:nvSpPr>
          <p:cNvPr id="14" name="TextBox 13"/>
          <p:cNvSpPr txBox="1"/>
          <p:nvPr/>
        </p:nvSpPr>
        <p:spPr>
          <a:xfrm>
            <a:off x="379476" y="3566160"/>
            <a:ext cx="1920240" cy="1508760"/>
          </a:xfrm>
          <a:prstGeom prst="rect">
            <a:avLst/>
          </a:prstGeom>
          <a:noFill/>
        </p:spPr>
        <p:txBody>
          <a:bodyPr wrap="square">
            <a:spAutoFit/>
          </a:bodyPr>
          <a:lstStyle/>
          <a:p>
            <a:pPr algn="ctr"/>
            <a:r>
              <a:rPr sz="850" b="0" i="0">
                <a:solidFill>
                  <a:srgbClr val="FFFFFF"/>
                </a:solidFill>
                <a:latin typeface="Calibri"/>
              </a:rPr>
              <a:t>Check your email for a welcome message from ChemBridge with your account link.</a:t>
            </a:r>
          </a:p>
        </p:txBody>
      </p:sp>
      <p:sp>
        <p:nvSpPr>
          <p:cNvPr id="15" name="TextBox 14"/>
          <p:cNvSpPr txBox="1"/>
          <p:nvPr/>
        </p:nvSpPr>
        <p:spPr>
          <a:xfrm>
            <a:off x="2391156" y="3493008"/>
            <a:ext cx="274320" cy="329184"/>
          </a:xfrm>
          <a:prstGeom prst="rect">
            <a:avLst/>
          </a:prstGeom>
          <a:noFill/>
        </p:spPr>
        <p:txBody>
          <a:bodyPr wrap="square">
            <a:spAutoFit/>
          </a:bodyPr>
          <a:lstStyle/>
          <a:p>
            <a:pPr algn="ctr"/>
            <a:r>
              <a:rPr sz="1800" b="0" i="0">
                <a:solidFill>
                  <a:srgbClr val="C98BA6"/>
                </a:solidFill>
                <a:latin typeface="Calibri"/>
              </a:rPr>
              <a:t>→</a:t>
            </a:r>
          </a:p>
        </p:txBody>
      </p:sp>
      <p:sp>
        <p:nvSpPr>
          <p:cNvPr id="16" name="Rectangle 15"/>
          <p:cNvSpPr/>
          <p:nvPr/>
        </p:nvSpPr>
        <p:spPr>
          <a:xfrm>
            <a:off x="2619756" y="2103120"/>
            <a:ext cx="2194560" cy="3200400"/>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424428" y="2267712"/>
            <a:ext cx="585216" cy="58521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4428" y="2286000"/>
            <a:ext cx="585216" cy="530352"/>
          </a:xfrm>
          <a:prstGeom prst="rect">
            <a:avLst/>
          </a:prstGeom>
          <a:noFill/>
        </p:spPr>
        <p:txBody>
          <a:bodyPr wrap="square">
            <a:spAutoFit/>
          </a:bodyPr>
          <a:lstStyle/>
          <a:p>
            <a:pPr algn="ctr"/>
            <a:r>
              <a:rPr sz="1600" b="1" i="0">
                <a:solidFill>
                  <a:srgbClr val="FFFFFF"/>
                </a:solidFill>
                <a:latin typeface="Calibri"/>
              </a:rPr>
              <a:t>2</a:t>
            </a:r>
          </a:p>
        </p:txBody>
      </p:sp>
      <p:sp>
        <p:nvSpPr>
          <p:cNvPr id="19" name="TextBox 18"/>
          <p:cNvSpPr txBox="1"/>
          <p:nvPr/>
        </p:nvSpPr>
        <p:spPr>
          <a:xfrm>
            <a:off x="2711196" y="3063240"/>
            <a:ext cx="2011680" cy="457200"/>
          </a:xfrm>
          <a:prstGeom prst="rect">
            <a:avLst/>
          </a:prstGeom>
          <a:noFill/>
        </p:spPr>
        <p:txBody>
          <a:bodyPr wrap="square">
            <a:spAutoFit/>
          </a:bodyPr>
          <a:lstStyle/>
          <a:p>
            <a:pPr algn="ctr"/>
            <a:r>
              <a:rPr sz="1000" b="1" i="0">
                <a:solidFill>
                  <a:srgbClr val="C98BA6"/>
                </a:solidFill>
                <a:latin typeface="Calibri"/>
              </a:rPr>
              <a:t>Open the Link</a:t>
            </a:r>
          </a:p>
        </p:txBody>
      </p:sp>
      <p:sp>
        <p:nvSpPr>
          <p:cNvPr id="20" name="TextBox 19"/>
          <p:cNvSpPr txBox="1"/>
          <p:nvPr/>
        </p:nvSpPr>
        <p:spPr>
          <a:xfrm>
            <a:off x="2756916" y="3566160"/>
            <a:ext cx="1920240" cy="1508760"/>
          </a:xfrm>
          <a:prstGeom prst="rect">
            <a:avLst/>
          </a:prstGeom>
          <a:noFill/>
        </p:spPr>
        <p:txBody>
          <a:bodyPr wrap="square">
            <a:spAutoFit/>
          </a:bodyPr>
          <a:lstStyle/>
          <a:p>
            <a:pPr algn="ctr"/>
            <a:r>
              <a:rPr sz="850" b="0" i="0">
                <a:solidFill>
                  <a:srgbClr val="FFFFFF"/>
                </a:solidFill>
                <a:latin typeface="Calibri"/>
              </a:rPr>
              <a:t>Click the 'Set my password' button in the email or copy the link into your browser.</a:t>
            </a:r>
          </a:p>
        </p:txBody>
      </p:sp>
      <p:sp>
        <p:nvSpPr>
          <p:cNvPr id="21" name="TextBox 20"/>
          <p:cNvSpPr txBox="1"/>
          <p:nvPr/>
        </p:nvSpPr>
        <p:spPr>
          <a:xfrm>
            <a:off x="4768596" y="3493008"/>
            <a:ext cx="274320" cy="329184"/>
          </a:xfrm>
          <a:prstGeom prst="rect">
            <a:avLst/>
          </a:prstGeom>
          <a:noFill/>
        </p:spPr>
        <p:txBody>
          <a:bodyPr wrap="square">
            <a:spAutoFit/>
          </a:bodyPr>
          <a:lstStyle/>
          <a:p>
            <a:pPr algn="ctr"/>
            <a:r>
              <a:rPr sz="1800" b="0" i="0">
                <a:solidFill>
                  <a:srgbClr val="C98BA6"/>
                </a:solidFill>
                <a:latin typeface="Calibri"/>
              </a:rPr>
              <a:t>→</a:t>
            </a:r>
          </a:p>
        </p:txBody>
      </p:sp>
      <p:sp>
        <p:nvSpPr>
          <p:cNvPr id="22" name="Rectangle 21"/>
          <p:cNvSpPr/>
          <p:nvPr/>
        </p:nvSpPr>
        <p:spPr>
          <a:xfrm>
            <a:off x="4997196" y="2103120"/>
            <a:ext cx="2194560" cy="3200400"/>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01868" y="2267712"/>
            <a:ext cx="585216" cy="58521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01868" y="2286000"/>
            <a:ext cx="585216" cy="530352"/>
          </a:xfrm>
          <a:prstGeom prst="rect">
            <a:avLst/>
          </a:prstGeom>
          <a:noFill/>
        </p:spPr>
        <p:txBody>
          <a:bodyPr wrap="square">
            <a:spAutoFit/>
          </a:bodyPr>
          <a:lstStyle/>
          <a:p>
            <a:pPr algn="ctr"/>
            <a:r>
              <a:rPr sz="1600" b="1" i="0">
                <a:solidFill>
                  <a:srgbClr val="FFFFFF"/>
                </a:solidFill>
                <a:latin typeface="Calibri"/>
              </a:rPr>
              <a:t>3</a:t>
            </a:r>
          </a:p>
        </p:txBody>
      </p:sp>
      <p:sp>
        <p:nvSpPr>
          <p:cNvPr id="25" name="TextBox 24"/>
          <p:cNvSpPr txBox="1"/>
          <p:nvPr/>
        </p:nvSpPr>
        <p:spPr>
          <a:xfrm>
            <a:off x="5088636" y="3063240"/>
            <a:ext cx="2011680" cy="457200"/>
          </a:xfrm>
          <a:prstGeom prst="rect">
            <a:avLst/>
          </a:prstGeom>
          <a:noFill/>
        </p:spPr>
        <p:txBody>
          <a:bodyPr wrap="square">
            <a:spAutoFit/>
          </a:bodyPr>
          <a:lstStyle/>
          <a:p>
            <a:pPr algn="ctr"/>
            <a:r>
              <a:rPr sz="1000" b="1" i="0">
                <a:solidFill>
                  <a:srgbClr val="C98BA6"/>
                </a:solidFill>
                <a:latin typeface="Calibri"/>
              </a:rPr>
              <a:t>Set Your Password</a:t>
            </a:r>
          </a:p>
        </p:txBody>
      </p:sp>
      <p:sp>
        <p:nvSpPr>
          <p:cNvPr id="26" name="TextBox 25"/>
          <p:cNvSpPr txBox="1"/>
          <p:nvPr/>
        </p:nvSpPr>
        <p:spPr>
          <a:xfrm>
            <a:off x="5134356" y="3566160"/>
            <a:ext cx="1920240" cy="1508760"/>
          </a:xfrm>
          <a:prstGeom prst="rect">
            <a:avLst/>
          </a:prstGeom>
          <a:noFill/>
        </p:spPr>
        <p:txBody>
          <a:bodyPr wrap="square">
            <a:spAutoFit/>
          </a:bodyPr>
          <a:lstStyle/>
          <a:p>
            <a:pPr algn="ctr"/>
            <a:r>
              <a:rPr sz="850" b="0" i="0">
                <a:solidFill>
                  <a:srgbClr val="FFFFFF"/>
                </a:solidFill>
                <a:latin typeface="Calibri"/>
              </a:rPr>
              <a:t>Choose a strong password. Enter it twice to confirm, then click Save.</a:t>
            </a:r>
          </a:p>
        </p:txBody>
      </p:sp>
      <p:sp>
        <p:nvSpPr>
          <p:cNvPr id="27" name="TextBox 26"/>
          <p:cNvSpPr txBox="1"/>
          <p:nvPr/>
        </p:nvSpPr>
        <p:spPr>
          <a:xfrm>
            <a:off x="7146036" y="3493008"/>
            <a:ext cx="274320" cy="329184"/>
          </a:xfrm>
          <a:prstGeom prst="rect">
            <a:avLst/>
          </a:prstGeom>
          <a:noFill/>
        </p:spPr>
        <p:txBody>
          <a:bodyPr wrap="square">
            <a:spAutoFit/>
          </a:bodyPr>
          <a:lstStyle/>
          <a:p>
            <a:pPr algn="ctr"/>
            <a:r>
              <a:rPr sz="1800" b="0" i="0">
                <a:solidFill>
                  <a:srgbClr val="C98BA6"/>
                </a:solidFill>
                <a:latin typeface="Calibri"/>
              </a:rPr>
              <a:t>→</a:t>
            </a:r>
          </a:p>
        </p:txBody>
      </p:sp>
      <p:sp>
        <p:nvSpPr>
          <p:cNvPr id="28" name="Rectangle 27"/>
          <p:cNvSpPr/>
          <p:nvPr/>
        </p:nvSpPr>
        <p:spPr>
          <a:xfrm>
            <a:off x="7374636" y="2103120"/>
            <a:ext cx="2194560" cy="3200400"/>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179308" y="2267712"/>
            <a:ext cx="585216" cy="58521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9308" y="2286000"/>
            <a:ext cx="585216" cy="530352"/>
          </a:xfrm>
          <a:prstGeom prst="rect">
            <a:avLst/>
          </a:prstGeom>
          <a:noFill/>
        </p:spPr>
        <p:txBody>
          <a:bodyPr wrap="square">
            <a:spAutoFit/>
          </a:bodyPr>
          <a:lstStyle/>
          <a:p>
            <a:pPr algn="ctr"/>
            <a:r>
              <a:rPr sz="1600" b="1" i="0">
                <a:solidFill>
                  <a:srgbClr val="FFFFFF"/>
                </a:solidFill>
                <a:latin typeface="Calibri"/>
              </a:rPr>
              <a:t>4</a:t>
            </a:r>
          </a:p>
        </p:txBody>
      </p:sp>
      <p:sp>
        <p:nvSpPr>
          <p:cNvPr id="31" name="TextBox 30"/>
          <p:cNvSpPr txBox="1"/>
          <p:nvPr/>
        </p:nvSpPr>
        <p:spPr>
          <a:xfrm>
            <a:off x="7466076" y="3063240"/>
            <a:ext cx="2011680" cy="457200"/>
          </a:xfrm>
          <a:prstGeom prst="rect">
            <a:avLst/>
          </a:prstGeom>
          <a:noFill/>
        </p:spPr>
        <p:txBody>
          <a:bodyPr wrap="square">
            <a:spAutoFit/>
          </a:bodyPr>
          <a:lstStyle/>
          <a:p>
            <a:pPr algn="ctr"/>
            <a:r>
              <a:rPr sz="1000" b="1" i="0">
                <a:solidFill>
                  <a:srgbClr val="C98BA6"/>
                </a:solidFill>
                <a:latin typeface="Calibri"/>
              </a:rPr>
              <a:t>Verify Your Account</a:t>
            </a:r>
          </a:p>
        </p:txBody>
      </p:sp>
      <p:sp>
        <p:nvSpPr>
          <p:cNvPr id="32" name="TextBox 31"/>
          <p:cNvSpPr txBox="1"/>
          <p:nvPr/>
        </p:nvSpPr>
        <p:spPr>
          <a:xfrm>
            <a:off x="7511796" y="3566160"/>
            <a:ext cx="1920240" cy="1508760"/>
          </a:xfrm>
          <a:prstGeom prst="rect">
            <a:avLst/>
          </a:prstGeom>
          <a:noFill/>
        </p:spPr>
        <p:txBody>
          <a:bodyPr wrap="square">
            <a:spAutoFit/>
          </a:bodyPr>
          <a:lstStyle/>
          <a:p>
            <a:pPr algn="ctr"/>
            <a:r>
              <a:rPr sz="850" b="0" i="0">
                <a:solidFill>
                  <a:srgbClr val="FFFFFF"/>
                </a:solidFill>
                <a:latin typeface="Calibri"/>
              </a:rPr>
              <a:t>Your account is now active. You'll be redirected to the ChemBridge login page.</a:t>
            </a:r>
          </a:p>
        </p:txBody>
      </p:sp>
      <p:sp>
        <p:nvSpPr>
          <p:cNvPr id="33" name="TextBox 32"/>
          <p:cNvSpPr txBox="1"/>
          <p:nvPr/>
        </p:nvSpPr>
        <p:spPr>
          <a:xfrm>
            <a:off x="9523476" y="3493008"/>
            <a:ext cx="274320" cy="329184"/>
          </a:xfrm>
          <a:prstGeom prst="rect">
            <a:avLst/>
          </a:prstGeom>
          <a:noFill/>
        </p:spPr>
        <p:txBody>
          <a:bodyPr wrap="square">
            <a:spAutoFit/>
          </a:bodyPr>
          <a:lstStyle/>
          <a:p>
            <a:pPr algn="ctr"/>
            <a:r>
              <a:rPr sz="1800" b="0" i="0">
                <a:solidFill>
                  <a:srgbClr val="C98BA6"/>
                </a:solidFill>
                <a:latin typeface="Calibri"/>
              </a:rPr>
              <a:t>→</a:t>
            </a:r>
          </a:p>
        </p:txBody>
      </p:sp>
      <p:sp>
        <p:nvSpPr>
          <p:cNvPr id="34" name="Rectangle 33"/>
          <p:cNvSpPr/>
          <p:nvPr/>
        </p:nvSpPr>
        <p:spPr>
          <a:xfrm>
            <a:off x="9752076" y="2103120"/>
            <a:ext cx="2194560" cy="3200400"/>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556748" y="2267712"/>
            <a:ext cx="585216" cy="58521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56748" y="2286000"/>
            <a:ext cx="585216" cy="530352"/>
          </a:xfrm>
          <a:prstGeom prst="rect">
            <a:avLst/>
          </a:prstGeom>
          <a:noFill/>
        </p:spPr>
        <p:txBody>
          <a:bodyPr wrap="square">
            <a:spAutoFit/>
          </a:bodyPr>
          <a:lstStyle/>
          <a:p>
            <a:pPr algn="ctr"/>
            <a:r>
              <a:rPr sz="1600" b="1" i="0">
                <a:solidFill>
                  <a:srgbClr val="FFFFFF"/>
                </a:solidFill>
                <a:latin typeface="Calibri"/>
              </a:rPr>
              <a:t>5</a:t>
            </a:r>
          </a:p>
        </p:txBody>
      </p:sp>
      <p:sp>
        <p:nvSpPr>
          <p:cNvPr id="37" name="TextBox 36"/>
          <p:cNvSpPr txBox="1"/>
          <p:nvPr/>
        </p:nvSpPr>
        <p:spPr>
          <a:xfrm>
            <a:off x="9843516" y="3063240"/>
            <a:ext cx="2011680" cy="457200"/>
          </a:xfrm>
          <a:prstGeom prst="rect">
            <a:avLst/>
          </a:prstGeom>
          <a:noFill/>
        </p:spPr>
        <p:txBody>
          <a:bodyPr wrap="square">
            <a:spAutoFit/>
          </a:bodyPr>
          <a:lstStyle/>
          <a:p>
            <a:pPr algn="ctr"/>
            <a:r>
              <a:rPr sz="1000" b="1" i="0">
                <a:solidFill>
                  <a:srgbClr val="C98BA6"/>
                </a:solidFill>
                <a:latin typeface="Calibri"/>
              </a:rPr>
              <a:t>Log In</a:t>
            </a:r>
          </a:p>
        </p:txBody>
      </p:sp>
      <p:sp>
        <p:nvSpPr>
          <p:cNvPr id="38" name="TextBox 37"/>
          <p:cNvSpPr txBox="1"/>
          <p:nvPr/>
        </p:nvSpPr>
        <p:spPr>
          <a:xfrm>
            <a:off x="9889236" y="3566160"/>
            <a:ext cx="1920240" cy="1508760"/>
          </a:xfrm>
          <a:prstGeom prst="rect">
            <a:avLst/>
          </a:prstGeom>
          <a:noFill/>
        </p:spPr>
        <p:txBody>
          <a:bodyPr wrap="square">
            <a:spAutoFit/>
          </a:bodyPr>
          <a:lstStyle/>
          <a:p>
            <a:pPr algn="ctr"/>
            <a:r>
              <a:rPr sz="850" b="0" i="0">
                <a:solidFill>
                  <a:srgbClr val="FFFFFF"/>
                </a:solidFill>
                <a:latin typeface="Calibri"/>
              </a:rPr>
              <a:t>Enter your email and the new password you just set to access your dashboard.</a:t>
            </a:r>
          </a:p>
        </p:txBody>
      </p:sp>
      <p:sp>
        <p:nvSpPr>
          <p:cNvPr id="39" name="Rectangle 38"/>
          <p:cNvSpPr/>
          <p:nvPr/>
        </p:nvSpPr>
        <p:spPr>
          <a:xfrm>
            <a:off x="457200" y="5486400"/>
            <a:ext cx="11274552" cy="822960"/>
          </a:xfrm>
          <a:prstGeom prst="rect">
            <a:avLst/>
          </a:prstGeom>
          <a:solidFill>
            <a:srgbClr val="F5ECF3"/>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5577840"/>
            <a:ext cx="10908792" cy="658368"/>
          </a:xfrm>
          <a:prstGeom prst="rect">
            <a:avLst/>
          </a:prstGeom>
          <a:noFill/>
        </p:spPr>
        <p:txBody>
          <a:bodyPr wrap="square">
            <a:spAutoFit/>
          </a:bodyPr>
          <a:lstStyle/>
          <a:p>
            <a:pPr algn="ctr"/>
            <a:r>
              <a:rPr sz="950" b="0" i="0">
                <a:solidFill>
                  <a:srgbClr val="3E1D68"/>
                </a:solidFill>
                <a:latin typeface="Calibri"/>
              </a:rPr>
              <a:t>📧  Email Subject: 'Welcome to ChemBridge - set your password'  |  From: ChemBridge &lt;chembridge@msnour.com&gt;  |  Button: Set my password</a:t>
            </a:r>
          </a:p>
        </p:txBody>
      </p:sp>
      <p:sp>
        <p:nvSpPr>
          <p:cNvPr id="41" name="Rectangle 40"/>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
            <a:ext cx="1828800" cy="457200"/>
          </a:xfrm>
          <a:prstGeom prst="rect">
            <a:avLst/>
          </a:prstGeom>
          <a:noFill/>
        </p:spPr>
        <p:txBody>
          <a:bodyPr wrap="square">
            <a:spAutoFit/>
          </a:bodyPr>
          <a:lstStyle/>
          <a:p>
            <a:pPr algn="l"/>
            <a:r>
              <a:rPr sz="900" b="1" i="0">
                <a:solidFill>
                  <a:srgbClr val="C98BA6"/>
                </a:solidFill>
                <a:latin typeface="Calibri"/>
              </a:rPr>
              <a:t>ACCESS</a:t>
            </a:r>
          </a:p>
        </p:txBody>
      </p:sp>
      <p:sp>
        <p:nvSpPr>
          <p:cNvPr id="7" name="TextBox 6"/>
          <p:cNvSpPr txBox="1"/>
          <p:nvPr/>
        </p:nvSpPr>
        <p:spPr>
          <a:xfrm>
            <a:off x="457200" y="475488"/>
            <a:ext cx="9144000" cy="640080"/>
          </a:xfrm>
          <a:prstGeom prst="rect">
            <a:avLst/>
          </a:prstGeom>
          <a:noFill/>
        </p:spPr>
        <p:txBody>
          <a:bodyPr wrap="square">
            <a:spAutoFit/>
          </a:bodyPr>
          <a:lstStyle/>
          <a:p>
            <a:pPr algn="l"/>
            <a:r>
              <a:rPr sz="2800" b="1" i="0">
                <a:solidFill>
                  <a:srgbClr val="FFFFFF"/>
                </a:solidFill>
                <a:latin typeface="Calibri"/>
              </a:rPr>
              <a:t>Logging In to ChemBridge</a:t>
            </a:r>
          </a:p>
        </p:txBody>
      </p:sp>
      <p:sp>
        <p:nvSpPr>
          <p:cNvPr id="8" name="Rectangle 7"/>
          <p:cNvSpPr/>
          <p:nvPr/>
        </p:nvSpPr>
        <p:spPr>
          <a:xfrm>
            <a:off x="731520" y="1508760"/>
            <a:ext cx="4754880" cy="4389120"/>
          </a:xfrm>
          <a:prstGeom prst="rect">
            <a:avLst/>
          </a:prstGeom>
          <a:solidFill>
            <a:srgbClr val="3E1D68"/>
          </a:solid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724912" y="1764792"/>
            <a:ext cx="768096" cy="76809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24912" y="1783080"/>
            <a:ext cx="768096" cy="731520"/>
          </a:xfrm>
          <a:prstGeom prst="rect">
            <a:avLst/>
          </a:prstGeom>
          <a:noFill/>
        </p:spPr>
        <p:txBody>
          <a:bodyPr wrap="square">
            <a:spAutoFit/>
          </a:bodyPr>
          <a:lstStyle/>
          <a:p>
            <a:pPr algn="ctr"/>
            <a:r>
              <a:rPr sz="1800" b="1" i="0">
                <a:solidFill>
                  <a:srgbClr val="FFFFFF"/>
                </a:solidFill>
                <a:latin typeface="Calibri"/>
              </a:rPr>
              <a:t>CB</a:t>
            </a:r>
          </a:p>
        </p:txBody>
      </p:sp>
      <p:sp>
        <p:nvSpPr>
          <p:cNvPr id="11" name="TextBox 10"/>
          <p:cNvSpPr txBox="1"/>
          <p:nvPr/>
        </p:nvSpPr>
        <p:spPr>
          <a:xfrm>
            <a:off x="1097280" y="2743200"/>
            <a:ext cx="4023360" cy="384048"/>
          </a:xfrm>
          <a:prstGeom prst="rect">
            <a:avLst/>
          </a:prstGeom>
          <a:noFill/>
        </p:spPr>
        <p:txBody>
          <a:bodyPr wrap="square">
            <a:spAutoFit/>
          </a:bodyPr>
          <a:lstStyle/>
          <a:p>
            <a:pPr algn="ctr"/>
            <a:r>
              <a:rPr sz="1300" b="1" i="0">
                <a:solidFill>
                  <a:srgbClr val="FFFFFF"/>
                </a:solidFill>
                <a:latin typeface="Calibri"/>
              </a:rPr>
              <a:t>Sign in to ChemBridge</a:t>
            </a:r>
          </a:p>
        </p:txBody>
      </p:sp>
      <p:sp>
        <p:nvSpPr>
          <p:cNvPr id="12" name="TextBox 11"/>
          <p:cNvSpPr txBox="1"/>
          <p:nvPr/>
        </p:nvSpPr>
        <p:spPr>
          <a:xfrm>
            <a:off x="1097280" y="3291840"/>
            <a:ext cx="4023360" cy="274320"/>
          </a:xfrm>
          <a:prstGeom prst="rect">
            <a:avLst/>
          </a:prstGeom>
          <a:noFill/>
        </p:spPr>
        <p:txBody>
          <a:bodyPr wrap="square">
            <a:spAutoFit/>
          </a:bodyPr>
          <a:lstStyle/>
          <a:p>
            <a:pPr algn="l"/>
            <a:r>
              <a:rPr sz="900" b="0" i="0">
                <a:solidFill>
                  <a:srgbClr val="C98BA6"/>
                </a:solidFill>
                <a:latin typeface="Calibri"/>
              </a:rPr>
              <a:t>Email Address</a:t>
            </a:r>
          </a:p>
        </p:txBody>
      </p:sp>
      <p:sp>
        <p:nvSpPr>
          <p:cNvPr id="13" name="Rectangle 12"/>
          <p:cNvSpPr/>
          <p:nvPr/>
        </p:nvSpPr>
        <p:spPr>
          <a:xfrm>
            <a:off x="1097280" y="3593591"/>
            <a:ext cx="4023360" cy="347472"/>
          </a:xfrm>
          <a:prstGeom prst="rect">
            <a:avLst/>
          </a:prstGeom>
          <a:solidFill>
            <a:srgbClr val="553080"/>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630168"/>
            <a:ext cx="3840480" cy="274320"/>
          </a:xfrm>
          <a:prstGeom prst="rect">
            <a:avLst/>
          </a:prstGeom>
          <a:noFill/>
        </p:spPr>
        <p:txBody>
          <a:bodyPr wrap="square">
            <a:spAutoFit/>
          </a:bodyPr>
          <a:lstStyle/>
          <a:p>
            <a:pPr algn="l"/>
            <a:r>
              <a:rPr sz="900" b="0" i="0">
                <a:solidFill>
                  <a:srgbClr val="AAAABB"/>
                </a:solidFill>
                <a:latin typeface="Calibri"/>
              </a:rPr>
              <a:t>your.email@qu.edu.qa</a:t>
            </a:r>
          </a:p>
        </p:txBody>
      </p:sp>
      <p:sp>
        <p:nvSpPr>
          <p:cNvPr id="15" name="TextBox 14"/>
          <p:cNvSpPr txBox="1"/>
          <p:nvPr/>
        </p:nvSpPr>
        <p:spPr>
          <a:xfrm>
            <a:off x="1097280" y="4087368"/>
            <a:ext cx="4023360" cy="274320"/>
          </a:xfrm>
          <a:prstGeom prst="rect">
            <a:avLst/>
          </a:prstGeom>
          <a:noFill/>
        </p:spPr>
        <p:txBody>
          <a:bodyPr wrap="square">
            <a:spAutoFit/>
          </a:bodyPr>
          <a:lstStyle/>
          <a:p>
            <a:pPr algn="l"/>
            <a:r>
              <a:rPr sz="900" b="0" i="0">
                <a:solidFill>
                  <a:srgbClr val="C98BA6"/>
                </a:solidFill>
                <a:latin typeface="Calibri"/>
              </a:rPr>
              <a:t>Password</a:t>
            </a:r>
          </a:p>
        </p:txBody>
      </p:sp>
      <p:sp>
        <p:nvSpPr>
          <p:cNvPr id="16" name="Rectangle 15"/>
          <p:cNvSpPr/>
          <p:nvPr/>
        </p:nvSpPr>
        <p:spPr>
          <a:xfrm>
            <a:off x="1097280" y="4389120"/>
            <a:ext cx="4023360" cy="347472"/>
          </a:xfrm>
          <a:prstGeom prst="rect">
            <a:avLst/>
          </a:prstGeom>
          <a:solidFill>
            <a:srgbClr val="553080"/>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425696"/>
            <a:ext cx="3840480" cy="274320"/>
          </a:xfrm>
          <a:prstGeom prst="rect">
            <a:avLst/>
          </a:prstGeom>
          <a:noFill/>
        </p:spPr>
        <p:txBody>
          <a:bodyPr wrap="square">
            <a:spAutoFit/>
          </a:bodyPr>
          <a:lstStyle/>
          <a:p>
            <a:pPr algn="l"/>
            <a:r>
              <a:rPr sz="900" b="0" i="0">
                <a:solidFill>
                  <a:srgbClr val="FFFFFF"/>
                </a:solidFill>
                <a:latin typeface="Calibri"/>
              </a:rPr>
              <a:t>••••••••••</a:t>
            </a:r>
          </a:p>
        </p:txBody>
      </p:sp>
      <p:sp>
        <p:nvSpPr>
          <p:cNvPr id="18" name="Rectangle 17"/>
          <p:cNvSpPr/>
          <p:nvPr/>
        </p:nvSpPr>
        <p:spPr>
          <a:xfrm>
            <a:off x="1097280" y="4910328"/>
            <a:ext cx="4023360" cy="402336"/>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956048"/>
            <a:ext cx="4023360" cy="347472"/>
          </a:xfrm>
          <a:prstGeom prst="rect">
            <a:avLst/>
          </a:prstGeom>
          <a:noFill/>
        </p:spPr>
        <p:txBody>
          <a:bodyPr wrap="square">
            <a:spAutoFit/>
          </a:bodyPr>
          <a:lstStyle/>
          <a:p>
            <a:pPr algn="ctr"/>
            <a:r>
              <a:rPr sz="1100" b="1" i="0">
                <a:solidFill>
                  <a:srgbClr val="FFFFFF"/>
                </a:solidFill>
                <a:latin typeface="Calibri"/>
              </a:rPr>
              <a:t>Sign In  →</a:t>
            </a:r>
          </a:p>
        </p:txBody>
      </p:sp>
      <p:sp>
        <p:nvSpPr>
          <p:cNvPr id="20" name="TextBox 19"/>
          <p:cNvSpPr txBox="1"/>
          <p:nvPr/>
        </p:nvSpPr>
        <p:spPr>
          <a:xfrm>
            <a:off x="5943600" y="1554480"/>
            <a:ext cx="5486400" cy="457200"/>
          </a:xfrm>
          <a:prstGeom prst="rect">
            <a:avLst/>
          </a:prstGeom>
          <a:noFill/>
        </p:spPr>
        <p:txBody>
          <a:bodyPr wrap="square">
            <a:spAutoFit/>
          </a:bodyPr>
          <a:lstStyle/>
          <a:p>
            <a:pPr algn="l"/>
            <a:r>
              <a:rPr sz="1800" b="1" i="0">
                <a:solidFill>
                  <a:srgbClr val="3E1D68"/>
                </a:solidFill>
                <a:latin typeface="Calibri"/>
              </a:rPr>
              <a:t>Login Tips</a:t>
            </a:r>
          </a:p>
        </p:txBody>
      </p:sp>
      <p:sp>
        <p:nvSpPr>
          <p:cNvPr id="21" name="Rectangle 20"/>
          <p:cNvSpPr/>
          <p:nvPr/>
        </p:nvSpPr>
        <p:spPr>
          <a:xfrm>
            <a:off x="5943600" y="1993392"/>
            <a:ext cx="54864" cy="1828800"/>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80176" y="2194560"/>
            <a:ext cx="329184" cy="32918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0176" y="2212848"/>
            <a:ext cx="329184" cy="329184"/>
          </a:xfrm>
          <a:prstGeom prst="rect">
            <a:avLst/>
          </a:prstGeom>
          <a:noFill/>
        </p:spPr>
        <p:txBody>
          <a:bodyPr wrap="square">
            <a:spAutoFit/>
          </a:bodyPr>
          <a:lstStyle/>
          <a:p>
            <a:pPr algn="ctr"/>
            <a:r>
              <a:rPr sz="1200" b="0" i="0">
                <a:solidFill>
                  <a:srgbClr val="FFFFFF"/>
                </a:solidFill>
                <a:latin typeface="Calibri"/>
              </a:rPr>
              <a:t>📧</a:t>
            </a:r>
          </a:p>
        </p:txBody>
      </p:sp>
      <p:sp>
        <p:nvSpPr>
          <p:cNvPr id="24" name="TextBox 23"/>
          <p:cNvSpPr txBox="1"/>
          <p:nvPr/>
        </p:nvSpPr>
        <p:spPr>
          <a:xfrm>
            <a:off x="6419088" y="2231136"/>
            <a:ext cx="5029200" cy="347472"/>
          </a:xfrm>
          <a:prstGeom prst="rect">
            <a:avLst/>
          </a:prstGeom>
          <a:noFill/>
        </p:spPr>
        <p:txBody>
          <a:bodyPr wrap="square">
            <a:spAutoFit/>
          </a:bodyPr>
          <a:lstStyle/>
          <a:p>
            <a:pPr algn="l"/>
            <a:r>
              <a:rPr sz="1000" b="0" i="0">
                <a:solidFill>
                  <a:srgbClr val="333344"/>
                </a:solidFill>
                <a:latin typeface="Calibri"/>
              </a:rPr>
              <a:t>Use the email where you received your invitation</a:t>
            </a:r>
          </a:p>
        </p:txBody>
      </p:sp>
      <p:sp>
        <p:nvSpPr>
          <p:cNvPr id="25" name="Oval 24"/>
          <p:cNvSpPr/>
          <p:nvPr/>
        </p:nvSpPr>
        <p:spPr>
          <a:xfrm>
            <a:off x="5980176" y="2788920"/>
            <a:ext cx="329184" cy="32918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6" y="2807208"/>
            <a:ext cx="329184" cy="329184"/>
          </a:xfrm>
          <a:prstGeom prst="rect">
            <a:avLst/>
          </a:prstGeom>
          <a:noFill/>
        </p:spPr>
        <p:txBody>
          <a:bodyPr wrap="square">
            <a:spAutoFit/>
          </a:bodyPr>
          <a:lstStyle/>
          <a:p>
            <a:pPr algn="ctr"/>
            <a:r>
              <a:rPr sz="1200" b="0" i="0">
                <a:solidFill>
                  <a:srgbClr val="FFFFFF"/>
                </a:solidFill>
                <a:latin typeface="Calibri"/>
              </a:rPr>
              <a:t>🔑</a:t>
            </a:r>
          </a:p>
        </p:txBody>
      </p:sp>
      <p:sp>
        <p:nvSpPr>
          <p:cNvPr id="27" name="TextBox 26"/>
          <p:cNvSpPr txBox="1"/>
          <p:nvPr/>
        </p:nvSpPr>
        <p:spPr>
          <a:xfrm>
            <a:off x="6419088" y="2825496"/>
            <a:ext cx="5029200" cy="347472"/>
          </a:xfrm>
          <a:prstGeom prst="rect">
            <a:avLst/>
          </a:prstGeom>
          <a:noFill/>
        </p:spPr>
        <p:txBody>
          <a:bodyPr wrap="square">
            <a:spAutoFit/>
          </a:bodyPr>
          <a:lstStyle/>
          <a:p>
            <a:pPr algn="l"/>
            <a:r>
              <a:rPr sz="1000" b="0" i="0">
                <a:solidFill>
                  <a:srgbClr val="333344"/>
                </a:solidFill>
                <a:latin typeface="Calibri"/>
              </a:rPr>
              <a:t>Enter the password you set via the invitation link</a:t>
            </a:r>
          </a:p>
        </p:txBody>
      </p:sp>
      <p:sp>
        <p:nvSpPr>
          <p:cNvPr id="28" name="Oval 27"/>
          <p:cNvSpPr/>
          <p:nvPr/>
        </p:nvSpPr>
        <p:spPr>
          <a:xfrm>
            <a:off x="5980176" y="3383280"/>
            <a:ext cx="329184" cy="32918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0176" y="3401568"/>
            <a:ext cx="329184" cy="329184"/>
          </a:xfrm>
          <a:prstGeom prst="rect">
            <a:avLst/>
          </a:prstGeom>
          <a:noFill/>
        </p:spPr>
        <p:txBody>
          <a:bodyPr wrap="square">
            <a:spAutoFit/>
          </a:bodyPr>
          <a:lstStyle/>
          <a:p>
            <a:pPr algn="ctr"/>
            <a:r>
              <a:rPr sz="1200" b="0" i="0">
                <a:solidFill>
                  <a:srgbClr val="FFFFFF"/>
                </a:solidFill>
                <a:latin typeface="Calibri"/>
              </a:rPr>
              <a:t>🔒</a:t>
            </a:r>
          </a:p>
        </p:txBody>
      </p:sp>
      <p:sp>
        <p:nvSpPr>
          <p:cNvPr id="30" name="TextBox 29"/>
          <p:cNvSpPr txBox="1"/>
          <p:nvPr/>
        </p:nvSpPr>
        <p:spPr>
          <a:xfrm>
            <a:off x="6419088" y="3419856"/>
            <a:ext cx="5029200" cy="347472"/>
          </a:xfrm>
          <a:prstGeom prst="rect">
            <a:avLst/>
          </a:prstGeom>
          <a:noFill/>
        </p:spPr>
        <p:txBody>
          <a:bodyPr wrap="square">
            <a:spAutoFit/>
          </a:bodyPr>
          <a:lstStyle/>
          <a:p>
            <a:pPr algn="l"/>
            <a:r>
              <a:rPr sz="1000" b="0" i="0">
                <a:solidFill>
                  <a:srgbClr val="333344"/>
                </a:solidFill>
                <a:latin typeface="Calibri"/>
              </a:rPr>
              <a:t>Your session stays active — no need to log in every time</a:t>
            </a:r>
          </a:p>
        </p:txBody>
      </p:sp>
      <p:sp>
        <p:nvSpPr>
          <p:cNvPr id="31" name="Oval 30"/>
          <p:cNvSpPr/>
          <p:nvPr/>
        </p:nvSpPr>
        <p:spPr>
          <a:xfrm>
            <a:off x="5980176" y="3977640"/>
            <a:ext cx="329184" cy="32918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80176" y="3995928"/>
            <a:ext cx="329184" cy="329184"/>
          </a:xfrm>
          <a:prstGeom prst="rect">
            <a:avLst/>
          </a:prstGeom>
          <a:noFill/>
        </p:spPr>
        <p:txBody>
          <a:bodyPr wrap="square">
            <a:spAutoFit/>
          </a:bodyPr>
          <a:lstStyle/>
          <a:p>
            <a:pPr algn="ctr"/>
            <a:r>
              <a:rPr sz="1200" b="0" i="0">
                <a:solidFill>
                  <a:srgbClr val="FFFFFF"/>
                </a:solidFill>
                <a:latin typeface="Calibri"/>
              </a:rPr>
              <a:t>❓</a:t>
            </a:r>
          </a:p>
        </p:txBody>
      </p:sp>
      <p:sp>
        <p:nvSpPr>
          <p:cNvPr id="33" name="TextBox 32"/>
          <p:cNvSpPr txBox="1"/>
          <p:nvPr/>
        </p:nvSpPr>
        <p:spPr>
          <a:xfrm>
            <a:off x="6419088" y="4014216"/>
            <a:ext cx="5029200" cy="347472"/>
          </a:xfrm>
          <a:prstGeom prst="rect">
            <a:avLst/>
          </a:prstGeom>
          <a:noFill/>
        </p:spPr>
        <p:txBody>
          <a:bodyPr wrap="square">
            <a:spAutoFit/>
          </a:bodyPr>
          <a:lstStyle/>
          <a:p>
            <a:pPr algn="l"/>
            <a:r>
              <a:rPr sz="1000" b="0" i="0">
                <a:solidFill>
                  <a:srgbClr val="333344"/>
                </a:solidFill>
                <a:latin typeface="Calibri"/>
              </a:rPr>
              <a:t>Forgot password? Contact Teacher Nourhan on WhatsApp</a:t>
            </a:r>
          </a:p>
        </p:txBody>
      </p:sp>
      <p:sp>
        <p:nvSpPr>
          <p:cNvPr id="34" name="Oval 33"/>
          <p:cNvSpPr/>
          <p:nvPr/>
        </p:nvSpPr>
        <p:spPr>
          <a:xfrm>
            <a:off x="5980176" y="4572000"/>
            <a:ext cx="329184" cy="32918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80176" y="4590288"/>
            <a:ext cx="329184" cy="329184"/>
          </a:xfrm>
          <a:prstGeom prst="rect">
            <a:avLst/>
          </a:prstGeom>
          <a:noFill/>
        </p:spPr>
        <p:txBody>
          <a:bodyPr wrap="square">
            <a:spAutoFit/>
          </a:bodyPr>
          <a:lstStyle/>
          <a:p>
            <a:pPr algn="ctr"/>
            <a:r>
              <a:rPr sz="1200" b="0" i="0">
                <a:solidFill>
                  <a:srgbClr val="FFFFFF"/>
                </a:solidFill>
                <a:latin typeface="Calibri"/>
              </a:rPr>
              <a:t>📱</a:t>
            </a:r>
          </a:p>
        </p:txBody>
      </p:sp>
      <p:sp>
        <p:nvSpPr>
          <p:cNvPr id="36" name="TextBox 35"/>
          <p:cNvSpPr txBox="1"/>
          <p:nvPr/>
        </p:nvSpPr>
        <p:spPr>
          <a:xfrm>
            <a:off x="6419088" y="4608576"/>
            <a:ext cx="5029200" cy="347472"/>
          </a:xfrm>
          <a:prstGeom prst="rect">
            <a:avLst/>
          </a:prstGeom>
          <a:noFill/>
        </p:spPr>
        <p:txBody>
          <a:bodyPr wrap="square">
            <a:spAutoFit/>
          </a:bodyPr>
          <a:lstStyle/>
          <a:p>
            <a:pPr algn="l"/>
            <a:r>
              <a:rPr sz="1000" b="0" i="0">
                <a:solidFill>
                  <a:srgbClr val="333344"/>
                </a:solidFill>
                <a:latin typeface="Calibri"/>
              </a:rPr>
              <a:t>Works on mobile, tablet, and desktop browsers</a:t>
            </a:r>
          </a:p>
        </p:txBody>
      </p:sp>
      <p:sp>
        <p:nvSpPr>
          <p:cNvPr id="37" name="Oval 36"/>
          <p:cNvSpPr/>
          <p:nvPr/>
        </p:nvSpPr>
        <p:spPr>
          <a:xfrm>
            <a:off x="5980176" y="5166360"/>
            <a:ext cx="329184" cy="32918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80176" y="5184648"/>
            <a:ext cx="329184" cy="329184"/>
          </a:xfrm>
          <a:prstGeom prst="rect">
            <a:avLst/>
          </a:prstGeom>
          <a:noFill/>
        </p:spPr>
        <p:txBody>
          <a:bodyPr wrap="square">
            <a:spAutoFit/>
          </a:bodyPr>
          <a:lstStyle/>
          <a:p>
            <a:pPr algn="ctr"/>
            <a:r>
              <a:rPr sz="1200" b="0" i="0">
                <a:solidFill>
                  <a:srgbClr val="FFFFFF"/>
                </a:solidFill>
                <a:latin typeface="Calibri"/>
              </a:rPr>
              <a:t>🌐</a:t>
            </a:r>
          </a:p>
        </p:txBody>
      </p:sp>
      <p:sp>
        <p:nvSpPr>
          <p:cNvPr id="39" name="TextBox 38"/>
          <p:cNvSpPr txBox="1"/>
          <p:nvPr/>
        </p:nvSpPr>
        <p:spPr>
          <a:xfrm>
            <a:off x="6419088" y="5202936"/>
            <a:ext cx="5029200" cy="347472"/>
          </a:xfrm>
          <a:prstGeom prst="rect">
            <a:avLst/>
          </a:prstGeom>
          <a:noFill/>
        </p:spPr>
        <p:txBody>
          <a:bodyPr wrap="square">
            <a:spAutoFit/>
          </a:bodyPr>
          <a:lstStyle/>
          <a:p>
            <a:pPr algn="l"/>
            <a:r>
              <a:rPr sz="1000" b="0" i="0">
                <a:solidFill>
                  <a:srgbClr val="333344"/>
                </a:solidFill>
                <a:latin typeface="Calibri"/>
              </a:rPr>
              <a:t>Always access via: chembridge.msnour.com</a:t>
            </a:r>
          </a:p>
        </p:txBody>
      </p:sp>
      <p:sp>
        <p:nvSpPr>
          <p:cNvPr id="40" name="Rectangle 39"/>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
            <a:ext cx="1828800" cy="457200"/>
          </a:xfrm>
          <a:prstGeom prst="rect">
            <a:avLst/>
          </a:prstGeom>
          <a:noFill/>
        </p:spPr>
        <p:txBody>
          <a:bodyPr wrap="square">
            <a:spAutoFit/>
          </a:bodyPr>
          <a:lstStyle/>
          <a:p>
            <a:pPr algn="l"/>
            <a:r>
              <a:rPr sz="900" b="1" i="0">
                <a:solidFill>
                  <a:srgbClr val="C98BA6"/>
                </a:solidFill>
                <a:latin typeface="Calibri"/>
              </a:rPr>
              <a:t>COURSES</a:t>
            </a:r>
          </a:p>
        </p:txBody>
      </p:sp>
      <p:sp>
        <p:nvSpPr>
          <p:cNvPr id="7" name="TextBox 6"/>
          <p:cNvSpPr txBox="1"/>
          <p:nvPr/>
        </p:nvSpPr>
        <p:spPr>
          <a:xfrm>
            <a:off x="457200" y="475488"/>
            <a:ext cx="9144000" cy="640080"/>
          </a:xfrm>
          <a:prstGeom prst="rect">
            <a:avLst/>
          </a:prstGeom>
          <a:noFill/>
        </p:spPr>
        <p:txBody>
          <a:bodyPr wrap="square">
            <a:spAutoFit/>
          </a:bodyPr>
          <a:lstStyle/>
          <a:p>
            <a:pPr algn="l"/>
            <a:r>
              <a:rPr sz="2800" b="1" i="0">
                <a:solidFill>
                  <a:srgbClr val="FFFFFF"/>
                </a:solidFill>
                <a:latin typeface="Calibri"/>
              </a:rPr>
              <a:t>Exploring Your Courses</a:t>
            </a:r>
          </a:p>
        </p:txBody>
      </p:sp>
      <p:sp>
        <p:nvSpPr>
          <p:cNvPr id="8" name="TextBox 7"/>
          <p:cNvSpPr txBox="1"/>
          <p:nvPr/>
        </p:nvSpPr>
        <p:spPr>
          <a:xfrm>
            <a:off x="457200" y="1463040"/>
            <a:ext cx="3657600" cy="384048"/>
          </a:xfrm>
          <a:prstGeom prst="rect">
            <a:avLst/>
          </a:prstGeom>
          <a:noFill/>
        </p:spPr>
        <p:txBody>
          <a:bodyPr wrap="square">
            <a:spAutoFit/>
          </a:bodyPr>
          <a:lstStyle/>
          <a:p>
            <a:pPr algn="l"/>
            <a:r>
              <a:rPr sz="1400" b="1" i="0">
                <a:solidFill>
                  <a:srgbClr val="3E1D68"/>
                </a:solidFill>
                <a:latin typeface="Calibri"/>
              </a:rPr>
              <a:t>📚  Course Catalog</a:t>
            </a:r>
          </a:p>
        </p:txBody>
      </p:sp>
      <p:sp>
        <p:nvSpPr>
          <p:cNvPr id="9" name="Rectangle 8"/>
          <p:cNvSpPr/>
          <p:nvPr/>
        </p:nvSpPr>
        <p:spPr>
          <a:xfrm>
            <a:off x="457200" y="1810512"/>
            <a:ext cx="3657600" cy="36576"/>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938528"/>
            <a:ext cx="5303520" cy="2103120"/>
          </a:xfrm>
          <a:prstGeom prst="rect">
            <a:avLst/>
          </a:prstGeom>
          <a:solidFill>
            <a:srgbClr val="3E1D68"/>
          </a:solidFill>
          <a:ln w="254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029968"/>
            <a:ext cx="1371600" cy="256032"/>
          </a:xfrm>
          <a:prstGeom prst="rect">
            <a:avLst/>
          </a:prstGeom>
          <a:noFill/>
        </p:spPr>
        <p:txBody>
          <a:bodyPr wrap="square">
            <a:spAutoFit/>
          </a:bodyPr>
          <a:lstStyle/>
          <a:p>
            <a:pPr algn="l"/>
            <a:r>
              <a:rPr sz="750" b="1" i="0">
                <a:solidFill>
                  <a:srgbClr val="C98BA6"/>
                </a:solidFill>
                <a:latin typeface="Calibri"/>
              </a:rPr>
              <a:t>FEATURED</a:t>
            </a:r>
          </a:p>
        </p:txBody>
      </p:sp>
      <p:sp>
        <p:nvSpPr>
          <p:cNvPr id="12" name="Rectangle 11"/>
          <p:cNvSpPr/>
          <p:nvPr/>
        </p:nvSpPr>
        <p:spPr>
          <a:xfrm>
            <a:off x="621792" y="2029968"/>
            <a:ext cx="1371600" cy="256032"/>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048256"/>
            <a:ext cx="1371600" cy="237744"/>
          </a:xfrm>
          <a:prstGeom prst="rect">
            <a:avLst/>
          </a:prstGeom>
          <a:noFill/>
        </p:spPr>
        <p:txBody>
          <a:bodyPr wrap="square">
            <a:spAutoFit/>
          </a:bodyPr>
          <a:lstStyle/>
          <a:p>
            <a:pPr algn="ctr"/>
            <a:r>
              <a:rPr sz="750" b="1" i="0">
                <a:solidFill>
                  <a:srgbClr val="FFFFFF"/>
                </a:solidFill>
                <a:latin typeface="Calibri"/>
              </a:rPr>
              <a:t>FEATURED</a:t>
            </a:r>
          </a:p>
        </p:txBody>
      </p:sp>
      <p:sp>
        <p:nvSpPr>
          <p:cNvPr id="14" name="TextBox 13"/>
          <p:cNvSpPr txBox="1"/>
          <p:nvPr/>
        </p:nvSpPr>
        <p:spPr>
          <a:xfrm>
            <a:off x="621792" y="2340864"/>
            <a:ext cx="4846320" cy="594360"/>
          </a:xfrm>
          <a:prstGeom prst="rect">
            <a:avLst/>
          </a:prstGeom>
          <a:noFill/>
        </p:spPr>
        <p:txBody>
          <a:bodyPr wrap="square">
            <a:spAutoFit/>
          </a:bodyPr>
          <a:lstStyle/>
          <a:p>
            <a:pPr algn="l"/>
            <a:r>
              <a:rPr sz="2600" b="1" i="0">
                <a:solidFill>
                  <a:srgbClr val="FFFFFF"/>
                </a:solidFill>
                <a:latin typeface="Calibri"/>
              </a:rPr>
              <a:t>CHEM 101</a:t>
            </a:r>
          </a:p>
        </p:txBody>
      </p:sp>
      <p:sp>
        <p:nvSpPr>
          <p:cNvPr id="15" name="TextBox 14"/>
          <p:cNvSpPr txBox="1"/>
          <p:nvPr/>
        </p:nvSpPr>
        <p:spPr>
          <a:xfrm>
            <a:off x="621792" y="2907792"/>
            <a:ext cx="4846320" cy="347472"/>
          </a:xfrm>
          <a:prstGeom prst="rect">
            <a:avLst/>
          </a:prstGeom>
          <a:noFill/>
        </p:spPr>
        <p:txBody>
          <a:bodyPr wrap="square">
            <a:spAutoFit/>
          </a:bodyPr>
          <a:lstStyle/>
          <a:p>
            <a:pPr algn="l"/>
            <a:r>
              <a:rPr sz="1300" b="0" i="0">
                <a:solidFill>
                  <a:srgbClr val="C98BA6"/>
                </a:solidFill>
                <a:latin typeface="Calibri"/>
              </a:rPr>
              <a:t>General Chemistry I</a:t>
            </a:r>
          </a:p>
        </p:txBody>
      </p:sp>
      <p:sp>
        <p:nvSpPr>
          <p:cNvPr id="16" name="TextBox 15"/>
          <p:cNvSpPr txBox="1"/>
          <p:nvPr/>
        </p:nvSpPr>
        <p:spPr>
          <a:xfrm>
            <a:off x="621792" y="3246120"/>
            <a:ext cx="4846320" cy="502920"/>
          </a:xfrm>
          <a:prstGeom prst="rect">
            <a:avLst/>
          </a:prstGeom>
          <a:noFill/>
        </p:spPr>
        <p:txBody>
          <a:bodyPr wrap="square">
            <a:spAutoFit/>
          </a:bodyPr>
          <a:lstStyle/>
          <a:p>
            <a:pPr algn="l"/>
            <a:r>
              <a:rPr sz="900" b="0" i="0">
                <a:solidFill>
                  <a:srgbClr val="FFFFFF"/>
                </a:solidFill>
                <a:latin typeface="Calibri"/>
              </a:rPr>
              <a:t>Atomic structure · Bonding · Thermodynamics · Kinetics · Equilibrium</a:t>
            </a:r>
          </a:p>
        </p:txBody>
      </p:sp>
      <p:sp>
        <p:nvSpPr>
          <p:cNvPr id="17" name="Rectangle 16"/>
          <p:cNvSpPr/>
          <p:nvPr/>
        </p:nvSpPr>
        <p:spPr>
          <a:xfrm>
            <a:off x="621792" y="3749039"/>
            <a:ext cx="1371600" cy="2926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3776472"/>
            <a:ext cx="1371600" cy="256032"/>
          </a:xfrm>
          <a:prstGeom prst="rect">
            <a:avLst/>
          </a:prstGeom>
          <a:noFill/>
        </p:spPr>
        <p:txBody>
          <a:bodyPr wrap="square">
            <a:spAutoFit/>
          </a:bodyPr>
          <a:lstStyle/>
          <a:p>
            <a:pPr algn="ctr"/>
            <a:r>
              <a:rPr sz="850" b="1" i="0">
                <a:solidFill>
                  <a:srgbClr val="FFFFFF"/>
                </a:solidFill>
                <a:latin typeface="Calibri"/>
              </a:rPr>
              <a:t>Open Course →</a:t>
            </a:r>
          </a:p>
        </p:txBody>
      </p:sp>
      <p:sp>
        <p:nvSpPr>
          <p:cNvPr id="19" name="Rectangle 18"/>
          <p:cNvSpPr/>
          <p:nvPr/>
        </p:nvSpPr>
        <p:spPr>
          <a:xfrm>
            <a:off x="457200" y="4187952"/>
            <a:ext cx="5303520" cy="1691640"/>
          </a:xfrm>
          <a:prstGeom prst="rect">
            <a:avLst/>
          </a:prstGeom>
          <a:solidFill>
            <a:srgbClr val="553080"/>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4297680"/>
            <a:ext cx="4846320" cy="502920"/>
          </a:xfrm>
          <a:prstGeom prst="rect">
            <a:avLst/>
          </a:prstGeom>
          <a:noFill/>
        </p:spPr>
        <p:txBody>
          <a:bodyPr wrap="square">
            <a:spAutoFit/>
          </a:bodyPr>
          <a:lstStyle/>
          <a:p>
            <a:pPr algn="l"/>
            <a:r>
              <a:rPr sz="2200" b="1" i="0">
                <a:solidFill>
                  <a:srgbClr val="FFFFFF"/>
                </a:solidFill>
                <a:latin typeface="Calibri"/>
              </a:rPr>
              <a:t>CHEM 103</a:t>
            </a:r>
          </a:p>
        </p:txBody>
      </p:sp>
      <p:sp>
        <p:nvSpPr>
          <p:cNvPr id="21" name="TextBox 20"/>
          <p:cNvSpPr txBox="1"/>
          <p:nvPr/>
        </p:nvSpPr>
        <p:spPr>
          <a:xfrm>
            <a:off x="621792" y="4773168"/>
            <a:ext cx="4846320" cy="320040"/>
          </a:xfrm>
          <a:prstGeom prst="rect">
            <a:avLst/>
          </a:prstGeom>
          <a:noFill/>
        </p:spPr>
        <p:txBody>
          <a:bodyPr wrap="square">
            <a:spAutoFit/>
          </a:bodyPr>
          <a:lstStyle/>
          <a:p>
            <a:pPr algn="l"/>
            <a:r>
              <a:rPr sz="1200" b="0" i="0">
                <a:solidFill>
                  <a:srgbClr val="C98BA6"/>
                </a:solidFill>
                <a:latin typeface="Calibri"/>
              </a:rPr>
              <a:t>General Chemistry II</a:t>
            </a:r>
          </a:p>
        </p:txBody>
      </p:sp>
      <p:sp>
        <p:nvSpPr>
          <p:cNvPr id="22" name="TextBox 21"/>
          <p:cNvSpPr txBox="1"/>
          <p:nvPr/>
        </p:nvSpPr>
        <p:spPr>
          <a:xfrm>
            <a:off x="621792" y="5074920"/>
            <a:ext cx="4846320" cy="411480"/>
          </a:xfrm>
          <a:prstGeom prst="rect">
            <a:avLst/>
          </a:prstGeom>
          <a:noFill/>
        </p:spPr>
        <p:txBody>
          <a:bodyPr wrap="square">
            <a:spAutoFit/>
          </a:bodyPr>
          <a:lstStyle/>
          <a:p>
            <a:pPr algn="l"/>
            <a:r>
              <a:rPr sz="900" b="0" i="0">
                <a:solidFill>
                  <a:srgbClr val="FFFFFF"/>
                </a:solidFill>
                <a:latin typeface="Calibri"/>
              </a:rPr>
              <a:t>Electrochemistry · Acids &amp; Bases · Organic Introduction · Solutions</a:t>
            </a:r>
          </a:p>
        </p:txBody>
      </p:sp>
      <p:sp>
        <p:nvSpPr>
          <p:cNvPr id="23" name="TextBox 22"/>
          <p:cNvSpPr txBox="1"/>
          <p:nvPr/>
        </p:nvSpPr>
        <p:spPr>
          <a:xfrm>
            <a:off x="6217920" y="1463040"/>
            <a:ext cx="5486400" cy="438912"/>
          </a:xfrm>
          <a:prstGeom prst="rect">
            <a:avLst/>
          </a:prstGeom>
          <a:noFill/>
        </p:spPr>
        <p:txBody>
          <a:bodyPr wrap="square">
            <a:spAutoFit/>
          </a:bodyPr>
          <a:lstStyle/>
          <a:p>
            <a:pPr algn="l"/>
            <a:r>
              <a:rPr sz="1400" b="1" i="0">
                <a:solidFill>
                  <a:srgbClr val="3E1D68"/>
                </a:solidFill>
                <a:latin typeface="Calibri"/>
              </a:rPr>
              <a:t>What's Inside Each Course?</a:t>
            </a:r>
          </a:p>
        </p:txBody>
      </p:sp>
      <p:sp>
        <p:nvSpPr>
          <p:cNvPr id="24" name="Rectangle 23"/>
          <p:cNvSpPr/>
          <p:nvPr/>
        </p:nvSpPr>
        <p:spPr>
          <a:xfrm>
            <a:off x="6217920" y="1874519"/>
            <a:ext cx="3200400" cy="36576"/>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029968"/>
            <a:ext cx="2606040" cy="91440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2121408"/>
            <a:ext cx="457200" cy="457200"/>
          </a:xfrm>
          <a:prstGeom prst="rect">
            <a:avLst/>
          </a:prstGeom>
          <a:noFill/>
        </p:spPr>
        <p:txBody>
          <a:bodyPr wrap="square">
            <a:spAutoFit/>
          </a:bodyPr>
          <a:lstStyle/>
          <a:p>
            <a:pPr algn="l"/>
            <a:r>
              <a:rPr sz="1800" b="0" i="0">
                <a:solidFill>
                  <a:srgbClr val="FFFFFF"/>
                </a:solidFill>
                <a:latin typeface="Calibri"/>
              </a:rPr>
              <a:t>🎬</a:t>
            </a:r>
          </a:p>
        </p:txBody>
      </p:sp>
      <p:sp>
        <p:nvSpPr>
          <p:cNvPr id="27" name="TextBox 26"/>
          <p:cNvSpPr txBox="1"/>
          <p:nvPr/>
        </p:nvSpPr>
        <p:spPr>
          <a:xfrm>
            <a:off x="6784848" y="2121408"/>
            <a:ext cx="1965960" cy="320040"/>
          </a:xfrm>
          <a:prstGeom prst="rect">
            <a:avLst/>
          </a:prstGeom>
          <a:noFill/>
        </p:spPr>
        <p:txBody>
          <a:bodyPr wrap="square">
            <a:spAutoFit/>
          </a:bodyPr>
          <a:lstStyle/>
          <a:p>
            <a:pPr algn="l"/>
            <a:r>
              <a:rPr sz="1000" b="1" i="0">
                <a:solidFill>
                  <a:srgbClr val="3E1D68"/>
                </a:solidFill>
                <a:latin typeface="Calibri"/>
              </a:rPr>
              <a:t>Video Lectures</a:t>
            </a:r>
          </a:p>
        </p:txBody>
      </p:sp>
      <p:sp>
        <p:nvSpPr>
          <p:cNvPr id="28" name="TextBox 27"/>
          <p:cNvSpPr txBox="1"/>
          <p:nvPr/>
        </p:nvSpPr>
        <p:spPr>
          <a:xfrm>
            <a:off x="6784848" y="2468880"/>
            <a:ext cx="1965960" cy="384048"/>
          </a:xfrm>
          <a:prstGeom prst="rect">
            <a:avLst/>
          </a:prstGeom>
          <a:noFill/>
        </p:spPr>
        <p:txBody>
          <a:bodyPr wrap="square">
            <a:spAutoFit/>
          </a:bodyPr>
          <a:lstStyle/>
          <a:p>
            <a:pPr algn="l"/>
            <a:r>
              <a:rPr sz="850" b="0" i="0">
                <a:solidFill>
                  <a:srgbClr val="333344"/>
                </a:solidFill>
                <a:latin typeface="Calibri"/>
              </a:rPr>
              <a:t>Chapter-by-chapter recorded lessons</a:t>
            </a:r>
          </a:p>
        </p:txBody>
      </p:sp>
      <p:sp>
        <p:nvSpPr>
          <p:cNvPr id="29" name="Rectangle 28"/>
          <p:cNvSpPr/>
          <p:nvPr/>
        </p:nvSpPr>
        <p:spPr>
          <a:xfrm>
            <a:off x="8961120" y="2029968"/>
            <a:ext cx="2606040" cy="91440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52560" y="2121408"/>
            <a:ext cx="457200" cy="457200"/>
          </a:xfrm>
          <a:prstGeom prst="rect">
            <a:avLst/>
          </a:prstGeom>
          <a:noFill/>
        </p:spPr>
        <p:txBody>
          <a:bodyPr wrap="square">
            <a:spAutoFit/>
          </a:bodyPr>
          <a:lstStyle/>
          <a:p>
            <a:pPr algn="l"/>
            <a:r>
              <a:rPr sz="1800" b="0" i="0">
                <a:solidFill>
                  <a:srgbClr val="FFFFFF"/>
                </a:solidFill>
                <a:latin typeface="Calibri"/>
              </a:rPr>
              <a:t>📄</a:t>
            </a:r>
          </a:p>
        </p:txBody>
      </p:sp>
      <p:sp>
        <p:nvSpPr>
          <p:cNvPr id="31" name="TextBox 30"/>
          <p:cNvSpPr txBox="1"/>
          <p:nvPr/>
        </p:nvSpPr>
        <p:spPr>
          <a:xfrm>
            <a:off x="9528048" y="2121408"/>
            <a:ext cx="1965960" cy="320040"/>
          </a:xfrm>
          <a:prstGeom prst="rect">
            <a:avLst/>
          </a:prstGeom>
          <a:noFill/>
        </p:spPr>
        <p:txBody>
          <a:bodyPr wrap="square">
            <a:spAutoFit/>
          </a:bodyPr>
          <a:lstStyle/>
          <a:p>
            <a:pPr algn="l"/>
            <a:r>
              <a:rPr sz="1000" b="1" i="0">
                <a:solidFill>
                  <a:srgbClr val="3E1D68"/>
                </a:solidFill>
                <a:latin typeface="Calibri"/>
              </a:rPr>
              <a:t>Lecture Notes</a:t>
            </a:r>
          </a:p>
        </p:txBody>
      </p:sp>
      <p:sp>
        <p:nvSpPr>
          <p:cNvPr id="32" name="TextBox 31"/>
          <p:cNvSpPr txBox="1"/>
          <p:nvPr/>
        </p:nvSpPr>
        <p:spPr>
          <a:xfrm>
            <a:off x="9528048" y="2468880"/>
            <a:ext cx="1965960" cy="384048"/>
          </a:xfrm>
          <a:prstGeom prst="rect">
            <a:avLst/>
          </a:prstGeom>
          <a:noFill/>
        </p:spPr>
        <p:txBody>
          <a:bodyPr wrap="square">
            <a:spAutoFit/>
          </a:bodyPr>
          <a:lstStyle/>
          <a:p>
            <a:pPr algn="l"/>
            <a:r>
              <a:rPr sz="850" b="0" i="0">
                <a:solidFill>
                  <a:srgbClr val="333344"/>
                </a:solidFill>
                <a:latin typeface="Calibri"/>
              </a:rPr>
              <a:t>Printable PDFs aligned with each video</a:t>
            </a:r>
          </a:p>
        </p:txBody>
      </p:sp>
      <p:sp>
        <p:nvSpPr>
          <p:cNvPr id="33" name="Rectangle 32"/>
          <p:cNvSpPr/>
          <p:nvPr/>
        </p:nvSpPr>
        <p:spPr>
          <a:xfrm>
            <a:off x="6217920" y="3127248"/>
            <a:ext cx="2606040" cy="91440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3218688"/>
            <a:ext cx="457200" cy="457200"/>
          </a:xfrm>
          <a:prstGeom prst="rect">
            <a:avLst/>
          </a:prstGeom>
          <a:noFill/>
        </p:spPr>
        <p:txBody>
          <a:bodyPr wrap="square">
            <a:spAutoFit/>
          </a:bodyPr>
          <a:lstStyle/>
          <a:p>
            <a:pPr algn="l"/>
            <a:r>
              <a:rPr sz="1800" b="0" i="0">
                <a:solidFill>
                  <a:srgbClr val="FFFFFF"/>
                </a:solidFill>
                <a:latin typeface="Calibri"/>
              </a:rPr>
              <a:t>📋</a:t>
            </a:r>
          </a:p>
        </p:txBody>
      </p:sp>
      <p:sp>
        <p:nvSpPr>
          <p:cNvPr id="35" name="TextBox 34"/>
          <p:cNvSpPr txBox="1"/>
          <p:nvPr/>
        </p:nvSpPr>
        <p:spPr>
          <a:xfrm>
            <a:off x="6784848" y="3218688"/>
            <a:ext cx="1965960" cy="320040"/>
          </a:xfrm>
          <a:prstGeom prst="rect">
            <a:avLst/>
          </a:prstGeom>
          <a:noFill/>
        </p:spPr>
        <p:txBody>
          <a:bodyPr wrap="square">
            <a:spAutoFit/>
          </a:bodyPr>
          <a:lstStyle/>
          <a:p>
            <a:pPr algn="l"/>
            <a:r>
              <a:rPr sz="1000" b="1" i="0">
                <a:solidFill>
                  <a:srgbClr val="3E1D68"/>
                </a:solidFill>
                <a:latin typeface="Calibri"/>
              </a:rPr>
              <a:t>Practice Sets</a:t>
            </a:r>
          </a:p>
        </p:txBody>
      </p:sp>
      <p:sp>
        <p:nvSpPr>
          <p:cNvPr id="36" name="TextBox 35"/>
          <p:cNvSpPr txBox="1"/>
          <p:nvPr/>
        </p:nvSpPr>
        <p:spPr>
          <a:xfrm>
            <a:off x="6784848" y="3566160"/>
            <a:ext cx="1965960" cy="384048"/>
          </a:xfrm>
          <a:prstGeom prst="rect">
            <a:avLst/>
          </a:prstGeom>
          <a:noFill/>
        </p:spPr>
        <p:txBody>
          <a:bodyPr wrap="square">
            <a:spAutoFit/>
          </a:bodyPr>
          <a:lstStyle/>
          <a:p>
            <a:pPr algn="l"/>
            <a:r>
              <a:rPr sz="850" b="0" i="0">
                <a:solidFill>
                  <a:srgbClr val="333344"/>
                </a:solidFill>
                <a:latin typeface="Calibri"/>
              </a:rPr>
              <a:t>Curated exercises per topic</a:t>
            </a:r>
          </a:p>
        </p:txBody>
      </p:sp>
      <p:sp>
        <p:nvSpPr>
          <p:cNvPr id="37" name="Rectangle 36"/>
          <p:cNvSpPr/>
          <p:nvPr/>
        </p:nvSpPr>
        <p:spPr>
          <a:xfrm>
            <a:off x="8961120" y="3127248"/>
            <a:ext cx="2606040" cy="91440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0" y="3218688"/>
            <a:ext cx="457200" cy="457200"/>
          </a:xfrm>
          <a:prstGeom prst="rect">
            <a:avLst/>
          </a:prstGeom>
          <a:noFill/>
        </p:spPr>
        <p:txBody>
          <a:bodyPr wrap="square">
            <a:spAutoFit/>
          </a:bodyPr>
          <a:lstStyle/>
          <a:p>
            <a:pPr algn="l"/>
            <a:r>
              <a:rPr sz="1800" b="0" i="0">
                <a:solidFill>
                  <a:srgbClr val="FFFFFF"/>
                </a:solidFill>
                <a:latin typeface="Calibri"/>
              </a:rPr>
              <a:t>🧪</a:t>
            </a:r>
          </a:p>
        </p:txBody>
      </p:sp>
      <p:sp>
        <p:nvSpPr>
          <p:cNvPr id="39" name="TextBox 38"/>
          <p:cNvSpPr txBox="1"/>
          <p:nvPr/>
        </p:nvSpPr>
        <p:spPr>
          <a:xfrm>
            <a:off x="9528048" y="3218688"/>
            <a:ext cx="1965960" cy="320040"/>
          </a:xfrm>
          <a:prstGeom prst="rect">
            <a:avLst/>
          </a:prstGeom>
          <a:noFill/>
        </p:spPr>
        <p:txBody>
          <a:bodyPr wrap="square">
            <a:spAutoFit/>
          </a:bodyPr>
          <a:lstStyle/>
          <a:p>
            <a:pPr algn="l"/>
            <a:r>
              <a:rPr sz="1000" b="1" i="0">
                <a:solidFill>
                  <a:srgbClr val="3E1D68"/>
                </a:solidFill>
                <a:latin typeface="Calibri"/>
              </a:rPr>
              <a:t>Lab Concepts</a:t>
            </a:r>
          </a:p>
        </p:txBody>
      </p:sp>
      <p:sp>
        <p:nvSpPr>
          <p:cNvPr id="40" name="TextBox 39"/>
          <p:cNvSpPr txBox="1"/>
          <p:nvPr/>
        </p:nvSpPr>
        <p:spPr>
          <a:xfrm>
            <a:off x="9528048" y="3566160"/>
            <a:ext cx="1965960" cy="384048"/>
          </a:xfrm>
          <a:prstGeom prst="rect">
            <a:avLst/>
          </a:prstGeom>
          <a:noFill/>
        </p:spPr>
        <p:txBody>
          <a:bodyPr wrap="square">
            <a:spAutoFit/>
          </a:bodyPr>
          <a:lstStyle/>
          <a:p>
            <a:pPr algn="l"/>
            <a:r>
              <a:rPr sz="850" b="0" i="0">
                <a:solidFill>
                  <a:srgbClr val="333344"/>
                </a:solidFill>
                <a:latin typeface="Calibri"/>
              </a:rPr>
              <a:t>Theoretical lab preparation materials</a:t>
            </a:r>
          </a:p>
        </p:txBody>
      </p:sp>
      <p:sp>
        <p:nvSpPr>
          <p:cNvPr id="41" name="Rectangle 40"/>
          <p:cNvSpPr/>
          <p:nvPr/>
        </p:nvSpPr>
        <p:spPr>
          <a:xfrm>
            <a:off x="6217920" y="4224528"/>
            <a:ext cx="2606040" cy="91440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09360" y="4315968"/>
            <a:ext cx="457200" cy="457200"/>
          </a:xfrm>
          <a:prstGeom prst="rect">
            <a:avLst/>
          </a:prstGeom>
          <a:noFill/>
        </p:spPr>
        <p:txBody>
          <a:bodyPr wrap="square">
            <a:spAutoFit/>
          </a:bodyPr>
          <a:lstStyle/>
          <a:p>
            <a:pPr algn="l"/>
            <a:r>
              <a:rPr sz="1800" b="0" i="0">
                <a:solidFill>
                  <a:srgbClr val="FFFFFF"/>
                </a:solidFill>
                <a:latin typeface="Calibri"/>
              </a:rPr>
              <a:t>🏆</a:t>
            </a:r>
          </a:p>
        </p:txBody>
      </p:sp>
      <p:sp>
        <p:nvSpPr>
          <p:cNvPr id="43" name="TextBox 42"/>
          <p:cNvSpPr txBox="1"/>
          <p:nvPr/>
        </p:nvSpPr>
        <p:spPr>
          <a:xfrm>
            <a:off x="6784848" y="4315968"/>
            <a:ext cx="1965960" cy="320040"/>
          </a:xfrm>
          <a:prstGeom prst="rect">
            <a:avLst/>
          </a:prstGeom>
          <a:noFill/>
        </p:spPr>
        <p:txBody>
          <a:bodyPr wrap="square">
            <a:spAutoFit/>
          </a:bodyPr>
          <a:lstStyle/>
          <a:p>
            <a:pPr algn="l"/>
            <a:r>
              <a:rPr sz="1000" b="1" i="0">
                <a:solidFill>
                  <a:srgbClr val="3E1D68"/>
                </a:solidFill>
                <a:latin typeface="Calibri"/>
              </a:rPr>
              <a:t>Chapter Quizzes</a:t>
            </a:r>
          </a:p>
        </p:txBody>
      </p:sp>
      <p:sp>
        <p:nvSpPr>
          <p:cNvPr id="44" name="TextBox 43"/>
          <p:cNvSpPr txBox="1"/>
          <p:nvPr/>
        </p:nvSpPr>
        <p:spPr>
          <a:xfrm>
            <a:off x="6784848" y="4663440"/>
            <a:ext cx="1965960" cy="384048"/>
          </a:xfrm>
          <a:prstGeom prst="rect">
            <a:avLst/>
          </a:prstGeom>
          <a:noFill/>
        </p:spPr>
        <p:txBody>
          <a:bodyPr wrap="square">
            <a:spAutoFit/>
          </a:bodyPr>
          <a:lstStyle/>
          <a:p>
            <a:pPr algn="l"/>
            <a:r>
              <a:rPr sz="850" b="0" i="0">
                <a:solidFill>
                  <a:srgbClr val="333344"/>
                </a:solidFill>
                <a:latin typeface="Calibri"/>
              </a:rPr>
              <a:t>Timed self-assessment quizzes</a:t>
            </a:r>
          </a:p>
        </p:txBody>
      </p:sp>
      <p:sp>
        <p:nvSpPr>
          <p:cNvPr id="45" name="Rectangle 44"/>
          <p:cNvSpPr/>
          <p:nvPr/>
        </p:nvSpPr>
        <p:spPr>
          <a:xfrm>
            <a:off x="8961120" y="4224528"/>
            <a:ext cx="2606040" cy="914400"/>
          </a:xfrm>
          <a:prstGeom prst="rect">
            <a:avLst/>
          </a:prstGeom>
          <a:solidFill>
            <a:srgbClr val="F5ECF3"/>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560" y="4315968"/>
            <a:ext cx="457200" cy="457200"/>
          </a:xfrm>
          <a:prstGeom prst="rect">
            <a:avLst/>
          </a:prstGeom>
          <a:noFill/>
        </p:spPr>
        <p:txBody>
          <a:bodyPr wrap="square">
            <a:spAutoFit/>
          </a:bodyPr>
          <a:lstStyle/>
          <a:p>
            <a:pPr algn="l"/>
            <a:r>
              <a:rPr sz="1800" b="0" i="0">
                <a:solidFill>
                  <a:srgbClr val="FFFFFF"/>
                </a:solidFill>
                <a:latin typeface="Calibri"/>
              </a:rPr>
              <a:t>📊</a:t>
            </a:r>
          </a:p>
        </p:txBody>
      </p:sp>
      <p:sp>
        <p:nvSpPr>
          <p:cNvPr id="47" name="TextBox 46"/>
          <p:cNvSpPr txBox="1"/>
          <p:nvPr/>
        </p:nvSpPr>
        <p:spPr>
          <a:xfrm>
            <a:off x="9528048" y="4315968"/>
            <a:ext cx="1965960" cy="320040"/>
          </a:xfrm>
          <a:prstGeom prst="rect">
            <a:avLst/>
          </a:prstGeom>
          <a:noFill/>
        </p:spPr>
        <p:txBody>
          <a:bodyPr wrap="square">
            <a:spAutoFit/>
          </a:bodyPr>
          <a:lstStyle/>
          <a:p>
            <a:pPr algn="l"/>
            <a:r>
              <a:rPr sz="1000" b="1" i="0">
                <a:solidFill>
                  <a:srgbClr val="3E1D68"/>
                </a:solidFill>
                <a:latin typeface="Calibri"/>
              </a:rPr>
              <a:t>Progress Board</a:t>
            </a:r>
          </a:p>
        </p:txBody>
      </p:sp>
      <p:sp>
        <p:nvSpPr>
          <p:cNvPr id="48" name="TextBox 47"/>
          <p:cNvSpPr txBox="1"/>
          <p:nvPr/>
        </p:nvSpPr>
        <p:spPr>
          <a:xfrm>
            <a:off x="9528048" y="4663440"/>
            <a:ext cx="1965960" cy="384048"/>
          </a:xfrm>
          <a:prstGeom prst="rect">
            <a:avLst/>
          </a:prstGeom>
          <a:noFill/>
        </p:spPr>
        <p:txBody>
          <a:bodyPr wrap="square">
            <a:spAutoFit/>
          </a:bodyPr>
          <a:lstStyle/>
          <a:p>
            <a:pPr algn="l"/>
            <a:r>
              <a:rPr sz="850" b="0" i="0">
                <a:solidFill>
                  <a:srgbClr val="333344"/>
                </a:solidFill>
                <a:latin typeface="Calibri"/>
              </a:rPr>
              <a:t>See your scores and completion rate</a:t>
            </a:r>
          </a:p>
        </p:txBody>
      </p:sp>
      <p:sp>
        <p:nvSpPr>
          <p:cNvPr id="49" name="Rectangle 48"/>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
            <a:ext cx="1828800" cy="457200"/>
          </a:xfrm>
          <a:prstGeom prst="rect">
            <a:avLst/>
          </a:prstGeom>
          <a:noFill/>
        </p:spPr>
        <p:txBody>
          <a:bodyPr wrap="square">
            <a:spAutoFit/>
          </a:bodyPr>
          <a:lstStyle/>
          <a:p>
            <a:pPr algn="l"/>
            <a:r>
              <a:rPr sz="900" b="1" i="0">
                <a:solidFill>
                  <a:srgbClr val="C98BA6"/>
                </a:solidFill>
                <a:latin typeface="Calibri"/>
              </a:rPr>
              <a:t>CHAPTERS</a:t>
            </a:r>
          </a:p>
        </p:txBody>
      </p:sp>
      <p:sp>
        <p:nvSpPr>
          <p:cNvPr id="7" name="TextBox 6"/>
          <p:cNvSpPr txBox="1"/>
          <p:nvPr/>
        </p:nvSpPr>
        <p:spPr>
          <a:xfrm>
            <a:off x="457200" y="475488"/>
            <a:ext cx="9144000" cy="640080"/>
          </a:xfrm>
          <a:prstGeom prst="rect">
            <a:avLst/>
          </a:prstGeom>
          <a:noFill/>
        </p:spPr>
        <p:txBody>
          <a:bodyPr wrap="square">
            <a:spAutoFit/>
          </a:bodyPr>
          <a:lstStyle/>
          <a:p>
            <a:pPr algn="l"/>
            <a:r>
              <a:rPr sz="2800" b="1" i="0">
                <a:solidFill>
                  <a:srgbClr val="FFFFFF"/>
                </a:solidFill>
                <a:latin typeface="Calibri"/>
              </a:rPr>
              <a:t>Opening a Chapter</a:t>
            </a:r>
          </a:p>
        </p:txBody>
      </p:sp>
      <p:sp>
        <p:nvSpPr>
          <p:cNvPr id="8" name="Rectangle 7"/>
          <p:cNvSpPr/>
          <p:nvPr/>
        </p:nvSpPr>
        <p:spPr>
          <a:xfrm>
            <a:off x="4037076" y="1481328"/>
            <a:ext cx="4114800" cy="475488"/>
          </a:xfrm>
          <a:prstGeom prst="rect">
            <a:avLst/>
          </a:prstGeom>
          <a:solidFill>
            <a:srgbClr val="3E1D6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74236" y="1572768"/>
            <a:ext cx="3840480" cy="365760"/>
          </a:xfrm>
          <a:prstGeom prst="rect">
            <a:avLst/>
          </a:prstGeom>
          <a:noFill/>
        </p:spPr>
        <p:txBody>
          <a:bodyPr wrap="square">
            <a:spAutoFit/>
          </a:bodyPr>
          <a:lstStyle/>
          <a:p>
            <a:pPr algn="ctr"/>
            <a:r>
              <a:rPr sz="1100" b="1" i="0">
                <a:solidFill>
                  <a:srgbClr val="FFFFFF"/>
                </a:solidFill>
                <a:latin typeface="Calibri"/>
              </a:rPr>
              <a:t>🌐  Open chembridge.msnour.com</a:t>
            </a:r>
          </a:p>
        </p:txBody>
      </p:sp>
      <p:sp>
        <p:nvSpPr>
          <p:cNvPr id="10" name="TextBox 9"/>
          <p:cNvSpPr txBox="1"/>
          <p:nvPr/>
        </p:nvSpPr>
        <p:spPr>
          <a:xfrm>
            <a:off x="5929884" y="2002536"/>
            <a:ext cx="329184" cy="182880"/>
          </a:xfrm>
          <a:prstGeom prst="rect">
            <a:avLst/>
          </a:prstGeom>
          <a:noFill/>
        </p:spPr>
        <p:txBody>
          <a:bodyPr wrap="square">
            <a:spAutoFit/>
          </a:bodyPr>
          <a:lstStyle/>
          <a:p>
            <a:pPr algn="ctr"/>
            <a:r>
              <a:rPr sz="1000" b="0" i="0">
                <a:solidFill>
                  <a:srgbClr val="C98BA6"/>
                </a:solidFill>
                <a:latin typeface="Calibri"/>
              </a:rPr>
              <a:t>▼</a:t>
            </a:r>
          </a:p>
        </p:txBody>
      </p:sp>
      <p:sp>
        <p:nvSpPr>
          <p:cNvPr id="11" name="Rectangle 10"/>
          <p:cNvSpPr/>
          <p:nvPr/>
        </p:nvSpPr>
        <p:spPr>
          <a:xfrm>
            <a:off x="4037076" y="2231136"/>
            <a:ext cx="4114800" cy="475488"/>
          </a:xfrm>
          <a:prstGeom prst="rect">
            <a:avLst/>
          </a:prstGeom>
          <a:solidFill>
            <a:srgbClr val="3E1D6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74236" y="2322576"/>
            <a:ext cx="3840480" cy="365760"/>
          </a:xfrm>
          <a:prstGeom prst="rect">
            <a:avLst/>
          </a:prstGeom>
          <a:noFill/>
        </p:spPr>
        <p:txBody>
          <a:bodyPr wrap="square">
            <a:spAutoFit/>
          </a:bodyPr>
          <a:lstStyle/>
          <a:p>
            <a:pPr algn="ctr"/>
            <a:r>
              <a:rPr sz="1100" b="1" i="0">
                <a:solidFill>
                  <a:srgbClr val="FFFFFF"/>
                </a:solidFill>
                <a:latin typeface="Calibri"/>
              </a:rPr>
              <a:t>📚  Click 'Courses' in the menu</a:t>
            </a:r>
          </a:p>
        </p:txBody>
      </p:sp>
      <p:sp>
        <p:nvSpPr>
          <p:cNvPr id="13" name="TextBox 12"/>
          <p:cNvSpPr txBox="1"/>
          <p:nvPr/>
        </p:nvSpPr>
        <p:spPr>
          <a:xfrm>
            <a:off x="5929884" y="2752344"/>
            <a:ext cx="329184" cy="182880"/>
          </a:xfrm>
          <a:prstGeom prst="rect">
            <a:avLst/>
          </a:prstGeom>
          <a:noFill/>
        </p:spPr>
        <p:txBody>
          <a:bodyPr wrap="square">
            <a:spAutoFit/>
          </a:bodyPr>
          <a:lstStyle/>
          <a:p>
            <a:pPr algn="ctr"/>
            <a:r>
              <a:rPr sz="1000" b="0" i="0">
                <a:solidFill>
                  <a:srgbClr val="C98BA6"/>
                </a:solidFill>
                <a:latin typeface="Calibri"/>
              </a:rPr>
              <a:t>▼</a:t>
            </a:r>
          </a:p>
        </p:txBody>
      </p:sp>
      <p:sp>
        <p:nvSpPr>
          <p:cNvPr id="14" name="Rectangle 13"/>
          <p:cNvSpPr/>
          <p:nvPr/>
        </p:nvSpPr>
        <p:spPr>
          <a:xfrm>
            <a:off x="4037076" y="2980944"/>
            <a:ext cx="4114800" cy="475488"/>
          </a:xfrm>
          <a:prstGeom prst="rect">
            <a:avLst/>
          </a:prstGeom>
          <a:solidFill>
            <a:srgbClr val="3E1D6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74236" y="3072384"/>
            <a:ext cx="3840480" cy="365760"/>
          </a:xfrm>
          <a:prstGeom prst="rect">
            <a:avLst/>
          </a:prstGeom>
          <a:noFill/>
        </p:spPr>
        <p:txBody>
          <a:bodyPr wrap="square">
            <a:spAutoFit/>
          </a:bodyPr>
          <a:lstStyle/>
          <a:p>
            <a:pPr algn="ctr"/>
            <a:r>
              <a:rPr sz="1100" b="1" i="0">
                <a:solidFill>
                  <a:srgbClr val="FFFFFF"/>
                </a:solidFill>
                <a:latin typeface="Calibri"/>
              </a:rPr>
              <a:t>🎯  Select CHEM 101 or CHEM 103</a:t>
            </a:r>
          </a:p>
        </p:txBody>
      </p:sp>
      <p:sp>
        <p:nvSpPr>
          <p:cNvPr id="16" name="TextBox 15"/>
          <p:cNvSpPr txBox="1"/>
          <p:nvPr/>
        </p:nvSpPr>
        <p:spPr>
          <a:xfrm>
            <a:off x="5929884" y="3502152"/>
            <a:ext cx="329184" cy="182880"/>
          </a:xfrm>
          <a:prstGeom prst="rect">
            <a:avLst/>
          </a:prstGeom>
          <a:noFill/>
        </p:spPr>
        <p:txBody>
          <a:bodyPr wrap="square">
            <a:spAutoFit/>
          </a:bodyPr>
          <a:lstStyle/>
          <a:p>
            <a:pPr algn="ctr"/>
            <a:r>
              <a:rPr sz="1000" b="0" i="0">
                <a:solidFill>
                  <a:srgbClr val="C98BA6"/>
                </a:solidFill>
                <a:latin typeface="Calibri"/>
              </a:rPr>
              <a:t>▼</a:t>
            </a:r>
          </a:p>
        </p:txBody>
      </p:sp>
      <p:sp>
        <p:nvSpPr>
          <p:cNvPr id="17" name="Rectangle 16"/>
          <p:cNvSpPr/>
          <p:nvPr/>
        </p:nvSpPr>
        <p:spPr>
          <a:xfrm>
            <a:off x="4037076" y="3730752"/>
            <a:ext cx="4114800" cy="475488"/>
          </a:xfrm>
          <a:prstGeom prst="rect">
            <a:avLst/>
          </a:prstGeom>
          <a:solidFill>
            <a:srgbClr val="6A3D9A"/>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74236" y="3822192"/>
            <a:ext cx="3840480" cy="365760"/>
          </a:xfrm>
          <a:prstGeom prst="rect">
            <a:avLst/>
          </a:prstGeom>
          <a:noFill/>
        </p:spPr>
        <p:txBody>
          <a:bodyPr wrap="square">
            <a:spAutoFit/>
          </a:bodyPr>
          <a:lstStyle/>
          <a:p>
            <a:pPr algn="ctr"/>
            <a:r>
              <a:rPr sz="1100" b="1" i="0">
                <a:solidFill>
                  <a:srgbClr val="FFFFFF"/>
                </a:solidFill>
                <a:latin typeface="Calibri"/>
              </a:rPr>
              <a:t>📖  Browse the Chapter List</a:t>
            </a:r>
          </a:p>
        </p:txBody>
      </p:sp>
      <p:sp>
        <p:nvSpPr>
          <p:cNvPr id="19" name="TextBox 18"/>
          <p:cNvSpPr txBox="1"/>
          <p:nvPr/>
        </p:nvSpPr>
        <p:spPr>
          <a:xfrm>
            <a:off x="5929884" y="4251960"/>
            <a:ext cx="329184" cy="182880"/>
          </a:xfrm>
          <a:prstGeom prst="rect">
            <a:avLst/>
          </a:prstGeom>
          <a:noFill/>
        </p:spPr>
        <p:txBody>
          <a:bodyPr wrap="square">
            <a:spAutoFit/>
          </a:bodyPr>
          <a:lstStyle/>
          <a:p>
            <a:pPr algn="ctr"/>
            <a:r>
              <a:rPr sz="1000" b="0" i="0">
                <a:solidFill>
                  <a:srgbClr val="C98BA6"/>
                </a:solidFill>
                <a:latin typeface="Calibri"/>
              </a:rPr>
              <a:t>▼</a:t>
            </a:r>
          </a:p>
        </p:txBody>
      </p:sp>
      <p:sp>
        <p:nvSpPr>
          <p:cNvPr id="20" name="Rectangle 19"/>
          <p:cNvSpPr/>
          <p:nvPr/>
        </p:nvSpPr>
        <p:spPr>
          <a:xfrm>
            <a:off x="4037076" y="4480560"/>
            <a:ext cx="4114800" cy="475488"/>
          </a:xfrm>
          <a:prstGeom prst="rect">
            <a:avLst/>
          </a:prstGeom>
          <a:solidFill>
            <a:srgbClr val="C98BA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74236" y="4572000"/>
            <a:ext cx="3840480" cy="365760"/>
          </a:xfrm>
          <a:prstGeom prst="rect">
            <a:avLst/>
          </a:prstGeom>
          <a:noFill/>
        </p:spPr>
        <p:txBody>
          <a:bodyPr wrap="square">
            <a:spAutoFit/>
          </a:bodyPr>
          <a:lstStyle/>
          <a:p>
            <a:pPr algn="ctr"/>
            <a:r>
              <a:rPr sz="1100" b="1" i="0">
                <a:solidFill>
                  <a:srgbClr val="FFFFFF"/>
                </a:solidFill>
                <a:latin typeface="Calibri"/>
              </a:rPr>
              <a:t>▶️   Click on a Chapter to Open it</a:t>
            </a:r>
          </a:p>
        </p:txBody>
      </p:sp>
      <p:sp>
        <p:nvSpPr>
          <p:cNvPr id="22" name="TextBox 21"/>
          <p:cNvSpPr txBox="1"/>
          <p:nvPr/>
        </p:nvSpPr>
        <p:spPr>
          <a:xfrm>
            <a:off x="5929884" y="5001768"/>
            <a:ext cx="329184" cy="182880"/>
          </a:xfrm>
          <a:prstGeom prst="rect">
            <a:avLst/>
          </a:prstGeom>
          <a:noFill/>
        </p:spPr>
        <p:txBody>
          <a:bodyPr wrap="square">
            <a:spAutoFit/>
          </a:bodyPr>
          <a:lstStyle/>
          <a:p>
            <a:pPr algn="ctr"/>
            <a:r>
              <a:rPr sz="1000" b="0" i="0">
                <a:solidFill>
                  <a:srgbClr val="C98BA6"/>
                </a:solidFill>
                <a:latin typeface="Calibri"/>
              </a:rPr>
              <a:t>▼</a:t>
            </a:r>
          </a:p>
        </p:txBody>
      </p:sp>
      <p:sp>
        <p:nvSpPr>
          <p:cNvPr id="23" name="Rectangle 22"/>
          <p:cNvSpPr/>
          <p:nvPr/>
        </p:nvSpPr>
        <p:spPr>
          <a:xfrm>
            <a:off x="4037076" y="5230368"/>
            <a:ext cx="4114800" cy="475488"/>
          </a:xfrm>
          <a:prstGeom prst="rect">
            <a:avLst/>
          </a:prstGeom>
          <a:solidFill>
            <a:srgbClr val="2E864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74236" y="5321808"/>
            <a:ext cx="3840480" cy="365760"/>
          </a:xfrm>
          <a:prstGeom prst="rect">
            <a:avLst/>
          </a:prstGeom>
          <a:noFill/>
        </p:spPr>
        <p:txBody>
          <a:bodyPr wrap="square">
            <a:spAutoFit/>
          </a:bodyPr>
          <a:lstStyle/>
          <a:p>
            <a:pPr algn="ctr"/>
            <a:r>
              <a:rPr sz="1100" b="1" i="0">
                <a:solidFill>
                  <a:srgbClr val="FFFFFF"/>
                </a:solidFill>
                <a:latin typeface="Calibri"/>
              </a:rPr>
              <a:t>📂  Access all Chapter Materials</a:t>
            </a:r>
          </a:p>
        </p:txBody>
      </p:sp>
      <p:sp>
        <p:nvSpPr>
          <p:cNvPr id="25" name="Rectangle 24"/>
          <p:cNvSpPr/>
          <p:nvPr/>
        </p:nvSpPr>
        <p:spPr>
          <a:xfrm>
            <a:off x="7589520" y="1508760"/>
            <a:ext cx="4297680" cy="4800600"/>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1627632"/>
            <a:ext cx="3931920" cy="347472"/>
          </a:xfrm>
          <a:prstGeom prst="rect">
            <a:avLst/>
          </a:prstGeom>
          <a:noFill/>
        </p:spPr>
        <p:txBody>
          <a:bodyPr wrap="square">
            <a:spAutoFit/>
          </a:bodyPr>
          <a:lstStyle/>
          <a:p>
            <a:pPr algn="l"/>
            <a:r>
              <a:rPr sz="1100" b="1" i="0">
                <a:solidFill>
                  <a:srgbClr val="C98BA6"/>
                </a:solidFill>
                <a:latin typeface="Calibri"/>
              </a:rPr>
              <a:t>CHEM 101 – Chapter List</a:t>
            </a:r>
          </a:p>
        </p:txBody>
      </p:sp>
      <p:sp>
        <p:nvSpPr>
          <p:cNvPr id="27" name="Rectangle 26"/>
          <p:cNvSpPr/>
          <p:nvPr/>
        </p:nvSpPr>
        <p:spPr>
          <a:xfrm>
            <a:off x="7772400" y="1956816"/>
            <a:ext cx="3931920" cy="27432"/>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0" y="2029968"/>
            <a:ext cx="3931920" cy="457200"/>
          </a:xfrm>
          <a:prstGeom prst="rect">
            <a:avLst/>
          </a:prstGeom>
          <a:solidFill>
            <a:srgbClr val="553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09560" y="2121408"/>
            <a:ext cx="3657600" cy="329184"/>
          </a:xfrm>
          <a:prstGeom prst="rect">
            <a:avLst/>
          </a:prstGeom>
          <a:noFill/>
        </p:spPr>
        <p:txBody>
          <a:bodyPr wrap="square">
            <a:spAutoFit/>
          </a:bodyPr>
          <a:lstStyle/>
          <a:p>
            <a:pPr algn="l"/>
            <a:r>
              <a:rPr sz="850" b="0" i="0">
                <a:solidFill>
                  <a:srgbClr val="FFFFFF"/>
                </a:solidFill>
                <a:latin typeface="Calibri"/>
              </a:rPr>
              <a:t>▶  Chapter 1: Atomic Structure &amp; Periodicity</a:t>
            </a:r>
          </a:p>
        </p:txBody>
      </p:sp>
      <p:sp>
        <p:nvSpPr>
          <p:cNvPr id="30" name="Rectangle 29"/>
          <p:cNvSpPr/>
          <p:nvPr/>
        </p:nvSpPr>
        <p:spPr>
          <a:xfrm>
            <a:off x="7772400" y="2523744"/>
            <a:ext cx="3931920" cy="45720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60" y="2615184"/>
            <a:ext cx="3657600" cy="329184"/>
          </a:xfrm>
          <a:prstGeom prst="rect">
            <a:avLst/>
          </a:prstGeom>
          <a:noFill/>
        </p:spPr>
        <p:txBody>
          <a:bodyPr wrap="square">
            <a:spAutoFit/>
          </a:bodyPr>
          <a:lstStyle/>
          <a:p>
            <a:pPr algn="l"/>
            <a:r>
              <a:rPr sz="850" b="0" i="0">
                <a:solidFill>
                  <a:srgbClr val="FFFFFF"/>
                </a:solidFill>
                <a:latin typeface="Calibri"/>
              </a:rPr>
              <a:t>▶  Chapter 2: Chemical Bonding</a:t>
            </a:r>
          </a:p>
        </p:txBody>
      </p:sp>
      <p:sp>
        <p:nvSpPr>
          <p:cNvPr id="32" name="Rectangle 31"/>
          <p:cNvSpPr/>
          <p:nvPr/>
        </p:nvSpPr>
        <p:spPr>
          <a:xfrm>
            <a:off x="7772400" y="3017520"/>
            <a:ext cx="3931920" cy="457200"/>
          </a:xfrm>
          <a:prstGeom prst="rect">
            <a:avLst/>
          </a:prstGeom>
          <a:solidFill>
            <a:srgbClr val="553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09560" y="3108960"/>
            <a:ext cx="3657600" cy="329184"/>
          </a:xfrm>
          <a:prstGeom prst="rect">
            <a:avLst/>
          </a:prstGeom>
          <a:noFill/>
        </p:spPr>
        <p:txBody>
          <a:bodyPr wrap="square">
            <a:spAutoFit/>
          </a:bodyPr>
          <a:lstStyle/>
          <a:p>
            <a:pPr algn="l"/>
            <a:r>
              <a:rPr sz="850" b="0" i="0">
                <a:solidFill>
                  <a:srgbClr val="FFFFFF"/>
                </a:solidFill>
                <a:latin typeface="Calibri"/>
              </a:rPr>
              <a:t>▶  Chapter 3: Molecular Geometry (VSEPR)</a:t>
            </a:r>
          </a:p>
        </p:txBody>
      </p:sp>
      <p:sp>
        <p:nvSpPr>
          <p:cNvPr id="34" name="Rectangle 33"/>
          <p:cNvSpPr/>
          <p:nvPr/>
        </p:nvSpPr>
        <p:spPr>
          <a:xfrm>
            <a:off x="7772400" y="3511296"/>
            <a:ext cx="3931920" cy="45720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9560" y="3602736"/>
            <a:ext cx="3657600" cy="329184"/>
          </a:xfrm>
          <a:prstGeom prst="rect">
            <a:avLst/>
          </a:prstGeom>
          <a:noFill/>
        </p:spPr>
        <p:txBody>
          <a:bodyPr wrap="square">
            <a:spAutoFit/>
          </a:bodyPr>
          <a:lstStyle/>
          <a:p>
            <a:pPr algn="l"/>
            <a:r>
              <a:rPr sz="850" b="0" i="0">
                <a:solidFill>
                  <a:srgbClr val="FFFFFF"/>
                </a:solidFill>
                <a:latin typeface="Calibri"/>
              </a:rPr>
              <a:t>▶  Chapter 4: Thermodynamics</a:t>
            </a:r>
          </a:p>
        </p:txBody>
      </p:sp>
      <p:sp>
        <p:nvSpPr>
          <p:cNvPr id="36" name="Rectangle 35"/>
          <p:cNvSpPr/>
          <p:nvPr/>
        </p:nvSpPr>
        <p:spPr>
          <a:xfrm>
            <a:off x="7772400" y="4005072"/>
            <a:ext cx="3931920" cy="457200"/>
          </a:xfrm>
          <a:prstGeom prst="rect">
            <a:avLst/>
          </a:prstGeom>
          <a:solidFill>
            <a:srgbClr val="553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09560" y="4096512"/>
            <a:ext cx="3657600" cy="329184"/>
          </a:xfrm>
          <a:prstGeom prst="rect">
            <a:avLst/>
          </a:prstGeom>
          <a:noFill/>
        </p:spPr>
        <p:txBody>
          <a:bodyPr wrap="square">
            <a:spAutoFit/>
          </a:bodyPr>
          <a:lstStyle/>
          <a:p>
            <a:pPr algn="l"/>
            <a:r>
              <a:rPr sz="850" b="0" i="0">
                <a:solidFill>
                  <a:srgbClr val="FFFFFF"/>
                </a:solidFill>
                <a:latin typeface="Calibri"/>
              </a:rPr>
              <a:t>▶  Chapter 5: Chemical Kinetics</a:t>
            </a:r>
          </a:p>
        </p:txBody>
      </p:sp>
      <p:sp>
        <p:nvSpPr>
          <p:cNvPr id="38" name="Rectangle 37"/>
          <p:cNvSpPr/>
          <p:nvPr/>
        </p:nvSpPr>
        <p:spPr>
          <a:xfrm>
            <a:off x="7772400" y="4498848"/>
            <a:ext cx="3931920" cy="45720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09560" y="4590288"/>
            <a:ext cx="3657600" cy="329184"/>
          </a:xfrm>
          <a:prstGeom prst="rect">
            <a:avLst/>
          </a:prstGeom>
          <a:noFill/>
        </p:spPr>
        <p:txBody>
          <a:bodyPr wrap="square">
            <a:spAutoFit/>
          </a:bodyPr>
          <a:lstStyle/>
          <a:p>
            <a:pPr algn="l"/>
            <a:r>
              <a:rPr sz="850" b="0" i="0">
                <a:solidFill>
                  <a:srgbClr val="FFFFFF"/>
                </a:solidFill>
                <a:latin typeface="Calibri"/>
              </a:rPr>
              <a:t>▶  Chapter 6: Equilibrium</a:t>
            </a:r>
          </a:p>
        </p:txBody>
      </p:sp>
      <p:sp>
        <p:nvSpPr>
          <p:cNvPr id="40" name="Rectangle 39"/>
          <p:cNvSpPr/>
          <p:nvPr/>
        </p:nvSpPr>
        <p:spPr>
          <a:xfrm>
            <a:off x="7772400" y="4992624"/>
            <a:ext cx="3931920" cy="457200"/>
          </a:xfrm>
          <a:prstGeom prst="rect">
            <a:avLst/>
          </a:prstGeom>
          <a:solidFill>
            <a:srgbClr val="553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09560" y="5084064"/>
            <a:ext cx="3657600" cy="329184"/>
          </a:xfrm>
          <a:prstGeom prst="rect">
            <a:avLst/>
          </a:prstGeom>
          <a:noFill/>
        </p:spPr>
        <p:txBody>
          <a:bodyPr wrap="square">
            <a:spAutoFit/>
          </a:bodyPr>
          <a:lstStyle/>
          <a:p>
            <a:pPr algn="l"/>
            <a:r>
              <a:rPr sz="850" b="0" i="0">
                <a:solidFill>
                  <a:srgbClr val="FFFFFF"/>
                </a:solidFill>
                <a:latin typeface="Calibri"/>
              </a:rPr>
              <a:t>▶  Chapter 7: Acids &amp; Bases</a:t>
            </a:r>
          </a:p>
        </p:txBody>
      </p:sp>
      <p:sp>
        <p:nvSpPr>
          <p:cNvPr id="42" name="Rectangle 41"/>
          <p:cNvSpPr/>
          <p:nvPr/>
        </p:nvSpPr>
        <p:spPr>
          <a:xfrm>
            <a:off x="7772400" y="5486400"/>
            <a:ext cx="3931920" cy="45720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09560" y="5577840"/>
            <a:ext cx="3657600" cy="329184"/>
          </a:xfrm>
          <a:prstGeom prst="rect">
            <a:avLst/>
          </a:prstGeom>
          <a:noFill/>
        </p:spPr>
        <p:txBody>
          <a:bodyPr wrap="square">
            <a:spAutoFit/>
          </a:bodyPr>
          <a:lstStyle/>
          <a:p>
            <a:pPr algn="l"/>
            <a:r>
              <a:rPr sz="850" b="0" i="0">
                <a:solidFill>
                  <a:srgbClr val="FFFFFF"/>
                </a:solidFill>
                <a:latin typeface="Calibri"/>
              </a:rPr>
              <a:t>▶  Chapter 8: Electrochemistry</a:t>
            </a:r>
          </a:p>
        </p:txBody>
      </p:sp>
      <p:sp>
        <p:nvSpPr>
          <p:cNvPr id="44" name="Rectangle 43"/>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
            <a:ext cx="2560320" cy="457200"/>
          </a:xfrm>
          <a:prstGeom prst="rect">
            <a:avLst/>
          </a:prstGeom>
          <a:noFill/>
        </p:spPr>
        <p:txBody>
          <a:bodyPr wrap="square">
            <a:spAutoFit/>
          </a:bodyPr>
          <a:lstStyle/>
          <a:p>
            <a:pPr algn="l"/>
            <a:r>
              <a:rPr sz="900" b="1" i="0">
                <a:solidFill>
                  <a:srgbClr val="C98BA6"/>
                </a:solidFill>
                <a:latin typeface="Calibri"/>
              </a:rPr>
              <a:t>VIDEO LESSONS</a:t>
            </a:r>
          </a:p>
        </p:txBody>
      </p:sp>
      <p:sp>
        <p:nvSpPr>
          <p:cNvPr id="7" name="TextBox 6"/>
          <p:cNvSpPr txBox="1"/>
          <p:nvPr/>
        </p:nvSpPr>
        <p:spPr>
          <a:xfrm>
            <a:off x="457200" y="475488"/>
            <a:ext cx="9144000" cy="640080"/>
          </a:xfrm>
          <a:prstGeom prst="rect">
            <a:avLst/>
          </a:prstGeom>
          <a:noFill/>
        </p:spPr>
        <p:txBody>
          <a:bodyPr wrap="square">
            <a:spAutoFit/>
          </a:bodyPr>
          <a:lstStyle/>
          <a:p>
            <a:pPr algn="l"/>
            <a:r>
              <a:rPr sz="2800" b="1" i="0">
                <a:solidFill>
                  <a:srgbClr val="FFFFFF"/>
                </a:solidFill>
                <a:latin typeface="Calibri"/>
              </a:rPr>
              <a:t>Watching Lessons</a:t>
            </a:r>
          </a:p>
        </p:txBody>
      </p:sp>
      <p:sp>
        <p:nvSpPr>
          <p:cNvPr id="8" name="Rectangle 7"/>
          <p:cNvSpPr/>
          <p:nvPr/>
        </p:nvSpPr>
        <p:spPr>
          <a:xfrm>
            <a:off x="457200" y="1444752"/>
            <a:ext cx="7132320" cy="4069080"/>
          </a:xfrm>
          <a:prstGeom prst="rect">
            <a:avLst/>
          </a:prstGeom>
          <a:solidFill>
            <a:srgbClr val="0A0A1A"/>
          </a:solid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581912"/>
            <a:ext cx="6858000" cy="3200400"/>
          </a:xfrm>
          <a:prstGeom prst="rect">
            <a:avLst/>
          </a:prstGeom>
          <a:solidFill>
            <a:srgbClr val="1A0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20440" y="2679192"/>
            <a:ext cx="1005840" cy="1005840"/>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2679192"/>
            <a:ext cx="1005840" cy="1005840"/>
          </a:xfrm>
          <a:prstGeom prst="rect">
            <a:avLst/>
          </a:prstGeom>
          <a:noFill/>
        </p:spPr>
        <p:txBody>
          <a:bodyPr wrap="square">
            <a:spAutoFit/>
          </a:bodyPr>
          <a:lstStyle/>
          <a:p>
            <a:pPr algn="ctr"/>
            <a:r>
              <a:rPr sz="2200" b="1" i="0">
                <a:solidFill>
                  <a:srgbClr val="FFFFFF"/>
                </a:solidFill>
                <a:latin typeface="Calibri"/>
              </a:rPr>
              <a:t>▶</a:t>
            </a:r>
          </a:p>
        </p:txBody>
      </p:sp>
      <p:sp>
        <p:nvSpPr>
          <p:cNvPr id="12" name="TextBox 11"/>
          <p:cNvSpPr txBox="1"/>
          <p:nvPr/>
        </p:nvSpPr>
        <p:spPr>
          <a:xfrm>
            <a:off x="731520" y="1673352"/>
            <a:ext cx="4572000" cy="320040"/>
          </a:xfrm>
          <a:prstGeom prst="rect">
            <a:avLst/>
          </a:prstGeom>
          <a:noFill/>
        </p:spPr>
        <p:txBody>
          <a:bodyPr wrap="square">
            <a:spAutoFit/>
          </a:bodyPr>
          <a:lstStyle/>
          <a:p>
            <a:pPr algn="l"/>
            <a:r>
              <a:rPr sz="900" b="0" i="0">
                <a:solidFill>
                  <a:srgbClr val="C98BA6"/>
                </a:solidFill>
                <a:latin typeface="Calibri"/>
              </a:rPr>
              <a:t>Chapter 2: Chemical Bonding – Lecture Video</a:t>
            </a:r>
          </a:p>
        </p:txBody>
      </p:sp>
      <p:sp>
        <p:nvSpPr>
          <p:cNvPr id="13" name="Rectangle 12"/>
          <p:cNvSpPr/>
          <p:nvPr/>
        </p:nvSpPr>
        <p:spPr>
          <a:xfrm>
            <a:off x="457200" y="4764024"/>
            <a:ext cx="7132320" cy="749808"/>
          </a:xfrm>
          <a:prstGeom prst="rect">
            <a:avLst/>
          </a:prstGeom>
          <a:solidFill>
            <a:srgbClr val="221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873752"/>
            <a:ext cx="6766560" cy="73152"/>
          </a:xfrm>
          <a:prstGeom prst="rect">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873752"/>
            <a:ext cx="2743200" cy="73152"/>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038344"/>
            <a:ext cx="384048" cy="320040"/>
          </a:xfrm>
          <a:prstGeom prst="rect">
            <a:avLst/>
          </a:prstGeom>
          <a:noFill/>
        </p:spPr>
        <p:txBody>
          <a:bodyPr wrap="square">
            <a:spAutoFit/>
          </a:bodyPr>
          <a:lstStyle/>
          <a:p>
            <a:pPr algn="l"/>
            <a:r>
              <a:rPr sz="1400" b="0" i="0">
                <a:solidFill>
                  <a:srgbClr val="FFFFFF"/>
                </a:solidFill>
                <a:latin typeface="Calibri"/>
              </a:rPr>
              <a:t>⏮</a:t>
            </a:r>
          </a:p>
        </p:txBody>
      </p:sp>
      <p:sp>
        <p:nvSpPr>
          <p:cNvPr id="17" name="TextBox 16"/>
          <p:cNvSpPr txBox="1"/>
          <p:nvPr/>
        </p:nvSpPr>
        <p:spPr>
          <a:xfrm>
            <a:off x="1234440" y="5038344"/>
            <a:ext cx="384048" cy="320040"/>
          </a:xfrm>
          <a:prstGeom prst="rect">
            <a:avLst/>
          </a:prstGeom>
          <a:noFill/>
        </p:spPr>
        <p:txBody>
          <a:bodyPr wrap="square">
            <a:spAutoFit/>
          </a:bodyPr>
          <a:lstStyle/>
          <a:p>
            <a:pPr algn="l"/>
            <a:r>
              <a:rPr sz="1400" b="0" i="0">
                <a:solidFill>
                  <a:srgbClr val="FFFFFF"/>
                </a:solidFill>
                <a:latin typeface="Calibri"/>
              </a:rPr>
              <a:t>⏸</a:t>
            </a:r>
          </a:p>
        </p:txBody>
      </p:sp>
      <p:sp>
        <p:nvSpPr>
          <p:cNvPr id="18" name="TextBox 17"/>
          <p:cNvSpPr txBox="1"/>
          <p:nvPr/>
        </p:nvSpPr>
        <p:spPr>
          <a:xfrm>
            <a:off x="1737360" y="5038344"/>
            <a:ext cx="384048" cy="320040"/>
          </a:xfrm>
          <a:prstGeom prst="rect">
            <a:avLst/>
          </a:prstGeom>
          <a:noFill/>
        </p:spPr>
        <p:txBody>
          <a:bodyPr wrap="square">
            <a:spAutoFit/>
          </a:bodyPr>
          <a:lstStyle/>
          <a:p>
            <a:pPr algn="l"/>
            <a:r>
              <a:rPr sz="1400" b="0" i="0">
                <a:solidFill>
                  <a:srgbClr val="FFFFFF"/>
                </a:solidFill>
                <a:latin typeface="Calibri"/>
              </a:rPr>
              <a:t>⏭</a:t>
            </a:r>
          </a:p>
        </p:txBody>
      </p:sp>
      <p:sp>
        <p:nvSpPr>
          <p:cNvPr id="19" name="TextBox 18"/>
          <p:cNvSpPr txBox="1"/>
          <p:nvPr/>
        </p:nvSpPr>
        <p:spPr>
          <a:xfrm>
            <a:off x="2377440" y="5056632"/>
            <a:ext cx="1371600" cy="274320"/>
          </a:xfrm>
          <a:prstGeom prst="rect">
            <a:avLst/>
          </a:prstGeom>
          <a:noFill/>
        </p:spPr>
        <p:txBody>
          <a:bodyPr wrap="square">
            <a:spAutoFit/>
          </a:bodyPr>
          <a:lstStyle/>
          <a:p>
            <a:pPr algn="l"/>
            <a:r>
              <a:rPr sz="900" b="0" i="0">
                <a:solidFill>
                  <a:srgbClr val="C98BA6"/>
                </a:solidFill>
                <a:latin typeface="Calibri"/>
              </a:rPr>
              <a:t>0:00 / 18:45</a:t>
            </a:r>
          </a:p>
        </p:txBody>
      </p:sp>
      <p:sp>
        <p:nvSpPr>
          <p:cNvPr id="20" name="TextBox 19"/>
          <p:cNvSpPr txBox="1"/>
          <p:nvPr/>
        </p:nvSpPr>
        <p:spPr>
          <a:xfrm>
            <a:off x="5760720" y="5056632"/>
            <a:ext cx="1645920" cy="274320"/>
          </a:xfrm>
          <a:prstGeom prst="rect">
            <a:avLst/>
          </a:prstGeom>
          <a:noFill/>
        </p:spPr>
        <p:txBody>
          <a:bodyPr wrap="square">
            <a:spAutoFit/>
          </a:bodyPr>
          <a:lstStyle/>
          <a:p>
            <a:pPr algn="l"/>
            <a:r>
              <a:rPr sz="900" b="0" i="0">
                <a:solidFill>
                  <a:srgbClr val="FFFFFF"/>
                </a:solidFill>
                <a:latin typeface="Calibri"/>
              </a:rPr>
              <a:t>🔊  1x  ⛶  ⚙️</a:t>
            </a:r>
          </a:p>
        </p:txBody>
      </p:sp>
      <p:sp>
        <p:nvSpPr>
          <p:cNvPr id="21" name="TextBox 20"/>
          <p:cNvSpPr txBox="1"/>
          <p:nvPr/>
        </p:nvSpPr>
        <p:spPr>
          <a:xfrm>
            <a:off x="7909560" y="1481328"/>
            <a:ext cx="4023360" cy="411480"/>
          </a:xfrm>
          <a:prstGeom prst="rect">
            <a:avLst/>
          </a:prstGeom>
          <a:noFill/>
        </p:spPr>
        <p:txBody>
          <a:bodyPr wrap="square">
            <a:spAutoFit/>
          </a:bodyPr>
          <a:lstStyle/>
          <a:p>
            <a:pPr algn="l"/>
            <a:r>
              <a:rPr sz="1300" b="1" i="0">
                <a:solidFill>
                  <a:srgbClr val="3E1D68"/>
                </a:solidFill>
                <a:latin typeface="Calibri"/>
              </a:rPr>
              <a:t>Video Controls Guide</a:t>
            </a:r>
          </a:p>
        </p:txBody>
      </p:sp>
      <p:sp>
        <p:nvSpPr>
          <p:cNvPr id="22" name="Rectangle 21"/>
          <p:cNvSpPr/>
          <p:nvPr/>
        </p:nvSpPr>
        <p:spPr>
          <a:xfrm>
            <a:off x="7909560" y="1874519"/>
            <a:ext cx="2743200" cy="36576"/>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09560" y="2011680"/>
            <a:ext cx="4023360" cy="53035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0" y="2066544"/>
            <a:ext cx="1371600" cy="237744"/>
          </a:xfrm>
          <a:prstGeom prst="rect">
            <a:avLst/>
          </a:prstGeom>
          <a:noFill/>
        </p:spPr>
        <p:txBody>
          <a:bodyPr wrap="square">
            <a:spAutoFit/>
          </a:bodyPr>
          <a:lstStyle/>
          <a:p>
            <a:pPr algn="l"/>
            <a:r>
              <a:rPr sz="900" b="1" i="0">
                <a:solidFill>
                  <a:srgbClr val="3E1D68"/>
                </a:solidFill>
                <a:latin typeface="Calibri"/>
              </a:rPr>
              <a:t>▶ / ⏸</a:t>
            </a:r>
          </a:p>
        </p:txBody>
      </p:sp>
      <p:sp>
        <p:nvSpPr>
          <p:cNvPr id="25" name="TextBox 24"/>
          <p:cNvSpPr txBox="1"/>
          <p:nvPr/>
        </p:nvSpPr>
        <p:spPr>
          <a:xfrm>
            <a:off x="8001000" y="2286000"/>
            <a:ext cx="3749039" cy="237744"/>
          </a:xfrm>
          <a:prstGeom prst="rect">
            <a:avLst/>
          </a:prstGeom>
          <a:noFill/>
        </p:spPr>
        <p:txBody>
          <a:bodyPr wrap="square">
            <a:spAutoFit/>
          </a:bodyPr>
          <a:lstStyle/>
          <a:p>
            <a:pPr algn="l"/>
            <a:r>
              <a:rPr sz="850" b="0" i="0">
                <a:solidFill>
                  <a:srgbClr val="333344"/>
                </a:solidFill>
                <a:latin typeface="Calibri"/>
              </a:rPr>
              <a:t>Play or pause the video</a:t>
            </a:r>
          </a:p>
        </p:txBody>
      </p:sp>
      <p:sp>
        <p:nvSpPr>
          <p:cNvPr id="26" name="Rectangle 25"/>
          <p:cNvSpPr/>
          <p:nvPr/>
        </p:nvSpPr>
        <p:spPr>
          <a:xfrm>
            <a:off x="7909560" y="2606040"/>
            <a:ext cx="4023360" cy="53035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0" y="2660904"/>
            <a:ext cx="1371600" cy="237744"/>
          </a:xfrm>
          <a:prstGeom prst="rect">
            <a:avLst/>
          </a:prstGeom>
          <a:noFill/>
        </p:spPr>
        <p:txBody>
          <a:bodyPr wrap="square">
            <a:spAutoFit/>
          </a:bodyPr>
          <a:lstStyle/>
          <a:p>
            <a:pPr algn="l"/>
            <a:r>
              <a:rPr sz="900" b="1" i="0">
                <a:solidFill>
                  <a:srgbClr val="3E1D68"/>
                </a:solidFill>
                <a:latin typeface="Calibri"/>
              </a:rPr>
              <a:t>⏮ / ⏭</a:t>
            </a:r>
          </a:p>
        </p:txBody>
      </p:sp>
      <p:sp>
        <p:nvSpPr>
          <p:cNvPr id="28" name="TextBox 27"/>
          <p:cNvSpPr txBox="1"/>
          <p:nvPr/>
        </p:nvSpPr>
        <p:spPr>
          <a:xfrm>
            <a:off x="8001000" y="2880360"/>
            <a:ext cx="3749039" cy="237744"/>
          </a:xfrm>
          <a:prstGeom prst="rect">
            <a:avLst/>
          </a:prstGeom>
          <a:noFill/>
        </p:spPr>
        <p:txBody>
          <a:bodyPr wrap="square">
            <a:spAutoFit/>
          </a:bodyPr>
          <a:lstStyle/>
          <a:p>
            <a:pPr algn="l"/>
            <a:r>
              <a:rPr sz="850" b="0" i="0">
                <a:solidFill>
                  <a:srgbClr val="333344"/>
                </a:solidFill>
                <a:latin typeface="Calibri"/>
              </a:rPr>
              <a:t>Skip to previous/next lecture</a:t>
            </a:r>
          </a:p>
        </p:txBody>
      </p:sp>
      <p:sp>
        <p:nvSpPr>
          <p:cNvPr id="29" name="Rectangle 28"/>
          <p:cNvSpPr/>
          <p:nvPr/>
        </p:nvSpPr>
        <p:spPr>
          <a:xfrm>
            <a:off x="7909560" y="3200400"/>
            <a:ext cx="4023360" cy="53035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01000" y="3255264"/>
            <a:ext cx="1371600" cy="237744"/>
          </a:xfrm>
          <a:prstGeom prst="rect">
            <a:avLst/>
          </a:prstGeom>
          <a:noFill/>
        </p:spPr>
        <p:txBody>
          <a:bodyPr wrap="square">
            <a:spAutoFit/>
          </a:bodyPr>
          <a:lstStyle/>
          <a:p>
            <a:pPr algn="l"/>
            <a:r>
              <a:rPr sz="900" b="1" i="0">
                <a:solidFill>
                  <a:srgbClr val="3E1D68"/>
                </a:solidFill>
                <a:latin typeface="Calibri"/>
              </a:rPr>
              <a:t>Progress bar</a:t>
            </a:r>
          </a:p>
        </p:txBody>
      </p:sp>
      <p:sp>
        <p:nvSpPr>
          <p:cNvPr id="31" name="TextBox 30"/>
          <p:cNvSpPr txBox="1"/>
          <p:nvPr/>
        </p:nvSpPr>
        <p:spPr>
          <a:xfrm>
            <a:off x="8001000" y="3474720"/>
            <a:ext cx="3749039" cy="237744"/>
          </a:xfrm>
          <a:prstGeom prst="rect">
            <a:avLst/>
          </a:prstGeom>
          <a:noFill/>
        </p:spPr>
        <p:txBody>
          <a:bodyPr wrap="square">
            <a:spAutoFit/>
          </a:bodyPr>
          <a:lstStyle/>
          <a:p>
            <a:pPr algn="l"/>
            <a:r>
              <a:rPr sz="850" b="0" i="0">
                <a:solidFill>
                  <a:srgbClr val="333344"/>
                </a:solidFill>
                <a:latin typeface="Calibri"/>
              </a:rPr>
              <a:t>Click anywhere to jump to a time</a:t>
            </a:r>
          </a:p>
        </p:txBody>
      </p:sp>
      <p:sp>
        <p:nvSpPr>
          <p:cNvPr id="32" name="Rectangle 31"/>
          <p:cNvSpPr/>
          <p:nvPr/>
        </p:nvSpPr>
        <p:spPr>
          <a:xfrm>
            <a:off x="7909560" y="3794760"/>
            <a:ext cx="4023360" cy="53035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01000" y="3849624"/>
            <a:ext cx="1371600" cy="237744"/>
          </a:xfrm>
          <a:prstGeom prst="rect">
            <a:avLst/>
          </a:prstGeom>
          <a:noFill/>
        </p:spPr>
        <p:txBody>
          <a:bodyPr wrap="square">
            <a:spAutoFit/>
          </a:bodyPr>
          <a:lstStyle/>
          <a:p>
            <a:pPr algn="l"/>
            <a:r>
              <a:rPr sz="900" b="1" i="0">
                <a:solidFill>
                  <a:srgbClr val="3E1D68"/>
                </a:solidFill>
                <a:latin typeface="Calibri"/>
              </a:rPr>
              <a:t>1x speed</a:t>
            </a:r>
          </a:p>
        </p:txBody>
      </p:sp>
      <p:sp>
        <p:nvSpPr>
          <p:cNvPr id="34" name="TextBox 33"/>
          <p:cNvSpPr txBox="1"/>
          <p:nvPr/>
        </p:nvSpPr>
        <p:spPr>
          <a:xfrm>
            <a:off x="8001000" y="4069080"/>
            <a:ext cx="3749039" cy="237744"/>
          </a:xfrm>
          <a:prstGeom prst="rect">
            <a:avLst/>
          </a:prstGeom>
          <a:noFill/>
        </p:spPr>
        <p:txBody>
          <a:bodyPr wrap="square">
            <a:spAutoFit/>
          </a:bodyPr>
          <a:lstStyle/>
          <a:p>
            <a:pPr algn="l"/>
            <a:r>
              <a:rPr sz="850" b="0" i="0">
                <a:solidFill>
                  <a:srgbClr val="333344"/>
                </a:solidFill>
                <a:latin typeface="Calibri"/>
              </a:rPr>
              <a:t>Change playback speed (0.75x – 2x)</a:t>
            </a:r>
          </a:p>
        </p:txBody>
      </p:sp>
      <p:sp>
        <p:nvSpPr>
          <p:cNvPr id="35" name="Rectangle 34"/>
          <p:cNvSpPr/>
          <p:nvPr/>
        </p:nvSpPr>
        <p:spPr>
          <a:xfrm>
            <a:off x="7909560" y="4389120"/>
            <a:ext cx="4023360" cy="53035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01000" y="4443984"/>
            <a:ext cx="1371600" cy="237744"/>
          </a:xfrm>
          <a:prstGeom prst="rect">
            <a:avLst/>
          </a:prstGeom>
          <a:noFill/>
        </p:spPr>
        <p:txBody>
          <a:bodyPr wrap="square">
            <a:spAutoFit/>
          </a:bodyPr>
          <a:lstStyle/>
          <a:p>
            <a:pPr algn="l"/>
            <a:r>
              <a:rPr sz="900" b="1" i="0">
                <a:solidFill>
                  <a:srgbClr val="3E1D68"/>
                </a:solidFill>
                <a:latin typeface="Calibri"/>
              </a:rPr>
              <a:t>⛶ fullscreen</a:t>
            </a:r>
          </a:p>
        </p:txBody>
      </p:sp>
      <p:sp>
        <p:nvSpPr>
          <p:cNvPr id="37" name="TextBox 36"/>
          <p:cNvSpPr txBox="1"/>
          <p:nvPr/>
        </p:nvSpPr>
        <p:spPr>
          <a:xfrm>
            <a:off x="8001000" y="4663440"/>
            <a:ext cx="3749039" cy="237744"/>
          </a:xfrm>
          <a:prstGeom prst="rect">
            <a:avLst/>
          </a:prstGeom>
          <a:noFill/>
        </p:spPr>
        <p:txBody>
          <a:bodyPr wrap="square">
            <a:spAutoFit/>
          </a:bodyPr>
          <a:lstStyle/>
          <a:p>
            <a:pPr algn="l"/>
            <a:r>
              <a:rPr sz="850" b="0" i="0">
                <a:solidFill>
                  <a:srgbClr val="333344"/>
                </a:solidFill>
                <a:latin typeface="Calibri"/>
              </a:rPr>
              <a:t>Watch in full-screen mode</a:t>
            </a:r>
          </a:p>
        </p:txBody>
      </p:sp>
      <p:sp>
        <p:nvSpPr>
          <p:cNvPr id="38" name="Rectangle 37"/>
          <p:cNvSpPr/>
          <p:nvPr/>
        </p:nvSpPr>
        <p:spPr>
          <a:xfrm>
            <a:off x="7909560" y="4983480"/>
            <a:ext cx="4023360" cy="53035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01000" y="5038344"/>
            <a:ext cx="1371600" cy="237744"/>
          </a:xfrm>
          <a:prstGeom prst="rect">
            <a:avLst/>
          </a:prstGeom>
          <a:noFill/>
        </p:spPr>
        <p:txBody>
          <a:bodyPr wrap="square">
            <a:spAutoFit/>
          </a:bodyPr>
          <a:lstStyle/>
          <a:p>
            <a:pPr algn="l"/>
            <a:r>
              <a:rPr sz="900" b="1" i="0">
                <a:solidFill>
                  <a:srgbClr val="3E1D68"/>
                </a:solidFill>
                <a:latin typeface="Calibri"/>
              </a:rPr>
              <a:t>⚙️ settings</a:t>
            </a:r>
          </a:p>
        </p:txBody>
      </p:sp>
      <p:sp>
        <p:nvSpPr>
          <p:cNvPr id="40" name="TextBox 39"/>
          <p:cNvSpPr txBox="1"/>
          <p:nvPr/>
        </p:nvSpPr>
        <p:spPr>
          <a:xfrm>
            <a:off x="8001000" y="5257800"/>
            <a:ext cx="3749039" cy="237744"/>
          </a:xfrm>
          <a:prstGeom prst="rect">
            <a:avLst/>
          </a:prstGeom>
          <a:noFill/>
        </p:spPr>
        <p:txBody>
          <a:bodyPr wrap="square">
            <a:spAutoFit/>
          </a:bodyPr>
          <a:lstStyle/>
          <a:p>
            <a:pPr algn="l"/>
            <a:r>
              <a:rPr sz="850" b="0" i="0">
                <a:solidFill>
                  <a:srgbClr val="333344"/>
                </a:solidFill>
                <a:latin typeface="Calibri"/>
              </a:rPr>
              <a:t>Change quality or subtitles</a:t>
            </a:r>
          </a:p>
        </p:txBody>
      </p:sp>
      <p:sp>
        <p:nvSpPr>
          <p:cNvPr id="41" name="Rectangle 40"/>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84048" y="6053328"/>
            <a:ext cx="329184" cy="32918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95528" y="6102706"/>
            <a:ext cx="230428" cy="230428"/>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1324" y="6102706"/>
            <a:ext cx="230428" cy="230428"/>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33426" y="6464808"/>
            <a:ext cx="230428" cy="230428"/>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3426" y="5740604"/>
            <a:ext cx="230428" cy="230428"/>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01168"/>
            <a:ext cx="1828800" cy="457200"/>
          </a:xfrm>
          <a:prstGeom prst="rect">
            <a:avLst/>
          </a:prstGeom>
          <a:noFill/>
        </p:spPr>
        <p:txBody>
          <a:bodyPr wrap="square">
            <a:spAutoFit/>
          </a:bodyPr>
          <a:lstStyle/>
          <a:p>
            <a:pPr algn="l"/>
            <a:r>
              <a:rPr sz="900" b="1" i="0">
                <a:solidFill>
                  <a:srgbClr val="C98BA6"/>
                </a:solidFill>
                <a:latin typeface="Calibri"/>
              </a:rPr>
              <a:t>RESOURCES</a:t>
            </a:r>
          </a:p>
        </p:txBody>
      </p:sp>
      <p:sp>
        <p:nvSpPr>
          <p:cNvPr id="12" name="TextBox 11"/>
          <p:cNvSpPr txBox="1"/>
          <p:nvPr/>
        </p:nvSpPr>
        <p:spPr>
          <a:xfrm>
            <a:off x="457200" y="475488"/>
            <a:ext cx="9144000" cy="640080"/>
          </a:xfrm>
          <a:prstGeom prst="rect">
            <a:avLst/>
          </a:prstGeom>
          <a:noFill/>
        </p:spPr>
        <p:txBody>
          <a:bodyPr wrap="square">
            <a:spAutoFit/>
          </a:bodyPr>
          <a:lstStyle/>
          <a:p>
            <a:pPr algn="l"/>
            <a:r>
              <a:rPr sz="2800" b="1" i="0">
                <a:solidFill>
                  <a:srgbClr val="FFFFFF"/>
                </a:solidFill>
                <a:latin typeface="Calibri"/>
              </a:rPr>
              <a:t>Accessing Study Materials</a:t>
            </a:r>
          </a:p>
        </p:txBody>
      </p:sp>
      <p:sp>
        <p:nvSpPr>
          <p:cNvPr id="13" name="Rectangle 12"/>
          <p:cNvSpPr/>
          <p:nvPr/>
        </p:nvSpPr>
        <p:spPr>
          <a:xfrm>
            <a:off x="457200" y="1627632"/>
            <a:ext cx="5577840" cy="2212848"/>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810512"/>
            <a:ext cx="640080" cy="640080"/>
          </a:xfrm>
          <a:prstGeom prst="rect">
            <a:avLst/>
          </a:prstGeom>
          <a:noFill/>
        </p:spPr>
        <p:txBody>
          <a:bodyPr wrap="square">
            <a:spAutoFit/>
          </a:bodyPr>
          <a:lstStyle/>
          <a:p>
            <a:pPr algn="l"/>
            <a:r>
              <a:rPr sz="2800" b="0" i="0">
                <a:solidFill>
                  <a:srgbClr val="C98BA6"/>
                </a:solidFill>
                <a:latin typeface="Calibri"/>
              </a:rPr>
              <a:t>📝</a:t>
            </a:r>
          </a:p>
        </p:txBody>
      </p:sp>
      <p:sp>
        <p:nvSpPr>
          <p:cNvPr id="15" name="TextBox 14"/>
          <p:cNvSpPr txBox="1"/>
          <p:nvPr/>
        </p:nvSpPr>
        <p:spPr>
          <a:xfrm>
            <a:off x="1325880" y="1792224"/>
            <a:ext cx="4572000" cy="384048"/>
          </a:xfrm>
          <a:prstGeom prst="rect">
            <a:avLst/>
          </a:prstGeom>
          <a:noFill/>
        </p:spPr>
        <p:txBody>
          <a:bodyPr wrap="square">
            <a:spAutoFit/>
          </a:bodyPr>
          <a:lstStyle/>
          <a:p>
            <a:pPr algn="l"/>
            <a:r>
              <a:rPr sz="1300" b="1" i="0">
                <a:solidFill>
                  <a:srgbClr val="FFFFFF"/>
                </a:solidFill>
                <a:latin typeface="Calibri"/>
              </a:rPr>
              <a:t>Lecture Notes</a:t>
            </a:r>
          </a:p>
        </p:txBody>
      </p:sp>
      <p:sp>
        <p:nvSpPr>
          <p:cNvPr id="16" name="TextBox 15"/>
          <p:cNvSpPr txBox="1"/>
          <p:nvPr/>
        </p:nvSpPr>
        <p:spPr>
          <a:xfrm>
            <a:off x="1325880" y="2176272"/>
            <a:ext cx="4572000" cy="502920"/>
          </a:xfrm>
          <a:prstGeom prst="rect">
            <a:avLst/>
          </a:prstGeom>
          <a:noFill/>
        </p:spPr>
        <p:txBody>
          <a:bodyPr wrap="square">
            <a:spAutoFit/>
          </a:bodyPr>
          <a:lstStyle/>
          <a:p>
            <a:pPr algn="l"/>
            <a:r>
              <a:rPr sz="900" b="0" i="0">
                <a:solidFill>
                  <a:srgbClr val="C98BA6"/>
                </a:solidFill>
                <a:latin typeface="Calibri"/>
              </a:rPr>
              <a:t>Comprehensive PDF notes for each chapter,
aligned with the video content.</a:t>
            </a:r>
          </a:p>
        </p:txBody>
      </p:sp>
      <p:sp>
        <p:nvSpPr>
          <p:cNvPr id="17" name="TextBox 16"/>
          <p:cNvSpPr txBox="1"/>
          <p:nvPr/>
        </p:nvSpPr>
        <p:spPr>
          <a:xfrm>
            <a:off x="621792" y="2798064"/>
            <a:ext cx="2560320" cy="347472"/>
          </a:xfrm>
          <a:prstGeom prst="rect">
            <a:avLst/>
          </a:prstGeom>
          <a:noFill/>
        </p:spPr>
        <p:txBody>
          <a:bodyPr wrap="square">
            <a:spAutoFit/>
          </a:bodyPr>
          <a:lstStyle/>
          <a:p>
            <a:pPr algn="l"/>
            <a:r>
              <a:rPr sz="850" b="0" i="0">
                <a:solidFill>
                  <a:srgbClr val="FFFFFF"/>
                </a:solidFill>
                <a:latin typeface="Calibri"/>
              </a:rPr>
              <a:t>✓  Chapter summaries</a:t>
            </a:r>
          </a:p>
        </p:txBody>
      </p:sp>
      <p:sp>
        <p:nvSpPr>
          <p:cNvPr id="18" name="TextBox 17"/>
          <p:cNvSpPr txBox="1"/>
          <p:nvPr/>
        </p:nvSpPr>
        <p:spPr>
          <a:xfrm>
            <a:off x="3319272" y="2798064"/>
            <a:ext cx="2560320" cy="347472"/>
          </a:xfrm>
          <a:prstGeom prst="rect">
            <a:avLst/>
          </a:prstGeom>
          <a:noFill/>
        </p:spPr>
        <p:txBody>
          <a:bodyPr wrap="square">
            <a:spAutoFit/>
          </a:bodyPr>
          <a:lstStyle/>
          <a:p>
            <a:pPr algn="l"/>
            <a:r>
              <a:rPr sz="850" b="0" i="0">
                <a:solidFill>
                  <a:srgbClr val="FFFFFF"/>
                </a:solidFill>
                <a:latin typeface="Calibri"/>
              </a:rPr>
              <a:t>✓  Key definitions</a:t>
            </a:r>
          </a:p>
        </p:txBody>
      </p:sp>
      <p:sp>
        <p:nvSpPr>
          <p:cNvPr id="19" name="TextBox 18"/>
          <p:cNvSpPr txBox="1"/>
          <p:nvPr/>
        </p:nvSpPr>
        <p:spPr>
          <a:xfrm>
            <a:off x="621792" y="3209544"/>
            <a:ext cx="2560320" cy="347472"/>
          </a:xfrm>
          <a:prstGeom prst="rect">
            <a:avLst/>
          </a:prstGeom>
          <a:noFill/>
        </p:spPr>
        <p:txBody>
          <a:bodyPr wrap="square">
            <a:spAutoFit/>
          </a:bodyPr>
          <a:lstStyle/>
          <a:p>
            <a:pPr algn="l"/>
            <a:r>
              <a:rPr sz="850" b="0" i="0">
                <a:solidFill>
                  <a:srgbClr val="FFFFFF"/>
                </a:solidFill>
                <a:latin typeface="Calibri"/>
              </a:rPr>
              <a:t>✓  Important equations</a:t>
            </a:r>
          </a:p>
        </p:txBody>
      </p:sp>
      <p:sp>
        <p:nvSpPr>
          <p:cNvPr id="20" name="TextBox 19"/>
          <p:cNvSpPr txBox="1"/>
          <p:nvPr/>
        </p:nvSpPr>
        <p:spPr>
          <a:xfrm>
            <a:off x="3319272" y="3209544"/>
            <a:ext cx="2560320" cy="347472"/>
          </a:xfrm>
          <a:prstGeom prst="rect">
            <a:avLst/>
          </a:prstGeom>
          <a:noFill/>
        </p:spPr>
        <p:txBody>
          <a:bodyPr wrap="square">
            <a:spAutoFit/>
          </a:bodyPr>
          <a:lstStyle/>
          <a:p>
            <a:pPr algn="l"/>
            <a:r>
              <a:rPr sz="850" b="0" i="0">
                <a:solidFill>
                  <a:srgbClr val="FFFFFF"/>
                </a:solidFill>
                <a:latin typeface="Calibri"/>
              </a:rPr>
              <a:t>✓  Diagrams &amp; charts</a:t>
            </a:r>
          </a:p>
        </p:txBody>
      </p:sp>
      <p:sp>
        <p:nvSpPr>
          <p:cNvPr id="21" name="Rectangle 20"/>
          <p:cNvSpPr/>
          <p:nvPr/>
        </p:nvSpPr>
        <p:spPr>
          <a:xfrm>
            <a:off x="6263640" y="1627632"/>
            <a:ext cx="5577840" cy="2212848"/>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1810512"/>
            <a:ext cx="640080" cy="640080"/>
          </a:xfrm>
          <a:prstGeom prst="rect">
            <a:avLst/>
          </a:prstGeom>
          <a:noFill/>
        </p:spPr>
        <p:txBody>
          <a:bodyPr wrap="square">
            <a:spAutoFit/>
          </a:bodyPr>
          <a:lstStyle/>
          <a:p>
            <a:pPr algn="l"/>
            <a:r>
              <a:rPr sz="2800" b="0" i="0">
                <a:solidFill>
                  <a:srgbClr val="C98BA6"/>
                </a:solidFill>
                <a:latin typeface="Calibri"/>
              </a:rPr>
              <a:t>🧮</a:t>
            </a:r>
          </a:p>
        </p:txBody>
      </p:sp>
      <p:sp>
        <p:nvSpPr>
          <p:cNvPr id="23" name="TextBox 22"/>
          <p:cNvSpPr txBox="1"/>
          <p:nvPr/>
        </p:nvSpPr>
        <p:spPr>
          <a:xfrm>
            <a:off x="7132320" y="1792224"/>
            <a:ext cx="4572000" cy="384048"/>
          </a:xfrm>
          <a:prstGeom prst="rect">
            <a:avLst/>
          </a:prstGeom>
          <a:noFill/>
        </p:spPr>
        <p:txBody>
          <a:bodyPr wrap="square">
            <a:spAutoFit/>
          </a:bodyPr>
          <a:lstStyle/>
          <a:p>
            <a:pPr algn="l"/>
            <a:r>
              <a:rPr sz="1300" b="1" i="0">
                <a:solidFill>
                  <a:srgbClr val="FFFFFF"/>
                </a:solidFill>
                <a:latin typeface="Calibri"/>
              </a:rPr>
              <a:t>Formula Sheets</a:t>
            </a:r>
          </a:p>
        </p:txBody>
      </p:sp>
      <p:sp>
        <p:nvSpPr>
          <p:cNvPr id="24" name="TextBox 23"/>
          <p:cNvSpPr txBox="1"/>
          <p:nvPr/>
        </p:nvSpPr>
        <p:spPr>
          <a:xfrm>
            <a:off x="7132320" y="2176272"/>
            <a:ext cx="4572000" cy="502920"/>
          </a:xfrm>
          <a:prstGeom prst="rect">
            <a:avLst/>
          </a:prstGeom>
          <a:noFill/>
        </p:spPr>
        <p:txBody>
          <a:bodyPr wrap="square">
            <a:spAutoFit/>
          </a:bodyPr>
          <a:lstStyle/>
          <a:p>
            <a:pPr algn="l"/>
            <a:r>
              <a:rPr sz="900" b="0" i="0">
                <a:solidFill>
                  <a:srgbClr val="C98BA6"/>
                </a:solidFill>
                <a:latin typeface="Calibri"/>
              </a:rPr>
              <a:t>Quick-reference sheets with all formulas
you need for exams.</a:t>
            </a:r>
          </a:p>
        </p:txBody>
      </p:sp>
      <p:sp>
        <p:nvSpPr>
          <p:cNvPr id="25" name="TextBox 24"/>
          <p:cNvSpPr txBox="1"/>
          <p:nvPr/>
        </p:nvSpPr>
        <p:spPr>
          <a:xfrm>
            <a:off x="6428232" y="2798064"/>
            <a:ext cx="2560320" cy="347472"/>
          </a:xfrm>
          <a:prstGeom prst="rect">
            <a:avLst/>
          </a:prstGeom>
          <a:noFill/>
        </p:spPr>
        <p:txBody>
          <a:bodyPr wrap="square">
            <a:spAutoFit/>
          </a:bodyPr>
          <a:lstStyle/>
          <a:p>
            <a:pPr algn="l"/>
            <a:r>
              <a:rPr sz="850" b="0" i="0">
                <a:solidFill>
                  <a:srgbClr val="FFFFFF"/>
                </a:solidFill>
                <a:latin typeface="Calibri"/>
              </a:rPr>
              <a:t>✓  Organized by topic</a:t>
            </a:r>
          </a:p>
        </p:txBody>
      </p:sp>
      <p:sp>
        <p:nvSpPr>
          <p:cNvPr id="26" name="TextBox 25"/>
          <p:cNvSpPr txBox="1"/>
          <p:nvPr/>
        </p:nvSpPr>
        <p:spPr>
          <a:xfrm>
            <a:off x="9125712" y="2798064"/>
            <a:ext cx="2560320" cy="347472"/>
          </a:xfrm>
          <a:prstGeom prst="rect">
            <a:avLst/>
          </a:prstGeom>
          <a:noFill/>
        </p:spPr>
        <p:txBody>
          <a:bodyPr wrap="square">
            <a:spAutoFit/>
          </a:bodyPr>
          <a:lstStyle/>
          <a:p>
            <a:pPr algn="l"/>
            <a:r>
              <a:rPr sz="850" b="0" i="0">
                <a:solidFill>
                  <a:srgbClr val="FFFFFF"/>
                </a:solidFill>
                <a:latin typeface="Calibri"/>
              </a:rPr>
              <a:t>✓  With units &amp; constants</a:t>
            </a:r>
          </a:p>
        </p:txBody>
      </p:sp>
      <p:sp>
        <p:nvSpPr>
          <p:cNvPr id="27" name="TextBox 26"/>
          <p:cNvSpPr txBox="1"/>
          <p:nvPr/>
        </p:nvSpPr>
        <p:spPr>
          <a:xfrm>
            <a:off x="6428232" y="3209544"/>
            <a:ext cx="2560320" cy="347472"/>
          </a:xfrm>
          <a:prstGeom prst="rect">
            <a:avLst/>
          </a:prstGeom>
          <a:noFill/>
        </p:spPr>
        <p:txBody>
          <a:bodyPr wrap="square">
            <a:spAutoFit/>
          </a:bodyPr>
          <a:lstStyle/>
          <a:p>
            <a:pPr algn="l"/>
            <a:r>
              <a:rPr sz="850" b="0" i="0">
                <a:solidFill>
                  <a:srgbClr val="FFFFFF"/>
                </a:solidFill>
                <a:latin typeface="Calibri"/>
              </a:rPr>
              <a:t>✓  Exam-ready format</a:t>
            </a:r>
          </a:p>
        </p:txBody>
      </p:sp>
      <p:sp>
        <p:nvSpPr>
          <p:cNvPr id="28" name="TextBox 27"/>
          <p:cNvSpPr txBox="1"/>
          <p:nvPr/>
        </p:nvSpPr>
        <p:spPr>
          <a:xfrm>
            <a:off x="9125712" y="3209544"/>
            <a:ext cx="2560320" cy="347472"/>
          </a:xfrm>
          <a:prstGeom prst="rect">
            <a:avLst/>
          </a:prstGeom>
          <a:noFill/>
        </p:spPr>
        <p:txBody>
          <a:bodyPr wrap="square">
            <a:spAutoFit/>
          </a:bodyPr>
          <a:lstStyle/>
          <a:p>
            <a:pPr algn="l"/>
            <a:r>
              <a:rPr sz="850" b="0" i="0">
                <a:solidFill>
                  <a:srgbClr val="FFFFFF"/>
                </a:solidFill>
                <a:latin typeface="Calibri"/>
              </a:rPr>
              <a:t>✓  Printable PDF</a:t>
            </a:r>
          </a:p>
        </p:txBody>
      </p:sp>
      <p:sp>
        <p:nvSpPr>
          <p:cNvPr id="29" name="Rectangle 28"/>
          <p:cNvSpPr/>
          <p:nvPr/>
        </p:nvSpPr>
        <p:spPr>
          <a:xfrm>
            <a:off x="457200" y="3986784"/>
            <a:ext cx="5577840" cy="2212848"/>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4169664"/>
            <a:ext cx="640080" cy="640080"/>
          </a:xfrm>
          <a:prstGeom prst="rect">
            <a:avLst/>
          </a:prstGeom>
          <a:noFill/>
        </p:spPr>
        <p:txBody>
          <a:bodyPr wrap="square">
            <a:spAutoFit/>
          </a:bodyPr>
          <a:lstStyle/>
          <a:p>
            <a:pPr algn="l"/>
            <a:r>
              <a:rPr sz="2800" b="0" i="0">
                <a:solidFill>
                  <a:srgbClr val="C98BA6"/>
                </a:solidFill>
                <a:latin typeface="Calibri"/>
              </a:rPr>
              <a:t>📖</a:t>
            </a:r>
          </a:p>
        </p:txBody>
      </p:sp>
      <p:sp>
        <p:nvSpPr>
          <p:cNvPr id="31" name="TextBox 30"/>
          <p:cNvSpPr txBox="1"/>
          <p:nvPr/>
        </p:nvSpPr>
        <p:spPr>
          <a:xfrm>
            <a:off x="1325880" y="4151376"/>
            <a:ext cx="4572000" cy="384048"/>
          </a:xfrm>
          <a:prstGeom prst="rect">
            <a:avLst/>
          </a:prstGeom>
          <a:noFill/>
        </p:spPr>
        <p:txBody>
          <a:bodyPr wrap="square">
            <a:spAutoFit/>
          </a:bodyPr>
          <a:lstStyle/>
          <a:p>
            <a:pPr algn="l"/>
            <a:r>
              <a:rPr sz="1300" b="1" i="0">
                <a:solidFill>
                  <a:srgbClr val="FFFFFF"/>
                </a:solidFill>
                <a:latin typeface="Calibri"/>
              </a:rPr>
              <a:t>Chapter Summaries</a:t>
            </a:r>
          </a:p>
        </p:txBody>
      </p:sp>
      <p:sp>
        <p:nvSpPr>
          <p:cNvPr id="32" name="TextBox 31"/>
          <p:cNvSpPr txBox="1"/>
          <p:nvPr/>
        </p:nvSpPr>
        <p:spPr>
          <a:xfrm>
            <a:off x="1325880" y="4535424"/>
            <a:ext cx="4572000" cy="502920"/>
          </a:xfrm>
          <a:prstGeom prst="rect">
            <a:avLst/>
          </a:prstGeom>
          <a:noFill/>
        </p:spPr>
        <p:txBody>
          <a:bodyPr wrap="square">
            <a:spAutoFit/>
          </a:bodyPr>
          <a:lstStyle/>
          <a:p>
            <a:pPr algn="l"/>
            <a:r>
              <a:rPr sz="900" b="0" i="0">
                <a:solidFill>
                  <a:srgbClr val="C98BA6"/>
                </a:solidFill>
                <a:latin typeface="Calibri"/>
              </a:rPr>
              <a:t>Condensed review sheets highlighting
the most critical concepts.</a:t>
            </a:r>
          </a:p>
        </p:txBody>
      </p:sp>
      <p:sp>
        <p:nvSpPr>
          <p:cNvPr id="33" name="TextBox 32"/>
          <p:cNvSpPr txBox="1"/>
          <p:nvPr/>
        </p:nvSpPr>
        <p:spPr>
          <a:xfrm>
            <a:off x="621792" y="5157216"/>
            <a:ext cx="2560320" cy="347472"/>
          </a:xfrm>
          <a:prstGeom prst="rect">
            <a:avLst/>
          </a:prstGeom>
          <a:noFill/>
        </p:spPr>
        <p:txBody>
          <a:bodyPr wrap="square">
            <a:spAutoFit/>
          </a:bodyPr>
          <a:lstStyle/>
          <a:p>
            <a:pPr algn="l"/>
            <a:r>
              <a:rPr sz="850" b="0" i="0">
                <a:solidFill>
                  <a:srgbClr val="FFFFFF"/>
                </a:solidFill>
                <a:latin typeface="Calibri"/>
              </a:rPr>
              <a:t>✓  Bullet-point format</a:t>
            </a:r>
          </a:p>
        </p:txBody>
      </p:sp>
      <p:sp>
        <p:nvSpPr>
          <p:cNvPr id="34" name="TextBox 33"/>
          <p:cNvSpPr txBox="1"/>
          <p:nvPr/>
        </p:nvSpPr>
        <p:spPr>
          <a:xfrm>
            <a:off x="3319272" y="5157216"/>
            <a:ext cx="2560320" cy="347472"/>
          </a:xfrm>
          <a:prstGeom prst="rect">
            <a:avLst/>
          </a:prstGeom>
          <a:noFill/>
        </p:spPr>
        <p:txBody>
          <a:bodyPr wrap="square">
            <a:spAutoFit/>
          </a:bodyPr>
          <a:lstStyle/>
          <a:p>
            <a:pPr algn="l"/>
            <a:r>
              <a:rPr sz="850" b="0" i="0">
                <a:solidFill>
                  <a:srgbClr val="FFFFFF"/>
                </a:solidFill>
                <a:latin typeface="Calibri"/>
              </a:rPr>
              <a:t>✓  Topic overview</a:t>
            </a:r>
          </a:p>
        </p:txBody>
      </p:sp>
      <p:sp>
        <p:nvSpPr>
          <p:cNvPr id="35" name="TextBox 34"/>
          <p:cNvSpPr txBox="1"/>
          <p:nvPr/>
        </p:nvSpPr>
        <p:spPr>
          <a:xfrm>
            <a:off x="621792" y="5568696"/>
            <a:ext cx="2560320" cy="347472"/>
          </a:xfrm>
          <a:prstGeom prst="rect">
            <a:avLst/>
          </a:prstGeom>
          <a:noFill/>
        </p:spPr>
        <p:txBody>
          <a:bodyPr wrap="square">
            <a:spAutoFit/>
          </a:bodyPr>
          <a:lstStyle/>
          <a:p>
            <a:pPr algn="l"/>
            <a:r>
              <a:rPr sz="850" b="0" i="0">
                <a:solidFill>
                  <a:srgbClr val="FFFFFF"/>
                </a:solidFill>
                <a:latin typeface="Calibri"/>
              </a:rPr>
              <a:t>✓  Concept maps</a:t>
            </a:r>
          </a:p>
        </p:txBody>
      </p:sp>
      <p:sp>
        <p:nvSpPr>
          <p:cNvPr id="36" name="TextBox 35"/>
          <p:cNvSpPr txBox="1"/>
          <p:nvPr/>
        </p:nvSpPr>
        <p:spPr>
          <a:xfrm>
            <a:off x="3319272" y="5568696"/>
            <a:ext cx="2560320" cy="347472"/>
          </a:xfrm>
          <a:prstGeom prst="rect">
            <a:avLst/>
          </a:prstGeom>
          <a:noFill/>
        </p:spPr>
        <p:txBody>
          <a:bodyPr wrap="square">
            <a:spAutoFit/>
          </a:bodyPr>
          <a:lstStyle/>
          <a:p>
            <a:pPr algn="l"/>
            <a:r>
              <a:rPr sz="850" b="0" i="0">
                <a:solidFill>
                  <a:srgbClr val="FFFFFF"/>
                </a:solidFill>
                <a:latin typeface="Calibri"/>
              </a:rPr>
              <a:t>✓  Key takeaways</a:t>
            </a:r>
          </a:p>
        </p:txBody>
      </p:sp>
      <p:sp>
        <p:nvSpPr>
          <p:cNvPr id="37" name="Rectangle 36"/>
          <p:cNvSpPr/>
          <p:nvPr/>
        </p:nvSpPr>
        <p:spPr>
          <a:xfrm>
            <a:off x="6263640" y="3986784"/>
            <a:ext cx="5577840" cy="2212848"/>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28232" y="4169664"/>
            <a:ext cx="640080" cy="640080"/>
          </a:xfrm>
          <a:prstGeom prst="rect">
            <a:avLst/>
          </a:prstGeom>
          <a:noFill/>
        </p:spPr>
        <p:txBody>
          <a:bodyPr wrap="square">
            <a:spAutoFit/>
          </a:bodyPr>
          <a:lstStyle/>
          <a:p>
            <a:pPr algn="l"/>
            <a:r>
              <a:rPr sz="2800" b="0" i="0">
                <a:solidFill>
                  <a:srgbClr val="C98BA6"/>
                </a:solidFill>
                <a:latin typeface="Calibri"/>
              </a:rPr>
              <a:t>📥</a:t>
            </a:r>
          </a:p>
        </p:txBody>
      </p:sp>
      <p:sp>
        <p:nvSpPr>
          <p:cNvPr id="39" name="TextBox 38"/>
          <p:cNvSpPr txBox="1"/>
          <p:nvPr/>
        </p:nvSpPr>
        <p:spPr>
          <a:xfrm>
            <a:off x="7132320" y="4151376"/>
            <a:ext cx="4572000" cy="384048"/>
          </a:xfrm>
          <a:prstGeom prst="rect">
            <a:avLst/>
          </a:prstGeom>
          <a:noFill/>
        </p:spPr>
        <p:txBody>
          <a:bodyPr wrap="square">
            <a:spAutoFit/>
          </a:bodyPr>
          <a:lstStyle/>
          <a:p>
            <a:pPr algn="l"/>
            <a:r>
              <a:rPr sz="1300" b="1" i="0">
                <a:solidFill>
                  <a:srgbClr val="FFFFFF"/>
                </a:solidFill>
                <a:latin typeface="Calibri"/>
              </a:rPr>
              <a:t>Downloadable Files</a:t>
            </a:r>
          </a:p>
        </p:txBody>
      </p:sp>
      <p:sp>
        <p:nvSpPr>
          <p:cNvPr id="40" name="TextBox 39"/>
          <p:cNvSpPr txBox="1"/>
          <p:nvPr/>
        </p:nvSpPr>
        <p:spPr>
          <a:xfrm>
            <a:off x="7132320" y="4535424"/>
            <a:ext cx="4572000" cy="502920"/>
          </a:xfrm>
          <a:prstGeom prst="rect">
            <a:avLst/>
          </a:prstGeom>
          <a:noFill/>
        </p:spPr>
        <p:txBody>
          <a:bodyPr wrap="square">
            <a:spAutoFit/>
          </a:bodyPr>
          <a:lstStyle/>
          <a:p>
            <a:pPr algn="l"/>
            <a:r>
              <a:rPr sz="900" b="0" i="0">
                <a:solidFill>
                  <a:srgbClr val="C98BA6"/>
                </a:solidFill>
                <a:latin typeface="Calibri"/>
              </a:rPr>
              <a:t>All materials available for offline study —
download and study anywhere.</a:t>
            </a:r>
          </a:p>
        </p:txBody>
      </p:sp>
      <p:sp>
        <p:nvSpPr>
          <p:cNvPr id="41" name="TextBox 40"/>
          <p:cNvSpPr txBox="1"/>
          <p:nvPr/>
        </p:nvSpPr>
        <p:spPr>
          <a:xfrm>
            <a:off x="6428232" y="5157216"/>
            <a:ext cx="2560320" cy="347472"/>
          </a:xfrm>
          <a:prstGeom prst="rect">
            <a:avLst/>
          </a:prstGeom>
          <a:noFill/>
        </p:spPr>
        <p:txBody>
          <a:bodyPr wrap="square">
            <a:spAutoFit/>
          </a:bodyPr>
          <a:lstStyle/>
          <a:p>
            <a:pPr algn="l"/>
            <a:r>
              <a:rPr sz="850" b="0" i="0">
                <a:solidFill>
                  <a:srgbClr val="FFFFFF"/>
                </a:solidFill>
                <a:latin typeface="Calibri"/>
              </a:rPr>
              <a:t>✓  PDF format</a:t>
            </a:r>
          </a:p>
        </p:txBody>
      </p:sp>
      <p:sp>
        <p:nvSpPr>
          <p:cNvPr id="42" name="TextBox 41"/>
          <p:cNvSpPr txBox="1"/>
          <p:nvPr/>
        </p:nvSpPr>
        <p:spPr>
          <a:xfrm>
            <a:off x="9125712" y="5157216"/>
            <a:ext cx="2560320" cy="347472"/>
          </a:xfrm>
          <a:prstGeom prst="rect">
            <a:avLst/>
          </a:prstGeom>
          <a:noFill/>
        </p:spPr>
        <p:txBody>
          <a:bodyPr wrap="square">
            <a:spAutoFit/>
          </a:bodyPr>
          <a:lstStyle/>
          <a:p>
            <a:pPr algn="l"/>
            <a:r>
              <a:rPr sz="850" b="0" i="0">
                <a:solidFill>
                  <a:srgbClr val="FFFFFF"/>
                </a:solidFill>
                <a:latin typeface="Calibri"/>
              </a:rPr>
              <a:t>✓  High quality print</a:t>
            </a:r>
          </a:p>
        </p:txBody>
      </p:sp>
      <p:sp>
        <p:nvSpPr>
          <p:cNvPr id="43" name="TextBox 42"/>
          <p:cNvSpPr txBox="1"/>
          <p:nvPr/>
        </p:nvSpPr>
        <p:spPr>
          <a:xfrm>
            <a:off x="6428232" y="5568696"/>
            <a:ext cx="2560320" cy="347472"/>
          </a:xfrm>
          <a:prstGeom prst="rect">
            <a:avLst/>
          </a:prstGeom>
          <a:noFill/>
        </p:spPr>
        <p:txBody>
          <a:bodyPr wrap="square">
            <a:spAutoFit/>
          </a:bodyPr>
          <a:lstStyle/>
          <a:p>
            <a:pPr algn="l"/>
            <a:r>
              <a:rPr sz="850" b="0" i="0">
                <a:solidFill>
                  <a:srgbClr val="FFFFFF"/>
                </a:solidFill>
                <a:latin typeface="Calibri"/>
              </a:rPr>
              <a:t>✓  Mobile-friendly</a:t>
            </a:r>
          </a:p>
        </p:txBody>
      </p:sp>
      <p:sp>
        <p:nvSpPr>
          <p:cNvPr id="44" name="TextBox 43"/>
          <p:cNvSpPr txBox="1"/>
          <p:nvPr/>
        </p:nvSpPr>
        <p:spPr>
          <a:xfrm>
            <a:off x="9125712" y="5568696"/>
            <a:ext cx="2560320" cy="347472"/>
          </a:xfrm>
          <a:prstGeom prst="rect">
            <a:avLst/>
          </a:prstGeom>
          <a:noFill/>
        </p:spPr>
        <p:txBody>
          <a:bodyPr wrap="square">
            <a:spAutoFit/>
          </a:bodyPr>
          <a:lstStyle/>
          <a:p>
            <a:pPr algn="l"/>
            <a:r>
              <a:rPr sz="850" b="0" i="0">
                <a:solidFill>
                  <a:srgbClr val="FFFFFF"/>
                </a:solidFill>
                <a:latin typeface="Calibri"/>
              </a:rPr>
              <a:t>✓  Free to download</a:t>
            </a:r>
          </a:p>
        </p:txBody>
      </p:sp>
      <p:sp>
        <p:nvSpPr>
          <p:cNvPr id="45" name="Rectangle 44"/>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
            <a:ext cx="1828800" cy="457200"/>
          </a:xfrm>
          <a:prstGeom prst="rect">
            <a:avLst/>
          </a:prstGeom>
          <a:noFill/>
        </p:spPr>
        <p:txBody>
          <a:bodyPr wrap="square">
            <a:spAutoFit/>
          </a:bodyPr>
          <a:lstStyle/>
          <a:p>
            <a:pPr algn="l"/>
            <a:r>
              <a:rPr sz="900" b="1" i="0">
                <a:solidFill>
                  <a:srgbClr val="C98BA6"/>
                </a:solidFill>
                <a:latin typeface="Calibri"/>
              </a:rPr>
              <a:t>PRACTICE</a:t>
            </a:r>
          </a:p>
        </p:txBody>
      </p:sp>
      <p:sp>
        <p:nvSpPr>
          <p:cNvPr id="7" name="TextBox 6"/>
          <p:cNvSpPr txBox="1"/>
          <p:nvPr/>
        </p:nvSpPr>
        <p:spPr>
          <a:xfrm>
            <a:off x="457200" y="475488"/>
            <a:ext cx="9144000" cy="640080"/>
          </a:xfrm>
          <a:prstGeom prst="rect">
            <a:avLst/>
          </a:prstGeom>
          <a:noFill/>
        </p:spPr>
        <p:txBody>
          <a:bodyPr wrap="square">
            <a:spAutoFit/>
          </a:bodyPr>
          <a:lstStyle/>
          <a:p>
            <a:pPr algn="l"/>
            <a:r>
              <a:rPr sz="2800" b="1" i="0">
                <a:solidFill>
                  <a:srgbClr val="FFFFFF"/>
                </a:solidFill>
                <a:latin typeface="Calibri"/>
              </a:rPr>
              <a:t>Solving Practice Questions</a:t>
            </a:r>
          </a:p>
        </p:txBody>
      </p:sp>
      <p:sp>
        <p:nvSpPr>
          <p:cNvPr id="8" name="Rectangle 7"/>
          <p:cNvSpPr/>
          <p:nvPr/>
        </p:nvSpPr>
        <p:spPr>
          <a:xfrm>
            <a:off x="457200" y="1444752"/>
            <a:ext cx="5943600" cy="4919472"/>
          </a:xfrm>
          <a:prstGeom prst="rect">
            <a:avLst/>
          </a:prstGeom>
          <a:solidFill>
            <a:srgbClr val="F5ECF3"/>
          </a:solid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27632"/>
            <a:ext cx="5486400" cy="347472"/>
          </a:xfrm>
          <a:prstGeom prst="rect">
            <a:avLst/>
          </a:prstGeom>
          <a:noFill/>
        </p:spPr>
        <p:txBody>
          <a:bodyPr wrap="square">
            <a:spAutoFit/>
          </a:bodyPr>
          <a:lstStyle/>
          <a:p>
            <a:pPr algn="l"/>
            <a:r>
              <a:rPr sz="1000" b="1" i="0">
                <a:solidFill>
                  <a:srgbClr val="3E1D68"/>
                </a:solidFill>
                <a:latin typeface="Calibri"/>
              </a:rPr>
              <a:t>📋  Practice Set – Chapter 2: Chemical Bonding</a:t>
            </a:r>
          </a:p>
        </p:txBody>
      </p:sp>
      <p:sp>
        <p:nvSpPr>
          <p:cNvPr id="10" name="Rectangle 9"/>
          <p:cNvSpPr/>
          <p:nvPr/>
        </p:nvSpPr>
        <p:spPr>
          <a:xfrm>
            <a:off x="685800" y="1975104"/>
            <a:ext cx="5486400" cy="27432"/>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66544"/>
            <a:ext cx="2286000" cy="274320"/>
          </a:xfrm>
          <a:prstGeom prst="rect">
            <a:avLst/>
          </a:prstGeom>
          <a:noFill/>
        </p:spPr>
        <p:txBody>
          <a:bodyPr wrap="square">
            <a:spAutoFit/>
          </a:bodyPr>
          <a:lstStyle/>
          <a:p>
            <a:pPr algn="l"/>
            <a:r>
              <a:rPr sz="900" b="0" i="0">
                <a:solidFill>
                  <a:srgbClr val="C98BA6"/>
                </a:solidFill>
                <a:latin typeface="Calibri"/>
              </a:rPr>
              <a:t>Question 3 of 12</a:t>
            </a:r>
          </a:p>
        </p:txBody>
      </p:sp>
      <p:sp>
        <p:nvSpPr>
          <p:cNvPr id="12" name="Rectangle 11"/>
          <p:cNvSpPr/>
          <p:nvPr/>
        </p:nvSpPr>
        <p:spPr>
          <a:xfrm>
            <a:off x="685800" y="2340864"/>
            <a:ext cx="5486400" cy="91440"/>
          </a:xfrm>
          <a:prstGeom prst="rect">
            <a:avLst/>
          </a:prstGeom>
          <a:solidFill>
            <a:srgbClr val="CC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2340864"/>
            <a:ext cx="1371600" cy="91440"/>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542032"/>
            <a:ext cx="5486400" cy="502920"/>
          </a:xfrm>
          <a:prstGeom prst="rect">
            <a:avLst/>
          </a:prstGeom>
          <a:noFill/>
        </p:spPr>
        <p:txBody>
          <a:bodyPr wrap="square">
            <a:spAutoFit/>
          </a:bodyPr>
          <a:lstStyle/>
          <a:p>
            <a:pPr algn="l"/>
            <a:r>
              <a:rPr sz="1100" b="1" i="0">
                <a:solidFill>
                  <a:srgbClr val="3E1D68"/>
                </a:solidFill>
                <a:latin typeface="Calibri"/>
              </a:rPr>
              <a:t>Which of the following molecules has a trigonal planar geometry?</a:t>
            </a:r>
          </a:p>
        </p:txBody>
      </p:sp>
      <p:sp>
        <p:nvSpPr>
          <p:cNvPr id="15" name="Rectangle 14"/>
          <p:cNvSpPr/>
          <p:nvPr/>
        </p:nvSpPr>
        <p:spPr>
          <a:xfrm>
            <a:off x="685800" y="3163824"/>
            <a:ext cx="5486400" cy="530352"/>
          </a:xfrm>
          <a:prstGeom prst="rect">
            <a:avLst/>
          </a:prstGeom>
          <a:solidFill>
            <a:srgbClr val="3E1D68"/>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273552"/>
            <a:ext cx="5120640" cy="347472"/>
          </a:xfrm>
          <a:prstGeom prst="rect">
            <a:avLst/>
          </a:prstGeom>
          <a:noFill/>
        </p:spPr>
        <p:txBody>
          <a:bodyPr wrap="square">
            <a:spAutoFit/>
          </a:bodyPr>
          <a:lstStyle/>
          <a:p>
            <a:pPr algn="l"/>
            <a:r>
              <a:rPr sz="1000" b="0" i="0">
                <a:solidFill>
                  <a:srgbClr val="FFFFFF"/>
                </a:solidFill>
                <a:latin typeface="Calibri"/>
              </a:rPr>
              <a:t>A)  NH₃  (Ammonia)</a:t>
            </a:r>
          </a:p>
        </p:txBody>
      </p:sp>
      <p:sp>
        <p:nvSpPr>
          <p:cNvPr id="17" name="Rectangle 16"/>
          <p:cNvSpPr/>
          <p:nvPr/>
        </p:nvSpPr>
        <p:spPr>
          <a:xfrm>
            <a:off x="685800" y="3822192"/>
            <a:ext cx="5486400" cy="530352"/>
          </a:xfrm>
          <a:prstGeom prst="rect">
            <a:avLst/>
          </a:prstGeom>
          <a:solidFill>
            <a:srgbClr val="2E8648"/>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931920"/>
            <a:ext cx="5120640" cy="347472"/>
          </a:xfrm>
          <a:prstGeom prst="rect">
            <a:avLst/>
          </a:prstGeom>
          <a:noFill/>
        </p:spPr>
        <p:txBody>
          <a:bodyPr wrap="square">
            <a:spAutoFit/>
          </a:bodyPr>
          <a:lstStyle/>
          <a:p>
            <a:pPr algn="l"/>
            <a:r>
              <a:rPr sz="1000" b="0" i="0">
                <a:solidFill>
                  <a:srgbClr val="FFFFFF"/>
                </a:solidFill>
                <a:latin typeface="Calibri"/>
              </a:rPr>
              <a:t>B)  BF₃  (Boron Trifluoride)</a:t>
            </a:r>
          </a:p>
        </p:txBody>
      </p:sp>
      <p:sp>
        <p:nvSpPr>
          <p:cNvPr id="19" name="TextBox 18"/>
          <p:cNvSpPr txBox="1"/>
          <p:nvPr/>
        </p:nvSpPr>
        <p:spPr>
          <a:xfrm>
            <a:off x="5120640" y="3931920"/>
            <a:ext cx="1097280" cy="347472"/>
          </a:xfrm>
          <a:prstGeom prst="rect">
            <a:avLst/>
          </a:prstGeom>
          <a:noFill/>
        </p:spPr>
        <p:txBody>
          <a:bodyPr wrap="square">
            <a:spAutoFit/>
          </a:bodyPr>
          <a:lstStyle/>
          <a:p>
            <a:pPr algn="l"/>
            <a:r>
              <a:rPr sz="900" b="1" i="0">
                <a:solidFill>
                  <a:srgbClr val="FFFFFF"/>
                </a:solidFill>
                <a:latin typeface="Calibri"/>
              </a:rPr>
              <a:t>✓ Correct!</a:t>
            </a:r>
          </a:p>
        </p:txBody>
      </p:sp>
      <p:sp>
        <p:nvSpPr>
          <p:cNvPr id="20" name="Rectangle 19"/>
          <p:cNvSpPr/>
          <p:nvPr/>
        </p:nvSpPr>
        <p:spPr>
          <a:xfrm>
            <a:off x="685800" y="4480560"/>
            <a:ext cx="5486400" cy="530352"/>
          </a:xfrm>
          <a:prstGeom prst="rect">
            <a:avLst/>
          </a:prstGeom>
          <a:solidFill>
            <a:srgbClr val="3E1D68"/>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90288"/>
            <a:ext cx="5120640" cy="347472"/>
          </a:xfrm>
          <a:prstGeom prst="rect">
            <a:avLst/>
          </a:prstGeom>
          <a:noFill/>
        </p:spPr>
        <p:txBody>
          <a:bodyPr wrap="square">
            <a:spAutoFit/>
          </a:bodyPr>
          <a:lstStyle/>
          <a:p>
            <a:pPr algn="l"/>
            <a:r>
              <a:rPr sz="1000" b="0" i="0">
                <a:solidFill>
                  <a:srgbClr val="FFFFFF"/>
                </a:solidFill>
                <a:latin typeface="Calibri"/>
              </a:rPr>
              <a:t>C)  H₂O  (Water)</a:t>
            </a:r>
          </a:p>
        </p:txBody>
      </p:sp>
      <p:sp>
        <p:nvSpPr>
          <p:cNvPr id="22" name="Rectangle 21"/>
          <p:cNvSpPr/>
          <p:nvPr/>
        </p:nvSpPr>
        <p:spPr>
          <a:xfrm>
            <a:off x="685800" y="5138928"/>
            <a:ext cx="5486400" cy="530352"/>
          </a:xfrm>
          <a:prstGeom prst="rect">
            <a:avLst/>
          </a:prstGeom>
          <a:solidFill>
            <a:srgbClr val="3E1D68"/>
          </a:solidFill>
          <a:ln w="1016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248656"/>
            <a:ext cx="5120640" cy="347472"/>
          </a:xfrm>
          <a:prstGeom prst="rect">
            <a:avLst/>
          </a:prstGeom>
          <a:noFill/>
        </p:spPr>
        <p:txBody>
          <a:bodyPr wrap="square">
            <a:spAutoFit/>
          </a:bodyPr>
          <a:lstStyle/>
          <a:p>
            <a:pPr algn="l"/>
            <a:r>
              <a:rPr sz="1000" b="0" i="0">
                <a:solidFill>
                  <a:srgbClr val="FFFFFF"/>
                </a:solidFill>
                <a:latin typeface="Calibri"/>
              </a:rPr>
              <a:t>D)  CH₄  (Methane)</a:t>
            </a:r>
          </a:p>
        </p:txBody>
      </p:sp>
      <p:sp>
        <p:nvSpPr>
          <p:cNvPr id="24" name="Rectangle 23"/>
          <p:cNvSpPr/>
          <p:nvPr/>
        </p:nvSpPr>
        <p:spPr>
          <a:xfrm>
            <a:off x="685800" y="5815584"/>
            <a:ext cx="5486400" cy="41148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888736"/>
            <a:ext cx="5303520" cy="320040"/>
          </a:xfrm>
          <a:prstGeom prst="rect">
            <a:avLst/>
          </a:prstGeom>
          <a:noFill/>
        </p:spPr>
        <p:txBody>
          <a:bodyPr wrap="square">
            <a:spAutoFit/>
          </a:bodyPr>
          <a:lstStyle/>
          <a:p>
            <a:pPr algn="l"/>
            <a:r>
              <a:rPr sz="900" b="0" i="0">
                <a:solidFill>
                  <a:srgbClr val="C98BA6"/>
                </a:solidFill>
                <a:latin typeface="Calibri"/>
              </a:rPr>
              <a:t>💡  BF₃ has 3 bonding pairs and no lone pairs → trigonal planar (120°)</a:t>
            </a:r>
          </a:p>
        </p:txBody>
      </p:sp>
      <p:sp>
        <p:nvSpPr>
          <p:cNvPr id="26" name="TextBox 25"/>
          <p:cNvSpPr txBox="1"/>
          <p:nvPr/>
        </p:nvSpPr>
        <p:spPr>
          <a:xfrm>
            <a:off x="6766560" y="1481328"/>
            <a:ext cx="5029200" cy="411480"/>
          </a:xfrm>
          <a:prstGeom prst="rect">
            <a:avLst/>
          </a:prstGeom>
          <a:noFill/>
        </p:spPr>
        <p:txBody>
          <a:bodyPr wrap="square">
            <a:spAutoFit/>
          </a:bodyPr>
          <a:lstStyle/>
          <a:p>
            <a:pPr algn="l"/>
            <a:r>
              <a:rPr sz="1400" b="1" i="0">
                <a:solidFill>
                  <a:srgbClr val="3E1D68"/>
                </a:solidFill>
                <a:latin typeface="Calibri"/>
              </a:rPr>
              <a:t>Practice Features</a:t>
            </a:r>
          </a:p>
        </p:txBody>
      </p:sp>
      <p:sp>
        <p:nvSpPr>
          <p:cNvPr id="27" name="Rectangle 26"/>
          <p:cNvSpPr/>
          <p:nvPr/>
        </p:nvSpPr>
        <p:spPr>
          <a:xfrm>
            <a:off x="6766560" y="1874519"/>
            <a:ext cx="2926080" cy="36576"/>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766560" y="2029968"/>
            <a:ext cx="5074920" cy="62179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0" y="2121408"/>
            <a:ext cx="411480" cy="411480"/>
          </a:xfrm>
          <a:prstGeom prst="rect">
            <a:avLst/>
          </a:prstGeom>
          <a:noFill/>
        </p:spPr>
        <p:txBody>
          <a:bodyPr wrap="square">
            <a:spAutoFit/>
          </a:bodyPr>
          <a:lstStyle/>
          <a:p>
            <a:pPr algn="l"/>
            <a:r>
              <a:rPr sz="1600" b="0" i="0">
                <a:solidFill>
                  <a:srgbClr val="FFFFFF"/>
                </a:solidFill>
                <a:latin typeface="Calibri"/>
              </a:rPr>
              <a:t>📦</a:t>
            </a:r>
          </a:p>
        </p:txBody>
      </p:sp>
      <p:sp>
        <p:nvSpPr>
          <p:cNvPr id="30" name="TextBox 29"/>
          <p:cNvSpPr txBox="1"/>
          <p:nvPr/>
        </p:nvSpPr>
        <p:spPr>
          <a:xfrm>
            <a:off x="7333488" y="2103120"/>
            <a:ext cx="1828800" cy="256032"/>
          </a:xfrm>
          <a:prstGeom prst="rect">
            <a:avLst/>
          </a:prstGeom>
          <a:noFill/>
        </p:spPr>
        <p:txBody>
          <a:bodyPr wrap="square">
            <a:spAutoFit/>
          </a:bodyPr>
          <a:lstStyle/>
          <a:p>
            <a:pPr algn="l"/>
            <a:r>
              <a:rPr sz="1000" b="1" i="0">
                <a:solidFill>
                  <a:srgbClr val="3E1D68"/>
                </a:solidFill>
                <a:latin typeface="Calibri"/>
              </a:rPr>
              <a:t>Question Banks</a:t>
            </a:r>
          </a:p>
        </p:txBody>
      </p:sp>
      <p:sp>
        <p:nvSpPr>
          <p:cNvPr id="31" name="TextBox 30"/>
          <p:cNvSpPr txBox="1"/>
          <p:nvPr/>
        </p:nvSpPr>
        <p:spPr>
          <a:xfrm>
            <a:off x="7333488" y="2359152"/>
            <a:ext cx="4297680" cy="256032"/>
          </a:xfrm>
          <a:prstGeom prst="rect">
            <a:avLst/>
          </a:prstGeom>
          <a:noFill/>
        </p:spPr>
        <p:txBody>
          <a:bodyPr wrap="square">
            <a:spAutoFit/>
          </a:bodyPr>
          <a:lstStyle/>
          <a:p>
            <a:pPr algn="l"/>
            <a:r>
              <a:rPr sz="850" b="0" i="0">
                <a:solidFill>
                  <a:srgbClr val="333344"/>
                </a:solidFill>
                <a:latin typeface="Calibri"/>
              </a:rPr>
              <a:t>Multiple questions per chapter topic</a:t>
            </a:r>
          </a:p>
        </p:txBody>
      </p:sp>
      <p:sp>
        <p:nvSpPr>
          <p:cNvPr id="32" name="Rectangle 31"/>
          <p:cNvSpPr/>
          <p:nvPr/>
        </p:nvSpPr>
        <p:spPr>
          <a:xfrm>
            <a:off x="6766560" y="2743200"/>
            <a:ext cx="5074920" cy="62179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0" y="2834640"/>
            <a:ext cx="411480" cy="411480"/>
          </a:xfrm>
          <a:prstGeom prst="rect">
            <a:avLst/>
          </a:prstGeom>
          <a:noFill/>
        </p:spPr>
        <p:txBody>
          <a:bodyPr wrap="square">
            <a:spAutoFit/>
          </a:bodyPr>
          <a:lstStyle/>
          <a:p>
            <a:pPr algn="l"/>
            <a:r>
              <a:rPr sz="1600" b="0" i="0">
                <a:solidFill>
                  <a:srgbClr val="FFFFFF"/>
                </a:solidFill>
                <a:latin typeface="Calibri"/>
              </a:rPr>
              <a:t>✏️</a:t>
            </a:r>
          </a:p>
        </p:txBody>
      </p:sp>
      <p:sp>
        <p:nvSpPr>
          <p:cNvPr id="34" name="TextBox 33"/>
          <p:cNvSpPr txBox="1"/>
          <p:nvPr/>
        </p:nvSpPr>
        <p:spPr>
          <a:xfrm>
            <a:off x="7333488" y="2816352"/>
            <a:ext cx="1828800" cy="256032"/>
          </a:xfrm>
          <a:prstGeom prst="rect">
            <a:avLst/>
          </a:prstGeom>
          <a:noFill/>
        </p:spPr>
        <p:txBody>
          <a:bodyPr wrap="square">
            <a:spAutoFit/>
          </a:bodyPr>
          <a:lstStyle/>
          <a:p>
            <a:pPr algn="l"/>
            <a:r>
              <a:rPr sz="1000" b="1" i="0">
                <a:solidFill>
                  <a:srgbClr val="3E1D68"/>
                </a:solidFill>
                <a:latin typeface="Calibri"/>
              </a:rPr>
              <a:t>Multiple Choice</a:t>
            </a:r>
          </a:p>
        </p:txBody>
      </p:sp>
      <p:sp>
        <p:nvSpPr>
          <p:cNvPr id="35" name="TextBox 34"/>
          <p:cNvSpPr txBox="1"/>
          <p:nvPr/>
        </p:nvSpPr>
        <p:spPr>
          <a:xfrm>
            <a:off x="7333488" y="3072384"/>
            <a:ext cx="4297680" cy="256032"/>
          </a:xfrm>
          <a:prstGeom prst="rect">
            <a:avLst/>
          </a:prstGeom>
          <a:noFill/>
        </p:spPr>
        <p:txBody>
          <a:bodyPr wrap="square">
            <a:spAutoFit/>
          </a:bodyPr>
          <a:lstStyle/>
          <a:p>
            <a:pPr algn="l"/>
            <a:r>
              <a:rPr sz="850" b="0" i="0">
                <a:solidFill>
                  <a:srgbClr val="333344"/>
                </a:solidFill>
                <a:latin typeface="Calibri"/>
              </a:rPr>
              <a:t>Select the best answer from 4 options</a:t>
            </a:r>
          </a:p>
        </p:txBody>
      </p:sp>
      <p:sp>
        <p:nvSpPr>
          <p:cNvPr id="36" name="Rectangle 35"/>
          <p:cNvSpPr/>
          <p:nvPr/>
        </p:nvSpPr>
        <p:spPr>
          <a:xfrm>
            <a:off x="6766560" y="3456432"/>
            <a:ext cx="5074920" cy="62179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0" y="3547872"/>
            <a:ext cx="411480" cy="411480"/>
          </a:xfrm>
          <a:prstGeom prst="rect">
            <a:avLst/>
          </a:prstGeom>
          <a:noFill/>
        </p:spPr>
        <p:txBody>
          <a:bodyPr wrap="square">
            <a:spAutoFit/>
          </a:bodyPr>
          <a:lstStyle/>
          <a:p>
            <a:pPr algn="l"/>
            <a:r>
              <a:rPr sz="1600" b="0" i="0">
                <a:solidFill>
                  <a:srgbClr val="FFFFFF"/>
                </a:solidFill>
                <a:latin typeface="Calibri"/>
              </a:rPr>
              <a:t>💡</a:t>
            </a:r>
          </a:p>
        </p:txBody>
      </p:sp>
      <p:sp>
        <p:nvSpPr>
          <p:cNvPr id="38" name="TextBox 37"/>
          <p:cNvSpPr txBox="1"/>
          <p:nvPr/>
        </p:nvSpPr>
        <p:spPr>
          <a:xfrm>
            <a:off x="7333488" y="3529584"/>
            <a:ext cx="1828800" cy="256032"/>
          </a:xfrm>
          <a:prstGeom prst="rect">
            <a:avLst/>
          </a:prstGeom>
          <a:noFill/>
        </p:spPr>
        <p:txBody>
          <a:bodyPr wrap="square">
            <a:spAutoFit/>
          </a:bodyPr>
          <a:lstStyle/>
          <a:p>
            <a:pPr algn="l"/>
            <a:r>
              <a:rPr sz="1000" b="1" i="0">
                <a:solidFill>
                  <a:srgbClr val="3E1D68"/>
                </a:solidFill>
                <a:latin typeface="Calibri"/>
              </a:rPr>
              <a:t>Instant Feedback</a:t>
            </a:r>
          </a:p>
        </p:txBody>
      </p:sp>
      <p:sp>
        <p:nvSpPr>
          <p:cNvPr id="39" name="TextBox 38"/>
          <p:cNvSpPr txBox="1"/>
          <p:nvPr/>
        </p:nvSpPr>
        <p:spPr>
          <a:xfrm>
            <a:off x="7333488" y="3785616"/>
            <a:ext cx="4297680" cy="256032"/>
          </a:xfrm>
          <a:prstGeom prst="rect">
            <a:avLst/>
          </a:prstGeom>
          <a:noFill/>
        </p:spPr>
        <p:txBody>
          <a:bodyPr wrap="square">
            <a:spAutoFit/>
          </a:bodyPr>
          <a:lstStyle/>
          <a:p>
            <a:pPr algn="l"/>
            <a:r>
              <a:rPr sz="850" b="0" i="0">
                <a:solidFill>
                  <a:srgbClr val="333344"/>
                </a:solidFill>
                <a:latin typeface="Calibri"/>
              </a:rPr>
              <a:t>See correct answer &amp; explanation right away</a:t>
            </a:r>
          </a:p>
        </p:txBody>
      </p:sp>
      <p:sp>
        <p:nvSpPr>
          <p:cNvPr id="40" name="Rectangle 39"/>
          <p:cNvSpPr/>
          <p:nvPr/>
        </p:nvSpPr>
        <p:spPr>
          <a:xfrm>
            <a:off x="6766560" y="4169664"/>
            <a:ext cx="5074920" cy="62179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0" y="4261104"/>
            <a:ext cx="411480" cy="411480"/>
          </a:xfrm>
          <a:prstGeom prst="rect">
            <a:avLst/>
          </a:prstGeom>
          <a:noFill/>
        </p:spPr>
        <p:txBody>
          <a:bodyPr wrap="square">
            <a:spAutoFit/>
          </a:bodyPr>
          <a:lstStyle/>
          <a:p>
            <a:pPr algn="l"/>
            <a:r>
              <a:rPr sz="1600" b="0" i="0">
                <a:solidFill>
                  <a:srgbClr val="FFFFFF"/>
                </a:solidFill>
                <a:latin typeface="Calibri"/>
              </a:rPr>
              <a:t>🔁</a:t>
            </a:r>
          </a:p>
        </p:txBody>
      </p:sp>
      <p:sp>
        <p:nvSpPr>
          <p:cNvPr id="42" name="TextBox 41"/>
          <p:cNvSpPr txBox="1"/>
          <p:nvPr/>
        </p:nvSpPr>
        <p:spPr>
          <a:xfrm>
            <a:off x="7333488" y="4242816"/>
            <a:ext cx="1828800" cy="256032"/>
          </a:xfrm>
          <a:prstGeom prst="rect">
            <a:avLst/>
          </a:prstGeom>
          <a:noFill/>
        </p:spPr>
        <p:txBody>
          <a:bodyPr wrap="square">
            <a:spAutoFit/>
          </a:bodyPr>
          <a:lstStyle/>
          <a:p>
            <a:pPr algn="l"/>
            <a:r>
              <a:rPr sz="1000" b="1" i="0">
                <a:solidFill>
                  <a:srgbClr val="3E1D68"/>
                </a:solidFill>
                <a:latin typeface="Calibri"/>
              </a:rPr>
              <a:t>Retry Questions</a:t>
            </a:r>
          </a:p>
        </p:txBody>
      </p:sp>
      <p:sp>
        <p:nvSpPr>
          <p:cNvPr id="43" name="TextBox 42"/>
          <p:cNvSpPr txBox="1"/>
          <p:nvPr/>
        </p:nvSpPr>
        <p:spPr>
          <a:xfrm>
            <a:off x="7333488" y="4498848"/>
            <a:ext cx="4297680" cy="256032"/>
          </a:xfrm>
          <a:prstGeom prst="rect">
            <a:avLst/>
          </a:prstGeom>
          <a:noFill/>
        </p:spPr>
        <p:txBody>
          <a:bodyPr wrap="square">
            <a:spAutoFit/>
          </a:bodyPr>
          <a:lstStyle/>
          <a:p>
            <a:pPr algn="l"/>
            <a:r>
              <a:rPr sz="850" b="0" i="0">
                <a:solidFill>
                  <a:srgbClr val="333344"/>
                </a:solidFill>
                <a:latin typeface="Calibri"/>
              </a:rPr>
              <a:t>Redo missed questions until mastered</a:t>
            </a:r>
          </a:p>
        </p:txBody>
      </p:sp>
      <p:sp>
        <p:nvSpPr>
          <p:cNvPr id="44" name="Rectangle 43"/>
          <p:cNvSpPr/>
          <p:nvPr/>
        </p:nvSpPr>
        <p:spPr>
          <a:xfrm>
            <a:off x="6766560" y="4882896"/>
            <a:ext cx="5074920" cy="62179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0" y="4974336"/>
            <a:ext cx="411480" cy="411480"/>
          </a:xfrm>
          <a:prstGeom prst="rect">
            <a:avLst/>
          </a:prstGeom>
          <a:noFill/>
        </p:spPr>
        <p:txBody>
          <a:bodyPr wrap="square">
            <a:spAutoFit/>
          </a:bodyPr>
          <a:lstStyle/>
          <a:p>
            <a:pPr algn="l"/>
            <a:r>
              <a:rPr sz="1600" b="0" i="0">
                <a:solidFill>
                  <a:srgbClr val="FFFFFF"/>
                </a:solidFill>
                <a:latin typeface="Calibri"/>
              </a:rPr>
              <a:t>📊</a:t>
            </a:r>
          </a:p>
        </p:txBody>
      </p:sp>
      <p:sp>
        <p:nvSpPr>
          <p:cNvPr id="46" name="TextBox 45"/>
          <p:cNvSpPr txBox="1"/>
          <p:nvPr/>
        </p:nvSpPr>
        <p:spPr>
          <a:xfrm>
            <a:off x="7333488" y="4956048"/>
            <a:ext cx="1828800" cy="256032"/>
          </a:xfrm>
          <a:prstGeom prst="rect">
            <a:avLst/>
          </a:prstGeom>
          <a:noFill/>
        </p:spPr>
        <p:txBody>
          <a:bodyPr wrap="square">
            <a:spAutoFit/>
          </a:bodyPr>
          <a:lstStyle/>
          <a:p>
            <a:pPr algn="l"/>
            <a:r>
              <a:rPr sz="1000" b="1" i="0">
                <a:solidFill>
                  <a:srgbClr val="3E1D68"/>
                </a:solidFill>
                <a:latin typeface="Calibri"/>
              </a:rPr>
              <a:t>Score Tracking</a:t>
            </a:r>
          </a:p>
        </p:txBody>
      </p:sp>
      <p:sp>
        <p:nvSpPr>
          <p:cNvPr id="47" name="TextBox 46"/>
          <p:cNvSpPr txBox="1"/>
          <p:nvPr/>
        </p:nvSpPr>
        <p:spPr>
          <a:xfrm>
            <a:off x="7333488" y="5212080"/>
            <a:ext cx="4297680" cy="256032"/>
          </a:xfrm>
          <a:prstGeom prst="rect">
            <a:avLst/>
          </a:prstGeom>
          <a:noFill/>
        </p:spPr>
        <p:txBody>
          <a:bodyPr wrap="square">
            <a:spAutoFit/>
          </a:bodyPr>
          <a:lstStyle/>
          <a:p>
            <a:pPr algn="l"/>
            <a:r>
              <a:rPr sz="850" b="0" i="0">
                <a:solidFill>
                  <a:srgbClr val="333344"/>
                </a:solidFill>
                <a:latin typeface="Calibri"/>
              </a:rPr>
              <a:t>Each attempt is saved to your progress</a:t>
            </a:r>
          </a:p>
        </p:txBody>
      </p:sp>
      <p:sp>
        <p:nvSpPr>
          <p:cNvPr id="48" name="Rectangle 47"/>
          <p:cNvSpPr/>
          <p:nvPr/>
        </p:nvSpPr>
        <p:spPr>
          <a:xfrm>
            <a:off x="6766560" y="5596128"/>
            <a:ext cx="5074920" cy="62179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58000" y="5687568"/>
            <a:ext cx="411480" cy="411480"/>
          </a:xfrm>
          <a:prstGeom prst="rect">
            <a:avLst/>
          </a:prstGeom>
          <a:noFill/>
        </p:spPr>
        <p:txBody>
          <a:bodyPr wrap="square">
            <a:spAutoFit/>
          </a:bodyPr>
          <a:lstStyle/>
          <a:p>
            <a:pPr algn="l"/>
            <a:r>
              <a:rPr sz="1600" b="0" i="0">
                <a:solidFill>
                  <a:srgbClr val="FFFFFF"/>
                </a:solidFill>
                <a:latin typeface="Calibri"/>
              </a:rPr>
              <a:t>🔀</a:t>
            </a:r>
          </a:p>
        </p:txBody>
      </p:sp>
      <p:sp>
        <p:nvSpPr>
          <p:cNvPr id="50" name="TextBox 49"/>
          <p:cNvSpPr txBox="1"/>
          <p:nvPr/>
        </p:nvSpPr>
        <p:spPr>
          <a:xfrm>
            <a:off x="7333488" y="5669280"/>
            <a:ext cx="1828800" cy="256032"/>
          </a:xfrm>
          <a:prstGeom prst="rect">
            <a:avLst/>
          </a:prstGeom>
          <a:noFill/>
        </p:spPr>
        <p:txBody>
          <a:bodyPr wrap="square">
            <a:spAutoFit/>
          </a:bodyPr>
          <a:lstStyle/>
          <a:p>
            <a:pPr algn="l"/>
            <a:r>
              <a:rPr sz="1000" b="1" i="0">
                <a:solidFill>
                  <a:srgbClr val="3E1D68"/>
                </a:solidFill>
                <a:latin typeface="Calibri"/>
              </a:rPr>
              <a:t>Randomized Order</a:t>
            </a:r>
          </a:p>
        </p:txBody>
      </p:sp>
      <p:sp>
        <p:nvSpPr>
          <p:cNvPr id="51" name="TextBox 50"/>
          <p:cNvSpPr txBox="1"/>
          <p:nvPr/>
        </p:nvSpPr>
        <p:spPr>
          <a:xfrm>
            <a:off x="7333488" y="5925312"/>
            <a:ext cx="4297680" cy="256032"/>
          </a:xfrm>
          <a:prstGeom prst="rect">
            <a:avLst/>
          </a:prstGeom>
          <a:noFill/>
        </p:spPr>
        <p:txBody>
          <a:bodyPr wrap="square">
            <a:spAutoFit/>
          </a:bodyPr>
          <a:lstStyle/>
          <a:p>
            <a:pPr algn="l"/>
            <a:r>
              <a:rPr sz="850" b="0" i="0">
                <a:solidFill>
                  <a:srgbClr val="333344"/>
                </a:solidFill>
                <a:latin typeface="Calibri"/>
              </a:rPr>
              <a:t>Questions shuffled to keep you sharp</a:t>
            </a:r>
          </a:p>
        </p:txBody>
      </p:sp>
      <p:sp>
        <p:nvSpPr>
          <p:cNvPr id="52" name="Rectangle 51"/>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
            <a:ext cx="1828800" cy="457200"/>
          </a:xfrm>
          <a:prstGeom prst="rect">
            <a:avLst/>
          </a:prstGeom>
          <a:noFill/>
        </p:spPr>
        <p:txBody>
          <a:bodyPr wrap="square">
            <a:spAutoFit/>
          </a:bodyPr>
          <a:lstStyle/>
          <a:p>
            <a:pPr algn="l"/>
            <a:r>
              <a:rPr sz="900" b="1" i="0">
                <a:solidFill>
                  <a:srgbClr val="C98BA6"/>
                </a:solidFill>
                <a:latin typeface="Calibri"/>
              </a:rPr>
              <a:t>ASSESSMENT</a:t>
            </a:r>
          </a:p>
        </p:txBody>
      </p:sp>
      <p:sp>
        <p:nvSpPr>
          <p:cNvPr id="7" name="TextBox 6"/>
          <p:cNvSpPr txBox="1"/>
          <p:nvPr/>
        </p:nvSpPr>
        <p:spPr>
          <a:xfrm>
            <a:off x="457200" y="475488"/>
            <a:ext cx="9144000" cy="640080"/>
          </a:xfrm>
          <a:prstGeom prst="rect">
            <a:avLst/>
          </a:prstGeom>
          <a:noFill/>
        </p:spPr>
        <p:txBody>
          <a:bodyPr wrap="square">
            <a:spAutoFit/>
          </a:bodyPr>
          <a:lstStyle/>
          <a:p>
            <a:pPr algn="l"/>
            <a:r>
              <a:rPr sz="2800" b="1" i="0">
                <a:solidFill>
                  <a:srgbClr val="FFFFFF"/>
                </a:solidFill>
                <a:latin typeface="Calibri"/>
              </a:rPr>
              <a:t>Taking Chapter Quizzes</a:t>
            </a:r>
          </a:p>
        </p:txBody>
      </p:sp>
      <p:sp>
        <p:nvSpPr>
          <p:cNvPr id="8" name="Rectangle 7"/>
          <p:cNvSpPr/>
          <p:nvPr/>
        </p:nvSpPr>
        <p:spPr>
          <a:xfrm>
            <a:off x="434340" y="1508760"/>
            <a:ext cx="1719072" cy="1600200"/>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7844" y="1572768"/>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7844" y="1600200"/>
            <a:ext cx="512064" cy="457200"/>
          </a:xfrm>
          <a:prstGeom prst="rect">
            <a:avLst/>
          </a:prstGeom>
          <a:noFill/>
        </p:spPr>
        <p:txBody>
          <a:bodyPr wrap="square">
            <a:spAutoFit/>
          </a:bodyPr>
          <a:lstStyle/>
          <a:p>
            <a:pPr algn="ctr"/>
            <a:r>
              <a:rPr sz="1300" b="1" i="0">
                <a:solidFill>
                  <a:srgbClr val="FFFFFF"/>
                </a:solidFill>
                <a:latin typeface="Calibri"/>
              </a:rPr>
              <a:t>1</a:t>
            </a:r>
          </a:p>
        </p:txBody>
      </p:sp>
      <p:sp>
        <p:nvSpPr>
          <p:cNvPr id="11" name="TextBox 10"/>
          <p:cNvSpPr txBox="1"/>
          <p:nvPr/>
        </p:nvSpPr>
        <p:spPr>
          <a:xfrm>
            <a:off x="525780" y="2167128"/>
            <a:ext cx="1536192" cy="502920"/>
          </a:xfrm>
          <a:prstGeom prst="rect">
            <a:avLst/>
          </a:prstGeom>
          <a:noFill/>
        </p:spPr>
        <p:txBody>
          <a:bodyPr wrap="square">
            <a:spAutoFit/>
          </a:bodyPr>
          <a:lstStyle/>
          <a:p>
            <a:pPr algn="ctr"/>
            <a:r>
              <a:rPr sz="1000" b="1" i="0">
                <a:solidFill>
                  <a:srgbClr val="C98BA6"/>
                </a:solidFill>
                <a:latin typeface="Calibri"/>
              </a:rPr>
              <a:t>Open
Chapter</a:t>
            </a:r>
          </a:p>
        </p:txBody>
      </p:sp>
      <p:sp>
        <p:nvSpPr>
          <p:cNvPr id="12" name="TextBox 11"/>
          <p:cNvSpPr txBox="1"/>
          <p:nvPr/>
        </p:nvSpPr>
        <p:spPr>
          <a:xfrm>
            <a:off x="525780" y="2670048"/>
            <a:ext cx="1536192" cy="411480"/>
          </a:xfrm>
          <a:prstGeom prst="rect">
            <a:avLst/>
          </a:prstGeom>
          <a:noFill/>
        </p:spPr>
        <p:txBody>
          <a:bodyPr wrap="square">
            <a:spAutoFit/>
          </a:bodyPr>
          <a:lstStyle/>
          <a:p>
            <a:pPr algn="ctr"/>
            <a:r>
              <a:rPr sz="850" b="0" i="0">
                <a:solidFill>
                  <a:srgbClr val="FFFFFF"/>
                </a:solidFill>
                <a:latin typeface="Calibri"/>
              </a:rPr>
              <a:t>Navigate to
the chapter</a:t>
            </a:r>
          </a:p>
        </p:txBody>
      </p:sp>
      <p:sp>
        <p:nvSpPr>
          <p:cNvPr id="13" name="TextBox 12"/>
          <p:cNvSpPr txBox="1"/>
          <p:nvPr/>
        </p:nvSpPr>
        <p:spPr>
          <a:xfrm>
            <a:off x="2189988" y="2171700"/>
            <a:ext cx="164592" cy="274320"/>
          </a:xfrm>
          <a:prstGeom prst="rect">
            <a:avLst/>
          </a:prstGeom>
          <a:noFill/>
        </p:spPr>
        <p:txBody>
          <a:bodyPr wrap="square">
            <a:spAutoFit/>
          </a:bodyPr>
          <a:lstStyle/>
          <a:p>
            <a:pPr algn="ctr"/>
            <a:r>
              <a:rPr sz="1400" b="0" i="0">
                <a:solidFill>
                  <a:srgbClr val="C98BA6"/>
                </a:solidFill>
                <a:latin typeface="Calibri"/>
              </a:rPr>
              <a:t>→</a:t>
            </a:r>
          </a:p>
        </p:txBody>
      </p:sp>
      <p:sp>
        <p:nvSpPr>
          <p:cNvPr id="14" name="Rectangle 13"/>
          <p:cNvSpPr/>
          <p:nvPr/>
        </p:nvSpPr>
        <p:spPr>
          <a:xfrm>
            <a:off x="2354580" y="1508760"/>
            <a:ext cx="1719072" cy="1600200"/>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58084" y="1572768"/>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58084" y="1600200"/>
            <a:ext cx="512064" cy="457200"/>
          </a:xfrm>
          <a:prstGeom prst="rect">
            <a:avLst/>
          </a:prstGeom>
          <a:noFill/>
        </p:spPr>
        <p:txBody>
          <a:bodyPr wrap="square">
            <a:spAutoFit/>
          </a:bodyPr>
          <a:lstStyle/>
          <a:p>
            <a:pPr algn="ctr"/>
            <a:r>
              <a:rPr sz="1300" b="1" i="0">
                <a:solidFill>
                  <a:srgbClr val="FFFFFF"/>
                </a:solidFill>
                <a:latin typeface="Calibri"/>
              </a:rPr>
              <a:t>2</a:t>
            </a:r>
          </a:p>
        </p:txBody>
      </p:sp>
      <p:sp>
        <p:nvSpPr>
          <p:cNvPr id="17" name="TextBox 16"/>
          <p:cNvSpPr txBox="1"/>
          <p:nvPr/>
        </p:nvSpPr>
        <p:spPr>
          <a:xfrm>
            <a:off x="2446020" y="2167128"/>
            <a:ext cx="1536192" cy="502920"/>
          </a:xfrm>
          <a:prstGeom prst="rect">
            <a:avLst/>
          </a:prstGeom>
          <a:noFill/>
        </p:spPr>
        <p:txBody>
          <a:bodyPr wrap="square">
            <a:spAutoFit/>
          </a:bodyPr>
          <a:lstStyle/>
          <a:p>
            <a:pPr algn="ctr"/>
            <a:r>
              <a:rPr sz="1000" b="1" i="0">
                <a:solidFill>
                  <a:srgbClr val="C98BA6"/>
                </a:solidFill>
                <a:latin typeface="Calibri"/>
              </a:rPr>
              <a:t>Click
'Take Quiz'</a:t>
            </a:r>
          </a:p>
        </p:txBody>
      </p:sp>
      <p:sp>
        <p:nvSpPr>
          <p:cNvPr id="18" name="TextBox 17"/>
          <p:cNvSpPr txBox="1"/>
          <p:nvPr/>
        </p:nvSpPr>
        <p:spPr>
          <a:xfrm>
            <a:off x="2446020" y="2670048"/>
            <a:ext cx="1536192" cy="411480"/>
          </a:xfrm>
          <a:prstGeom prst="rect">
            <a:avLst/>
          </a:prstGeom>
          <a:noFill/>
        </p:spPr>
        <p:txBody>
          <a:bodyPr wrap="square">
            <a:spAutoFit/>
          </a:bodyPr>
          <a:lstStyle/>
          <a:p>
            <a:pPr algn="ctr"/>
            <a:r>
              <a:rPr sz="850" b="0" i="0">
                <a:solidFill>
                  <a:srgbClr val="FFFFFF"/>
                </a:solidFill>
                <a:latin typeface="Calibri"/>
              </a:rPr>
              <a:t>Find the Quiz
button at bottom</a:t>
            </a:r>
          </a:p>
        </p:txBody>
      </p:sp>
      <p:sp>
        <p:nvSpPr>
          <p:cNvPr id="19" name="TextBox 18"/>
          <p:cNvSpPr txBox="1"/>
          <p:nvPr/>
        </p:nvSpPr>
        <p:spPr>
          <a:xfrm>
            <a:off x="4110228" y="2171700"/>
            <a:ext cx="164592" cy="274320"/>
          </a:xfrm>
          <a:prstGeom prst="rect">
            <a:avLst/>
          </a:prstGeom>
          <a:noFill/>
        </p:spPr>
        <p:txBody>
          <a:bodyPr wrap="square">
            <a:spAutoFit/>
          </a:bodyPr>
          <a:lstStyle/>
          <a:p>
            <a:pPr algn="ctr"/>
            <a:r>
              <a:rPr sz="1400" b="0" i="0">
                <a:solidFill>
                  <a:srgbClr val="C98BA6"/>
                </a:solidFill>
                <a:latin typeface="Calibri"/>
              </a:rPr>
              <a:t>→</a:t>
            </a:r>
          </a:p>
        </p:txBody>
      </p:sp>
      <p:sp>
        <p:nvSpPr>
          <p:cNvPr id="20" name="Rectangle 19"/>
          <p:cNvSpPr/>
          <p:nvPr/>
        </p:nvSpPr>
        <p:spPr>
          <a:xfrm>
            <a:off x="4274820" y="1508760"/>
            <a:ext cx="1719072" cy="1600200"/>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78324" y="1572768"/>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78324" y="1600200"/>
            <a:ext cx="512064" cy="457200"/>
          </a:xfrm>
          <a:prstGeom prst="rect">
            <a:avLst/>
          </a:prstGeom>
          <a:noFill/>
        </p:spPr>
        <p:txBody>
          <a:bodyPr wrap="square">
            <a:spAutoFit/>
          </a:bodyPr>
          <a:lstStyle/>
          <a:p>
            <a:pPr algn="ctr"/>
            <a:r>
              <a:rPr sz="1300" b="1" i="0">
                <a:solidFill>
                  <a:srgbClr val="FFFFFF"/>
                </a:solidFill>
                <a:latin typeface="Calibri"/>
              </a:rPr>
              <a:t>3</a:t>
            </a:r>
          </a:p>
        </p:txBody>
      </p:sp>
      <p:sp>
        <p:nvSpPr>
          <p:cNvPr id="23" name="TextBox 22"/>
          <p:cNvSpPr txBox="1"/>
          <p:nvPr/>
        </p:nvSpPr>
        <p:spPr>
          <a:xfrm>
            <a:off x="4366260" y="2167128"/>
            <a:ext cx="1536192" cy="502920"/>
          </a:xfrm>
          <a:prstGeom prst="rect">
            <a:avLst/>
          </a:prstGeom>
          <a:noFill/>
        </p:spPr>
        <p:txBody>
          <a:bodyPr wrap="square">
            <a:spAutoFit/>
          </a:bodyPr>
          <a:lstStyle/>
          <a:p>
            <a:pPr algn="ctr"/>
            <a:r>
              <a:rPr sz="1000" b="1" i="0">
                <a:solidFill>
                  <a:srgbClr val="C98BA6"/>
                </a:solidFill>
                <a:latin typeface="Calibri"/>
              </a:rPr>
              <a:t>Read
Instructions</a:t>
            </a:r>
          </a:p>
        </p:txBody>
      </p:sp>
      <p:sp>
        <p:nvSpPr>
          <p:cNvPr id="24" name="TextBox 23"/>
          <p:cNvSpPr txBox="1"/>
          <p:nvPr/>
        </p:nvSpPr>
        <p:spPr>
          <a:xfrm>
            <a:off x="4366260" y="2670048"/>
            <a:ext cx="1536192" cy="411480"/>
          </a:xfrm>
          <a:prstGeom prst="rect">
            <a:avLst/>
          </a:prstGeom>
          <a:noFill/>
        </p:spPr>
        <p:txBody>
          <a:bodyPr wrap="square">
            <a:spAutoFit/>
          </a:bodyPr>
          <a:lstStyle/>
          <a:p>
            <a:pPr algn="ctr"/>
            <a:r>
              <a:rPr sz="850" b="0" i="0">
                <a:solidFill>
                  <a:srgbClr val="FFFFFF"/>
                </a:solidFill>
                <a:latin typeface="Calibri"/>
              </a:rPr>
              <a:t>Note time limit
&amp; question count</a:t>
            </a:r>
          </a:p>
        </p:txBody>
      </p:sp>
      <p:sp>
        <p:nvSpPr>
          <p:cNvPr id="25" name="TextBox 24"/>
          <p:cNvSpPr txBox="1"/>
          <p:nvPr/>
        </p:nvSpPr>
        <p:spPr>
          <a:xfrm>
            <a:off x="6030468" y="2171700"/>
            <a:ext cx="164592" cy="274320"/>
          </a:xfrm>
          <a:prstGeom prst="rect">
            <a:avLst/>
          </a:prstGeom>
          <a:noFill/>
        </p:spPr>
        <p:txBody>
          <a:bodyPr wrap="square">
            <a:spAutoFit/>
          </a:bodyPr>
          <a:lstStyle/>
          <a:p>
            <a:pPr algn="ctr"/>
            <a:r>
              <a:rPr sz="1400" b="0" i="0">
                <a:solidFill>
                  <a:srgbClr val="C98BA6"/>
                </a:solidFill>
                <a:latin typeface="Calibri"/>
              </a:rPr>
              <a:t>→</a:t>
            </a:r>
          </a:p>
        </p:txBody>
      </p:sp>
      <p:sp>
        <p:nvSpPr>
          <p:cNvPr id="26" name="Rectangle 25"/>
          <p:cNvSpPr/>
          <p:nvPr/>
        </p:nvSpPr>
        <p:spPr>
          <a:xfrm>
            <a:off x="6195060" y="1508760"/>
            <a:ext cx="1719072" cy="1600200"/>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798564" y="1572768"/>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98564" y="1600200"/>
            <a:ext cx="512064" cy="457200"/>
          </a:xfrm>
          <a:prstGeom prst="rect">
            <a:avLst/>
          </a:prstGeom>
          <a:noFill/>
        </p:spPr>
        <p:txBody>
          <a:bodyPr wrap="square">
            <a:spAutoFit/>
          </a:bodyPr>
          <a:lstStyle/>
          <a:p>
            <a:pPr algn="ctr"/>
            <a:r>
              <a:rPr sz="1300" b="1" i="0">
                <a:solidFill>
                  <a:srgbClr val="FFFFFF"/>
                </a:solidFill>
                <a:latin typeface="Calibri"/>
              </a:rPr>
              <a:t>4</a:t>
            </a:r>
          </a:p>
        </p:txBody>
      </p:sp>
      <p:sp>
        <p:nvSpPr>
          <p:cNvPr id="29" name="TextBox 28"/>
          <p:cNvSpPr txBox="1"/>
          <p:nvPr/>
        </p:nvSpPr>
        <p:spPr>
          <a:xfrm>
            <a:off x="6286500" y="2167128"/>
            <a:ext cx="1536192" cy="502920"/>
          </a:xfrm>
          <a:prstGeom prst="rect">
            <a:avLst/>
          </a:prstGeom>
          <a:noFill/>
        </p:spPr>
        <p:txBody>
          <a:bodyPr wrap="square">
            <a:spAutoFit/>
          </a:bodyPr>
          <a:lstStyle/>
          <a:p>
            <a:pPr algn="ctr"/>
            <a:r>
              <a:rPr sz="1000" b="1" i="0">
                <a:solidFill>
                  <a:srgbClr val="C98BA6"/>
                </a:solidFill>
                <a:latin typeface="Calibri"/>
              </a:rPr>
              <a:t>Answer
All Questions</a:t>
            </a:r>
          </a:p>
        </p:txBody>
      </p:sp>
      <p:sp>
        <p:nvSpPr>
          <p:cNvPr id="30" name="TextBox 29"/>
          <p:cNvSpPr txBox="1"/>
          <p:nvPr/>
        </p:nvSpPr>
        <p:spPr>
          <a:xfrm>
            <a:off x="6286500" y="2670048"/>
            <a:ext cx="1536192" cy="411480"/>
          </a:xfrm>
          <a:prstGeom prst="rect">
            <a:avLst/>
          </a:prstGeom>
          <a:noFill/>
        </p:spPr>
        <p:txBody>
          <a:bodyPr wrap="square">
            <a:spAutoFit/>
          </a:bodyPr>
          <a:lstStyle/>
          <a:p>
            <a:pPr algn="ctr"/>
            <a:r>
              <a:rPr sz="850" b="0" i="0">
                <a:solidFill>
                  <a:srgbClr val="FFFFFF"/>
                </a:solidFill>
                <a:latin typeface="Calibri"/>
              </a:rPr>
              <a:t>Select best
answer for each</a:t>
            </a:r>
          </a:p>
        </p:txBody>
      </p:sp>
      <p:sp>
        <p:nvSpPr>
          <p:cNvPr id="31" name="TextBox 30"/>
          <p:cNvSpPr txBox="1"/>
          <p:nvPr/>
        </p:nvSpPr>
        <p:spPr>
          <a:xfrm>
            <a:off x="7950708" y="2171700"/>
            <a:ext cx="164592" cy="274320"/>
          </a:xfrm>
          <a:prstGeom prst="rect">
            <a:avLst/>
          </a:prstGeom>
          <a:noFill/>
        </p:spPr>
        <p:txBody>
          <a:bodyPr wrap="square">
            <a:spAutoFit/>
          </a:bodyPr>
          <a:lstStyle/>
          <a:p>
            <a:pPr algn="ctr"/>
            <a:r>
              <a:rPr sz="1400" b="0" i="0">
                <a:solidFill>
                  <a:srgbClr val="C98BA6"/>
                </a:solidFill>
                <a:latin typeface="Calibri"/>
              </a:rPr>
              <a:t>→</a:t>
            </a:r>
          </a:p>
        </p:txBody>
      </p:sp>
      <p:sp>
        <p:nvSpPr>
          <p:cNvPr id="32" name="Rectangle 31"/>
          <p:cNvSpPr/>
          <p:nvPr/>
        </p:nvSpPr>
        <p:spPr>
          <a:xfrm>
            <a:off x="8115300" y="1508760"/>
            <a:ext cx="1719072" cy="1600200"/>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18804" y="1572768"/>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18804" y="1600200"/>
            <a:ext cx="512064" cy="457200"/>
          </a:xfrm>
          <a:prstGeom prst="rect">
            <a:avLst/>
          </a:prstGeom>
          <a:noFill/>
        </p:spPr>
        <p:txBody>
          <a:bodyPr wrap="square">
            <a:spAutoFit/>
          </a:bodyPr>
          <a:lstStyle/>
          <a:p>
            <a:pPr algn="ctr"/>
            <a:r>
              <a:rPr sz="1300" b="1" i="0">
                <a:solidFill>
                  <a:srgbClr val="FFFFFF"/>
                </a:solidFill>
                <a:latin typeface="Calibri"/>
              </a:rPr>
              <a:t>5</a:t>
            </a:r>
          </a:p>
        </p:txBody>
      </p:sp>
      <p:sp>
        <p:nvSpPr>
          <p:cNvPr id="35" name="TextBox 34"/>
          <p:cNvSpPr txBox="1"/>
          <p:nvPr/>
        </p:nvSpPr>
        <p:spPr>
          <a:xfrm>
            <a:off x="8206740" y="2167128"/>
            <a:ext cx="1536192" cy="502920"/>
          </a:xfrm>
          <a:prstGeom prst="rect">
            <a:avLst/>
          </a:prstGeom>
          <a:noFill/>
        </p:spPr>
        <p:txBody>
          <a:bodyPr wrap="square">
            <a:spAutoFit/>
          </a:bodyPr>
          <a:lstStyle/>
          <a:p>
            <a:pPr algn="ctr"/>
            <a:r>
              <a:rPr sz="1000" b="1" i="0">
                <a:solidFill>
                  <a:srgbClr val="C98BA6"/>
                </a:solidFill>
                <a:latin typeface="Calibri"/>
              </a:rPr>
              <a:t>Submit
Quiz</a:t>
            </a:r>
          </a:p>
        </p:txBody>
      </p:sp>
      <p:sp>
        <p:nvSpPr>
          <p:cNvPr id="36" name="TextBox 35"/>
          <p:cNvSpPr txBox="1"/>
          <p:nvPr/>
        </p:nvSpPr>
        <p:spPr>
          <a:xfrm>
            <a:off x="8206740" y="2670048"/>
            <a:ext cx="1536192" cy="411480"/>
          </a:xfrm>
          <a:prstGeom prst="rect">
            <a:avLst/>
          </a:prstGeom>
          <a:noFill/>
        </p:spPr>
        <p:txBody>
          <a:bodyPr wrap="square">
            <a:spAutoFit/>
          </a:bodyPr>
          <a:lstStyle/>
          <a:p>
            <a:pPr algn="ctr"/>
            <a:r>
              <a:rPr sz="850" b="0" i="0">
                <a:solidFill>
                  <a:srgbClr val="FFFFFF"/>
                </a:solidFill>
                <a:latin typeface="Calibri"/>
              </a:rPr>
              <a:t>Click Submit
when done</a:t>
            </a:r>
          </a:p>
        </p:txBody>
      </p:sp>
      <p:sp>
        <p:nvSpPr>
          <p:cNvPr id="37" name="TextBox 36"/>
          <p:cNvSpPr txBox="1"/>
          <p:nvPr/>
        </p:nvSpPr>
        <p:spPr>
          <a:xfrm>
            <a:off x="9870948" y="2171700"/>
            <a:ext cx="164592" cy="274320"/>
          </a:xfrm>
          <a:prstGeom prst="rect">
            <a:avLst/>
          </a:prstGeom>
          <a:noFill/>
        </p:spPr>
        <p:txBody>
          <a:bodyPr wrap="square">
            <a:spAutoFit/>
          </a:bodyPr>
          <a:lstStyle/>
          <a:p>
            <a:pPr algn="ctr"/>
            <a:r>
              <a:rPr sz="1400" b="0" i="0">
                <a:solidFill>
                  <a:srgbClr val="C98BA6"/>
                </a:solidFill>
                <a:latin typeface="Calibri"/>
              </a:rPr>
              <a:t>→</a:t>
            </a:r>
          </a:p>
        </p:txBody>
      </p:sp>
      <p:sp>
        <p:nvSpPr>
          <p:cNvPr id="38" name="Rectangle 37"/>
          <p:cNvSpPr/>
          <p:nvPr/>
        </p:nvSpPr>
        <p:spPr>
          <a:xfrm>
            <a:off x="10035540" y="1508760"/>
            <a:ext cx="1719072" cy="1600200"/>
          </a:xfrm>
          <a:prstGeom prst="rect">
            <a:avLst/>
          </a:prstGeom>
          <a:solidFill>
            <a:srgbClr val="3E1D68"/>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639044" y="1572768"/>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639044" y="1600200"/>
            <a:ext cx="512064" cy="457200"/>
          </a:xfrm>
          <a:prstGeom prst="rect">
            <a:avLst/>
          </a:prstGeom>
          <a:noFill/>
        </p:spPr>
        <p:txBody>
          <a:bodyPr wrap="square">
            <a:spAutoFit/>
          </a:bodyPr>
          <a:lstStyle/>
          <a:p>
            <a:pPr algn="ctr"/>
            <a:r>
              <a:rPr sz="1300" b="1" i="0">
                <a:solidFill>
                  <a:srgbClr val="FFFFFF"/>
                </a:solidFill>
                <a:latin typeface="Calibri"/>
              </a:rPr>
              <a:t>6</a:t>
            </a:r>
          </a:p>
        </p:txBody>
      </p:sp>
      <p:sp>
        <p:nvSpPr>
          <p:cNvPr id="41" name="TextBox 40"/>
          <p:cNvSpPr txBox="1"/>
          <p:nvPr/>
        </p:nvSpPr>
        <p:spPr>
          <a:xfrm>
            <a:off x="10126980" y="2167128"/>
            <a:ext cx="1536192" cy="502920"/>
          </a:xfrm>
          <a:prstGeom prst="rect">
            <a:avLst/>
          </a:prstGeom>
          <a:noFill/>
        </p:spPr>
        <p:txBody>
          <a:bodyPr wrap="square">
            <a:spAutoFit/>
          </a:bodyPr>
          <a:lstStyle/>
          <a:p>
            <a:pPr algn="ctr"/>
            <a:r>
              <a:rPr sz="1000" b="1" i="0">
                <a:solidFill>
                  <a:srgbClr val="C98BA6"/>
                </a:solidFill>
                <a:latin typeface="Calibri"/>
              </a:rPr>
              <a:t>View
Results</a:t>
            </a:r>
          </a:p>
        </p:txBody>
      </p:sp>
      <p:sp>
        <p:nvSpPr>
          <p:cNvPr id="42" name="TextBox 41"/>
          <p:cNvSpPr txBox="1"/>
          <p:nvPr/>
        </p:nvSpPr>
        <p:spPr>
          <a:xfrm>
            <a:off x="10126980" y="2670048"/>
            <a:ext cx="1536192" cy="411480"/>
          </a:xfrm>
          <a:prstGeom prst="rect">
            <a:avLst/>
          </a:prstGeom>
          <a:noFill/>
        </p:spPr>
        <p:txBody>
          <a:bodyPr wrap="square">
            <a:spAutoFit/>
          </a:bodyPr>
          <a:lstStyle/>
          <a:p>
            <a:pPr algn="ctr"/>
            <a:r>
              <a:rPr sz="850" b="0" i="0">
                <a:solidFill>
                  <a:srgbClr val="FFFFFF"/>
                </a:solidFill>
                <a:latin typeface="Calibri"/>
              </a:rPr>
              <a:t>See score &amp;
correct answers</a:t>
            </a:r>
          </a:p>
        </p:txBody>
      </p:sp>
      <p:sp>
        <p:nvSpPr>
          <p:cNvPr id="43" name="Rectangle 42"/>
          <p:cNvSpPr/>
          <p:nvPr/>
        </p:nvSpPr>
        <p:spPr>
          <a:xfrm>
            <a:off x="457200" y="3337560"/>
            <a:ext cx="5303520" cy="2971800"/>
          </a:xfrm>
          <a:prstGeom prst="rect">
            <a:avLst/>
          </a:prstGeom>
          <a:solidFill>
            <a:srgbClr val="3E1D68"/>
          </a:solid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3520440"/>
            <a:ext cx="4846320" cy="347472"/>
          </a:xfrm>
          <a:prstGeom prst="rect">
            <a:avLst/>
          </a:prstGeom>
          <a:noFill/>
        </p:spPr>
        <p:txBody>
          <a:bodyPr wrap="square">
            <a:spAutoFit/>
          </a:bodyPr>
          <a:lstStyle/>
          <a:p>
            <a:pPr algn="l"/>
            <a:r>
              <a:rPr sz="1100" b="1" i="0">
                <a:solidFill>
                  <a:srgbClr val="C98BA6"/>
                </a:solidFill>
                <a:latin typeface="Calibri"/>
              </a:rPr>
              <a:t>📊  Quiz Results – Chapter 2: Chemical Bonding</a:t>
            </a:r>
          </a:p>
        </p:txBody>
      </p:sp>
      <p:sp>
        <p:nvSpPr>
          <p:cNvPr id="45" name="Rectangle 44"/>
          <p:cNvSpPr/>
          <p:nvPr/>
        </p:nvSpPr>
        <p:spPr>
          <a:xfrm>
            <a:off x="685800" y="3867912"/>
            <a:ext cx="4846320" cy="27432"/>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41248" y="4251960"/>
            <a:ext cx="1609344" cy="1609344"/>
          </a:xfrm>
          <a:prstGeom prst="ellipse">
            <a:avLst/>
          </a:prstGeom>
          <a:solidFill>
            <a:srgbClr val="553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78992" y="4489704"/>
            <a:ext cx="1133856" cy="1133856"/>
          </a:xfrm>
          <a:prstGeom prst="ellipse">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43000" y="4818888"/>
            <a:ext cx="1005840" cy="475488"/>
          </a:xfrm>
          <a:prstGeom prst="rect">
            <a:avLst/>
          </a:prstGeom>
          <a:noFill/>
        </p:spPr>
        <p:txBody>
          <a:bodyPr wrap="square">
            <a:spAutoFit/>
          </a:bodyPr>
          <a:lstStyle/>
          <a:p>
            <a:pPr algn="ctr"/>
            <a:r>
              <a:rPr sz="1600" b="1" i="0">
                <a:solidFill>
                  <a:srgbClr val="C98BA6"/>
                </a:solidFill>
                <a:latin typeface="Calibri"/>
              </a:rPr>
              <a:t>85%</a:t>
            </a:r>
          </a:p>
        </p:txBody>
      </p:sp>
      <p:sp>
        <p:nvSpPr>
          <p:cNvPr id="49" name="TextBox 48"/>
          <p:cNvSpPr txBox="1"/>
          <p:nvPr/>
        </p:nvSpPr>
        <p:spPr>
          <a:xfrm>
            <a:off x="1143000" y="5276088"/>
            <a:ext cx="1005840" cy="256032"/>
          </a:xfrm>
          <a:prstGeom prst="rect">
            <a:avLst/>
          </a:prstGeom>
          <a:noFill/>
        </p:spPr>
        <p:txBody>
          <a:bodyPr wrap="square">
            <a:spAutoFit/>
          </a:bodyPr>
          <a:lstStyle/>
          <a:p>
            <a:pPr algn="ctr"/>
            <a:r>
              <a:rPr sz="800" b="0" i="0">
                <a:solidFill>
                  <a:srgbClr val="FFFFFF"/>
                </a:solidFill>
                <a:latin typeface="Calibri"/>
              </a:rPr>
              <a:t>Score</a:t>
            </a:r>
          </a:p>
        </p:txBody>
      </p:sp>
      <p:sp>
        <p:nvSpPr>
          <p:cNvPr id="50" name="TextBox 49"/>
          <p:cNvSpPr txBox="1"/>
          <p:nvPr/>
        </p:nvSpPr>
        <p:spPr>
          <a:xfrm>
            <a:off x="2468880" y="4709160"/>
            <a:ext cx="1097280" cy="502920"/>
          </a:xfrm>
          <a:prstGeom prst="rect">
            <a:avLst/>
          </a:prstGeom>
          <a:noFill/>
        </p:spPr>
        <p:txBody>
          <a:bodyPr wrap="square">
            <a:spAutoFit/>
          </a:bodyPr>
          <a:lstStyle/>
          <a:p>
            <a:pPr algn="ctr"/>
            <a:r>
              <a:rPr sz="1800" b="1" i="0">
                <a:solidFill>
                  <a:srgbClr val="C98BA6"/>
                </a:solidFill>
                <a:latin typeface="Calibri"/>
              </a:rPr>
              <a:t>17/20</a:t>
            </a:r>
          </a:p>
        </p:txBody>
      </p:sp>
      <p:sp>
        <p:nvSpPr>
          <p:cNvPr id="51" name="TextBox 50"/>
          <p:cNvSpPr txBox="1"/>
          <p:nvPr/>
        </p:nvSpPr>
        <p:spPr>
          <a:xfrm>
            <a:off x="2468880" y="5184648"/>
            <a:ext cx="1097280" cy="274320"/>
          </a:xfrm>
          <a:prstGeom prst="rect">
            <a:avLst/>
          </a:prstGeom>
          <a:noFill/>
        </p:spPr>
        <p:txBody>
          <a:bodyPr wrap="square">
            <a:spAutoFit/>
          </a:bodyPr>
          <a:lstStyle/>
          <a:p>
            <a:pPr algn="ctr"/>
            <a:r>
              <a:rPr sz="900" b="0" i="0">
                <a:solidFill>
                  <a:srgbClr val="FFFFFF"/>
                </a:solidFill>
                <a:latin typeface="Calibri"/>
              </a:rPr>
              <a:t>Correct</a:t>
            </a:r>
          </a:p>
        </p:txBody>
      </p:sp>
      <p:sp>
        <p:nvSpPr>
          <p:cNvPr id="52" name="TextBox 51"/>
          <p:cNvSpPr txBox="1"/>
          <p:nvPr/>
        </p:nvSpPr>
        <p:spPr>
          <a:xfrm>
            <a:off x="3566160" y="4709160"/>
            <a:ext cx="1097280" cy="502920"/>
          </a:xfrm>
          <a:prstGeom prst="rect">
            <a:avLst/>
          </a:prstGeom>
          <a:noFill/>
        </p:spPr>
        <p:txBody>
          <a:bodyPr wrap="square">
            <a:spAutoFit/>
          </a:bodyPr>
          <a:lstStyle/>
          <a:p>
            <a:pPr algn="ctr"/>
            <a:r>
              <a:rPr sz="1800" b="1" i="0">
                <a:solidFill>
                  <a:srgbClr val="C98BA6"/>
                </a:solidFill>
                <a:latin typeface="Calibri"/>
              </a:rPr>
              <a:t>12 min</a:t>
            </a:r>
          </a:p>
        </p:txBody>
      </p:sp>
      <p:sp>
        <p:nvSpPr>
          <p:cNvPr id="53" name="TextBox 52"/>
          <p:cNvSpPr txBox="1"/>
          <p:nvPr/>
        </p:nvSpPr>
        <p:spPr>
          <a:xfrm>
            <a:off x="3566160" y="5184648"/>
            <a:ext cx="1097280" cy="274320"/>
          </a:xfrm>
          <a:prstGeom prst="rect">
            <a:avLst/>
          </a:prstGeom>
          <a:noFill/>
        </p:spPr>
        <p:txBody>
          <a:bodyPr wrap="square">
            <a:spAutoFit/>
          </a:bodyPr>
          <a:lstStyle/>
          <a:p>
            <a:pPr algn="ctr"/>
            <a:r>
              <a:rPr sz="900" b="0" i="0">
                <a:solidFill>
                  <a:srgbClr val="FFFFFF"/>
                </a:solidFill>
                <a:latin typeface="Calibri"/>
              </a:rPr>
              <a:t>Time</a:t>
            </a:r>
          </a:p>
        </p:txBody>
      </p:sp>
      <p:sp>
        <p:nvSpPr>
          <p:cNvPr id="54" name="Rectangle 53"/>
          <p:cNvSpPr/>
          <p:nvPr/>
        </p:nvSpPr>
        <p:spPr>
          <a:xfrm>
            <a:off x="685800" y="5715000"/>
            <a:ext cx="4846320" cy="320040"/>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7240" y="5769864"/>
            <a:ext cx="4663440" cy="256032"/>
          </a:xfrm>
          <a:prstGeom prst="rect">
            <a:avLst/>
          </a:prstGeom>
          <a:noFill/>
        </p:spPr>
        <p:txBody>
          <a:bodyPr wrap="square">
            <a:spAutoFit/>
          </a:bodyPr>
          <a:lstStyle/>
          <a:p>
            <a:pPr algn="l"/>
            <a:r>
              <a:rPr sz="900" b="1" i="0">
                <a:solidFill>
                  <a:srgbClr val="FFFFFF"/>
                </a:solidFill>
                <a:latin typeface="Calibri"/>
              </a:rPr>
              <a:t>🎉  Great job! Review the 3 missed questions below.</a:t>
            </a:r>
          </a:p>
        </p:txBody>
      </p:sp>
      <p:sp>
        <p:nvSpPr>
          <p:cNvPr id="56" name="TextBox 55"/>
          <p:cNvSpPr txBox="1"/>
          <p:nvPr/>
        </p:nvSpPr>
        <p:spPr>
          <a:xfrm>
            <a:off x="6172200" y="3364992"/>
            <a:ext cx="5669280" cy="384048"/>
          </a:xfrm>
          <a:prstGeom prst="rect">
            <a:avLst/>
          </a:prstGeom>
          <a:noFill/>
        </p:spPr>
        <p:txBody>
          <a:bodyPr wrap="square">
            <a:spAutoFit/>
          </a:bodyPr>
          <a:lstStyle/>
          <a:p>
            <a:pPr algn="l"/>
            <a:r>
              <a:rPr sz="1300" b="1" i="0">
                <a:solidFill>
                  <a:srgbClr val="3E1D68"/>
                </a:solidFill>
                <a:latin typeface="Calibri"/>
              </a:rPr>
              <a:t>Quiz Tips for Success</a:t>
            </a:r>
          </a:p>
        </p:txBody>
      </p:sp>
      <p:sp>
        <p:nvSpPr>
          <p:cNvPr id="57" name="Rectangle 56"/>
          <p:cNvSpPr/>
          <p:nvPr/>
        </p:nvSpPr>
        <p:spPr>
          <a:xfrm>
            <a:off x="6172200" y="3730752"/>
            <a:ext cx="3200400" cy="36576"/>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172200" y="3858768"/>
            <a:ext cx="5669280" cy="43891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63640" y="3950208"/>
            <a:ext cx="5394960" cy="329184"/>
          </a:xfrm>
          <a:prstGeom prst="rect">
            <a:avLst/>
          </a:prstGeom>
          <a:noFill/>
        </p:spPr>
        <p:txBody>
          <a:bodyPr wrap="square">
            <a:spAutoFit/>
          </a:bodyPr>
          <a:lstStyle/>
          <a:p>
            <a:pPr algn="l"/>
            <a:r>
              <a:rPr sz="950" b="0" i="0">
                <a:solidFill>
                  <a:srgbClr val="333344"/>
                </a:solidFill>
                <a:latin typeface="Calibri"/>
              </a:rPr>
              <a:t>📝  Read the question carefully before answering</a:t>
            </a:r>
          </a:p>
        </p:txBody>
      </p:sp>
      <p:sp>
        <p:nvSpPr>
          <p:cNvPr id="60" name="Rectangle 59"/>
          <p:cNvSpPr/>
          <p:nvPr/>
        </p:nvSpPr>
        <p:spPr>
          <a:xfrm>
            <a:off x="6172200" y="4361688"/>
            <a:ext cx="5669280" cy="43891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63640" y="4453128"/>
            <a:ext cx="5394960" cy="329184"/>
          </a:xfrm>
          <a:prstGeom prst="rect">
            <a:avLst/>
          </a:prstGeom>
          <a:noFill/>
        </p:spPr>
        <p:txBody>
          <a:bodyPr wrap="square">
            <a:spAutoFit/>
          </a:bodyPr>
          <a:lstStyle/>
          <a:p>
            <a:pPr algn="l"/>
            <a:r>
              <a:rPr sz="950" b="0" i="0">
                <a:solidFill>
                  <a:srgbClr val="333344"/>
                </a:solidFill>
                <a:latin typeface="Calibri"/>
              </a:rPr>
              <a:t>⏱️  Keep an eye on the timer — don't spend too long on one question</a:t>
            </a:r>
          </a:p>
        </p:txBody>
      </p:sp>
      <p:sp>
        <p:nvSpPr>
          <p:cNvPr id="62" name="Rectangle 61"/>
          <p:cNvSpPr/>
          <p:nvPr/>
        </p:nvSpPr>
        <p:spPr>
          <a:xfrm>
            <a:off x="6172200" y="4864608"/>
            <a:ext cx="5669280" cy="43891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63640" y="4956048"/>
            <a:ext cx="5394960" cy="329184"/>
          </a:xfrm>
          <a:prstGeom prst="rect">
            <a:avLst/>
          </a:prstGeom>
          <a:noFill/>
        </p:spPr>
        <p:txBody>
          <a:bodyPr wrap="square">
            <a:spAutoFit/>
          </a:bodyPr>
          <a:lstStyle/>
          <a:p>
            <a:pPr algn="l"/>
            <a:r>
              <a:rPr sz="950" b="0" i="0">
                <a:solidFill>
                  <a:srgbClr val="333344"/>
                </a:solidFill>
                <a:latin typeface="Calibri"/>
              </a:rPr>
              <a:t>🔄  You can review questions before submitting</a:t>
            </a:r>
          </a:p>
        </p:txBody>
      </p:sp>
      <p:sp>
        <p:nvSpPr>
          <p:cNvPr id="64" name="Rectangle 63"/>
          <p:cNvSpPr/>
          <p:nvPr/>
        </p:nvSpPr>
        <p:spPr>
          <a:xfrm>
            <a:off x="6172200" y="5367528"/>
            <a:ext cx="5669280" cy="43891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63640" y="5458968"/>
            <a:ext cx="5394960" cy="329184"/>
          </a:xfrm>
          <a:prstGeom prst="rect">
            <a:avLst/>
          </a:prstGeom>
          <a:noFill/>
        </p:spPr>
        <p:txBody>
          <a:bodyPr wrap="square">
            <a:spAutoFit/>
          </a:bodyPr>
          <a:lstStyle/>
          <a:p>
            <a:pPr algn="l"/>
            <a:r>
              <a:rPr sz="950" b="0" i="0">
                <a:solidFill>
                  <a:srgbClr val="333344"/>
                </a:solidFill>
                <a:latin typeface="Calibri"/>
              </a:rPr>
              <a:t>💡  After submission, study the explanations for wrong answers</a:t>
            </a:r>
          </a:p>
        </p:txBody>
      </p:sp>
      <p:sp>
        <p:nvSpPr>
          <p:cNvPr id="66" name="Rectangle 65"/>
          <p:cNvSpPr/>
          <p:nvPr/>
        </p:nvSpPr>
        <p:spPr>
          <a:xfrm>
            <a:off x="6172200" y="5870448"/>
            <a:ext cx="5669280" cy="43891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63640" y="5961888"/>
            <a:ext cx="5394960" cy="329184"/>
          </a:xfrm>
          <a:prstGeom prst="rect">
            <a:avLst/>
          </a:prstGeom>
          <a:noFill/>
        </p:spPr>
        <p:txBody>
          <a:bodyPr wrap="square">
            <a:spAutoFit/>
          </a:bodyPr>
          <a:lstStyle/>
          <a:p>
            <a:pPr algn="l"/>
            <a:r>
              <a:rPr sz="950" b="0" i="0">
                <a:solidFill>
                  <a:srgbClr val="333344"/>
                </a:solidFill>
                <a:latin typeface="Calibri"/>
              </a:rPr>
              <a:t>📈  Aim for 80%+ before moving to the next chapter</a:t>
            </a:r>
          </a:p>
        </p:txBody>
      </p:sp>
      <p:sp>
        <p:nvSpPr>
          <p:cNvPr id="68" name="Rectangle 67"/>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
            <a:ext cx="1828800" cy="457200"/>
          </a:xfrm>
          <a:prstGeom prst="rect">
            <a:avLst/>
          </a:prstGeom>
          <a:noFill/>
        </p:spPr>
        <p:txBody>
          <a:bodyPr wrap="square">
            <a:spAutoFit/>
          </a:bodyPr>
          <a:lstStyle/>
          <a:p>
            <a:pPr algn="l"/>
            <a:r>
              <a:rPr sz="900" b="1" i="0">
                <a:solidFill>
                  <a:srgbClr val="C98BA6"/>
                </a:solidFill>
                <a:latin typeface="Calibri"/>
              </a:rPr>
              <a:t>ANALYTICS</a:t>
            </a:r>
          </a:p>
        </p:txBody>
      </p:sp>
      <p:sp>
        <p:nvSpPr>
          <p:cNvPr id="7" name="TextBox 6"/>
          <p:cNvSpPr txBox="1"/>
          <p:nvPr/>
        </p:nvSpPr>
        <p:spPr>
          <a:xfrm>
            <a:off x="457200" y="475488"/>
            <a:ext cx="9144000" cy="640080"/>
          </a:xfrm>
          <a:prstGeom prst="rect">
            <a:avLst/>
          </a:prstGeom>
          <a:noFill/>
        </p:spPr>
        <p:txBody>
          <a:bodyPr wrap="square">
            <a:spAutoFit/>
          </a:bodyPr>
          <a:lstStyle/>
          <a:p>
            <a:pPr algn="l"/>
            <a:r>
              <a:rPr sz="2800" b="1" i="0">
                <a:solidFill>
                  <a:srgbClr val="FFFFFF"/>
                </a:solidFill>
                <a:latin typeface="Calibri"/>
              </a:rPr>
              <a:t>Tracking Your Progress</a:t>
            </a:r>
          </a:p>
        </p:txBody>
      </p:sp>
      <p:sp>
        <p:nvSpPr>
          <p:cNvPr id="8" name="Rectangle 7"/>
          <p:cNvSpPr/>
          <p:nvPr/>
        </p:nvSpPr>
        <p:spPr>
          <a:xfrm>
            <a:off x="457200" y="1481328"/>
            <a:ext cx="2697480" cy="1234440"/>
          </a:xfrm>
          <a:prstGeom prst="rect">
            <a:avLst/>
          </a:prstGeom>
          <a:solidFill>
            <a:srgbClr val="3E1D68"/>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645920"/>
            <a:ext cx="502920" cy="502920"/>
          </a:xfrm>
          <a:prstGeom prst="rect">
            <a:avLst/>
          </a:prstGeom>
          <a:noFill/>
        </p:spPr>
        <p:txBody>
          <a:bodyPr wrap="square">
            <a:spAutoFit/>
          </a:bodyPr>
          <a:lstStyle/>
          <a:p>
            <a:pPr algn="l"/>
            <a:r>
              <a:rPr sz="2200" b="0" i="0">
                <a:solidFill>
                  <a:srgbClr val="FFFFFF"/>
                </a:solidFill>
                <a:latin typeface="Calibri"/>
              </a:rPr>
              <a:t>📹</a:t>
            </a:r>
          </a:p>
        </p:txBody>
      </p:sp>
      <p:sp>
        <p:nvSpPr>
          <p:cNvPr id="10" name="TextBox 9"/>
          <p:cNvSpPr txBox="1"/>
          <p:nvPr/>
        </p:nvSpPr>
        <p:spPr>
          <a:xfrm>
            <a:off x="1170432" y="1609344"/>
            <a:ext cx="1892808" cy="502920"/>
          </a:xfrm>
          <a:prstGeom prst="rect">
            <a:avLst/>
          </a:prstGeom>
          <a:noFill/>
        </p:spPr>
        <p:txBody>
          <a:bodyPr wrap="square">
            <a:spAutoFit/>
          </a:bodyPr>
          <a:lstStyle/>
          <a:p>
            <a:pPr algn="l"/>
            <a:r>
              <a:rPr sz="2200" b="1" i="0">
                <a:solidFill>
                  <a:srgbClr val="C98BA6"/>
                </a:solidFill>
                <a:latin typeface="Calibri"/>
              </a:rPr>
              <a:t>8 / 12</a:t>
            </a:r>
          </a:p>
        </p:txBody>
      </p:sp>
      <p:sp>
        <p:nvSpPr>
          <p:cNvPr id="11" name="TextBox 10"/>
          <p:cNvSpPr txBox="1"/>
          <p:nvPr/>
        </p:nvSpPr>
        <p:spPr>
          <a:xfrm>
            <a:off x="1170432" y="2103120"/>
            <a:ext cx="1892808" cy="502920"/>
          </a:xfrm>
          <a:prstGeom prst="rect">
            <a:avLst/>
          </a:prstGeom>
          <a:noFill/>
        </p:spPr>
        <p:txBody>
          <a:bodyPr wrap="square">
            <a:spAutoFit/>
          </a:bodyPr>
          <a:lstStyle/>
          <a:p>
            <a:pPr algn="l"/>
            <a:r>
              <a:rPr sz="900" b="0" i="0">
                <a:solidFill>
                  <a:srgbClr val="FFFFFF"/>
                </a:solidFill>
                <a:latin typeface="Calibri"/>
              </a:rPr>
              <a:t>Lessons
Completed</a:t>
            </a:r>
          </a:p>
        </p:txBody>
      </p:sp>
      <p:sp>
        <p:nvSpPr>
          <p:cNvPr id="12" name="Rectangle 11"/>
          <p:cNvSpPr/>
          <p:nvPr/>
        </p:nvSpPr>
        <p:spPr>
          <a:xfrm>
            <a:off x="3264408" y="1481328"/>
            <a:ext cx="2697480" cy="1234440"/>
          </a:xfrm>
          <a:prstGeom prst="rect">
            <a:avLst/>
          </a:prstGeom>
          <a:solidFill>
            <a:srgbClr val="3E1D68"/>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645920"/>
            <a:ext cx="502920" cy="502920"/>
          </a:xfrm>
          <a:prstGeom prst="rect">
            <a:avLst/>
          </a:prstGeom>
          <a:noFill/>
        </p:spPr>
        <p:txBody>
          <a:bodyPr wrap="square">
            <a:spAutoFit/>
          </a:bodyPr>
          <a:lstStyle/>
          <a:p>
            <a:pPr algn="l"/>
            <a:r>
              <a:rPr sz="2200" b="0" i="0">
                <a:solidFill>
                  <a:srgbClr val="FFFFFF"/>
                </a:solidFill>
                <a:latin typeface="Calibri"/>
              </a:rPr>
              <a:t>🏆</a:t>
            </a:r>
          </a:p>
        </p:txBody>
      </p:sp>
      <p:sp>
        <p:nvSpPr>
          <p:cNvPr id="14" name="TextBox 13"/>
          <p:cNvSpPr txBox="1"/>
          <p:nvPr/>
        </p:nvSpPr>
        <p:spPr>
          <a:xfrm>
            <a:off x="3977640" y="1609344"/>
            <a:ext cx="1892808" cy="502920"/>
          </a:xfrm>
          <a:prstGeom prst="rect">
            <a:avLst/>
          </a:prstGeom>
          <a:noFill/>
        </p:spPr>
        <p:txBody>
          <a:bodyPr wrap="square">
            <a:spAutoFit/>
          </a:bodyPr>
          <a:lstStyle/>
          <a:p>
            <a:pPr algn="l"/>
            <a:r>
              <a:rPr sz="2200" b="1" i="0">
                <a:solidFill>
                  <a:srgbClr val="C98BA6"/>
                </a:solidFill>
                <a:latin typeface="Calibri"/>
              </a:rPr>
              <a:t>75%</a:t>
            </a:r>
          </a:p>
        </p:txBody>
      </p:sp>
      <p:sp>
        <p:nvSpPr>
          <p:cNvPr id="15" name="TextBox 14"/>
          <p:cNvSpPr txBox="1"/>
          <p:nvPr/>
        </p:nvSpPr>
        <p:spPr>
          <a:xfrm>
            <a:off x="3977640" y="2103120"/>
            <a:ext cx="1892808" cy="502920"/>
          </a:xfrm>
          <a:prstGeom prst="rect">
            <a:avLst/>
          </a:prstGeom>
          <a:noFill/>
        </p:spPr>
        <p:txBody>
          <a:bodyPr wrap="square">
            <a:spAutoFit/>
          </a:bodyPr>
          <a:lstStyle/>
          <a:p>
            <a:pPr algn="l"/>
            <a:r>
              <a:rPr sz="900" b="0" i="0">
                <a:solidFill>
                  <a:srgbClr val="FFFFFF"/>
                </a:solidFill>
                <a:latin typeface="Calibri"/>
              </a:rPr>
              <a:t>Average
Quiz Score</a:t>
            </a:r>
          </a:p>
        </p:txBody>
      </p:sp>
      <p:sp>
        <p:nvSpPr>
          <p:cNvPr id="16" name="Rectangle 15"/>
          <p:cNvSpPr/>
          <p:nvPr/>
        </p:nvSpPr>
        <p:spPr>
          <a:xfrm>
            <a:off x="6071616" y="1481328"/>
            <a:ext cx="2697480" cy="1234440"/>
          </a:xfrm>
          <a:prstGeom prst="rect">
            <a:avLst/>
          </a:prstGeom>
          <a:solidFill>
            <a:srgbClr val="3E1D68"/>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6208" y="1645920"/>
            <a:ext cx="502920" cy="502920"/>
          </a:xfrm>
          <a:prstGeom prst="rect">
            <a:avLst/>
          </a:prstGeom>
          <a:noFill/>
        </p:spPr>
        <p:txBody>
          <a:bodyPr wrap="square">
            <a:spAutoFit/>
          </a:bodyPr>
          <a:lstStyle/>
          <a:p>
            <a:pPr algn="l"/>
            <a:r>
              <a:rPr sz="2200" b="0" i="0">
                <a:solidFill>
                  <a:srgbClr val="FFFFFF"/>
                </a:solidFill>
                <a:latin typeface="Calibri"/>
              </a:rPr>
              <a:t>⭐</a:t>
            </a:r>
          </a:p>
        </p:txBody>
      </p:sp>
      <p:sp>
        <p:nvSpPr>
          <p:cNvPr id="18" name="TextBox 17"/>
          <p:cNvSpPr txBox="1"/>
          <p:nvPr/>
        </p:nvSpPr>
        <p:spPr>
          <a:xfrm>
            <a:off x="6784848" y="1609344"/>
            <a:ext cx="1892808" cy="502920"/>
          </a:xfrm>
          <a:prstGeom prst="rect">
            <a:avLst/>
          </a:prstGeom>
          <a:noFill/>
        </p:spPr>
        <p:txBody>
          <a:bodyPr wrap="square">
            <a:spAutoFit/>
          </a:bodyPr>
          <a:lstStyle/>
          <a:p>
            <a:pPr algn="l"/>
            <a:r>
              <a:rPr sz="2200" b="1" i="0">
                <a:solidFill>
                  <a:srgbClr val="C98BA6"/>
                </a:solidFill>
                <a:latin typeface="Calibri"/>
              </a:rPr>
              <a:t>3</a:t>
            </a:r>
          </a:p>
        </p:txBody>
      </p:sp>
      <p:sp>
        <p:nvSpPr>
          <p:cNvPr id="19" name="TextBox 18"/>
          <p:cNvSpPr txBox="1"/>
          <p:nvPr/>
        </p:nvSpPr>
        <p:spPr>
          <a:xfrm>
            <a:off x="6784848" y="2103120"/>
            <a:ext cx="1892808" cy="502920"/>
          </a:xfrm>
          <a:prstGeom prst="rect">
            <a:avLst/>
          </a:prstGeom>
          <a:noFill/>
        </p:spPr>
        <p:txBody>
          <a:bodyPr wrap="square">
            <a:spAutoFit/>
          </a:bodyPr>
          <a:lstStyle/>
          <a:p>
            <a:pPr algn="l"/>
            <a:r>
              <a:rPr sz="900" b="0" i="0">
                <a:solidFill>
                  <a:srgbClr val="FFFFFF"/>
                </a:solidFill>
                <a:latin typeface="Calibri"/>
              </a:rPr>
              <a:t>Chapters
Mastered</a:t>
            </a:r>
          </a:p>
        </p:txBody>
      </p:sp>
      <p:sp>
        <p:nvSpPr>
          <p:cNvPr id="20" name="Rectangle 19"/>
          <p:cNvSpPr/>
          <p:nvPr/>
        </p:nvSpPr>
        <p:spPr>
          <a:xfrm>
            <a:off x="8878824" y="1481328"/>
            <a:ext cx="2697480" cy="1234440"/>
          </a:xfrm>
          <a:prstGeom prst="rect">
            <a:avLst/>
          </a:prstGeom>
          <a:solidFill>
            <a:srgbClr val="3E1D68"/>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43416" y="1645920"/>
            <a:ext cx="502920" cy="502920"/>
          </a:xfrm>
          <a:prstGeom prst="rect">
            <a:avLst/>
          </a:prstGeom>
          <a:noFill/>
        </p:spPr>
        <p:txBody>
          <a:bodyPr wrap="square">
            <a:spAutoFit/>
          </a:bodyPr>
          <a:lstStyle/>
          <a:p>
            <a:pPr algn="l"/>
            <a:r>
              <a:rPr sz="2200" b="0" i="0">
                <a:solidFill>
                  <a:srgbClr val="FFFFFF"/>
                </a:solidFill>
                <a:latin typeface="Calibri"/>
              </a:rPr>
              <a:t>⏱️</a:t>
            </a:r>
          </a:p>
        </p:txBody>
      </p:sp>
      <p:sp>
        <p:nvSpPr>
          <p:cNvPr id="22" name="TextBox 21"/>
          <p:cNvSpPr txBox="1"/>
          <p:nvPr/>
        </p:nvSpPr>
        <p:spPr>
          <a:xfrm>
            <a:off x="9592056" y="1609344"/>
            <a:ext cx="1892808" cy="502920"/>
          </a:xfrm>
          <a:prstGeom prst="rect">
            <a:avLst/>
          </a:prstGeom>
          <a:noFill/>
        </p:spPr>
        <p:txBody>
          <a:bodyPr wrap="square">
            <a:spAutoFit/>
          </a:bodyPr>
          <a:lstStyle/>
          <a:p>
            <a:pPr algn="l"/>
            <a:r>
              <a:rPr sz="2200" b="1" i="0">
                <a:solidFill>
                  <a:srgbClr val="C98BA6"/>
                </a:solidFill>
                <a:latin typeface="Calibri"/>
              </a:rPr>
              <a:t>4 hrs</a:t>
            </a:r>
          </a:p>
        </p:txBody>
      </p:sp>
      <p:sp>
        <p:nvSpPr>
          <p:cNvPr id="23" name="TextBox 22"/>
          <p:cNvSpPr txBox="1"/>
          <p:nvPr/>
        </p:nvSpPr>
        <p:spPr>
          <a:xfrm>
            <a:off x="9592056" y="2103120"/>
            <a:ext cx="1892808" cy="502920"/>
          </a:xfrm>
          <a:prstGeom prst="rect">
            <a:avLst/>
          </a:prstGeom>
          <a:noFill/>
        </p:spPr>
        <p:txBody>
          <a:bodyPr wrap="square">
            <a:spAutoFit/>
          </a:bodyPr>
          <a:lstStyle/>
          <a:p>
            <a:pPr algn="l"/>
            <a:r>
              <a:rPr sz="900" b="0" i="0">
                <a:solidFill>
                  <a:srgbClr val="FFFFFF"/>
                </a:solidFill>
                <a:latin typeface="Calibri"/>
              </a:rPr>
              <a:t>Study
Time</a:t>
            </a:r>
          </a:p>
        </p:txBody>
      </p:sp>
      <p:sp>
        <p:nvSpPr>
          <p:cNvPr id="24" name="Rectangle 23"/>
          <p:cNvSpPr/>
          <p:nvPr/>
        </p:nvSpPr>
        <p:spPr>
          <a:xfrm>
            <a:off x="457200" y="2880360"/>
            <a:ext cx="6675120" cy="38404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2971800"/>
            <a:ext cx="2560320" cy="256032"/>
          </a:xfrm>
          <a:prstGeom prst="rect">
            <a:avLst/>
          </a:prstGeom>
          <a:noFill/>
        </p:spPr>
        <p:txBody>
          <a:bodyPr wrap="square">
            <a:spAutoFit/>
          </a:bodyPr>
          <a:lstStyle/>
          <a:p>
            <a:pPr algn="l"/>
            <a:r>
              <a:rPr sz="900" b="1" i="0">
                <a:solidFill>
                  <a:srgbClr val="C98BA6"/>
                </a:solidFill>
                <a:latin typeface="Calibri"/>
              </a:rPr>
              <a:t>Chapter</a:t>
            </a:r>
          </a:p>
        </p:txBody>
      </p:sp>
      <p:sp>
        <p:nvSpPr>
          <p:cNvPr id="26" name="TextBox 25"/>
          <p:cNvSpPr txBox="1"/>
          <p:nvPr/>
        </p:nvSpPr>
        <p:spPr>
          <a:xfrm>
            <a:off x="3108960" y="2971800"/>
            <a:ext cx="1280160" cy="256032"/>
          </a:xfrm>
          <a:prstGeom prst="rect">
            <a:avLst/>
          </a:prstGeom>
          <a:noFill/>
        </p:spPr>
        <p:txBody>
          <a:bodyPr wrap="square">
            <a:spAutoFit/>
          </a:bodyPr>
          <a:lstStyle/>
          <a:p>
            <a:pPr algn="l"/>
            <a:r>
              <a:rPr sz="900" b="1" i="0">
                <a:solidFill>
                  <a:srgbClr val="C98BA6"/>
                </a:solidFill>
                <a:latin typeface="Calibri"/>
              </a:rPr>
              <a:t>Status</a:t>
            </a:r>
          </a:p>
        </p:txBody>
      </p:sp>
      <p:sp>
        <p:nvSpPr>
          <p:cNvPr id="27" name="TextBox 26"/>
          <p:cNvSpPr txBox="1"/>
          <p:nvPr/>
        </p:nvSpPr>
        <p:spPr>
          <a:xfrm>
            <a:off x="4389120" y="2971800"/>
            <a:ext cx="1097280" cy="256032"/>
          </a:xfrm>
          <a:prstGeom prst="rect">
            <a:avLst/>
          </a:prstGeom>
          <a:noFill/>
        </p:spPr>
        <p:txBody>
          <a:bodyPr wrap="square">
            <a:spAutoFit/>
          </a:bodyPr>
          <a:lstStyle/>
          <a:p>
            <a:pPr algn="l"/>
            <a:r>
              <a:rPr sz="900" b="1" i="0">
                <a:solidFill>
                  <a:srgbClr val="C98BA6"/>
                </a:solidFill>
                <a:latin typeface="Calibri"/>
              </a:rPr>
              <a:t>Score</a:t>
            </a:r>
          </a:p>
        </p:txBody>
      </p:sp>
      <p:sp>
        <p:nvSpPr>
          <p:cNvPr id="28" name="TextBox 27"/>
          <p:cNvSpPr txBox="1"/>
          <p:nvPr/>
        </p:nvSpPr>
        <p:spPr>
          <a:xfrm>
            <a:off x="5486400" y="2971800"/>
            <a:ext cx="1737360" cy="256032"/>
          </a:xfrm>
          <a:prstGeom prst="rect">
            <a:avLst/>
          </a:prstGeom>
          <a:noFill/>
        </p:spPr>
        <p:txBody>
          <a:bodyPr wrap="square">
            <a:spAutoFit/>
          </a:bodyPr>
          <a:lstStyle/>
          <a:p>
            <a:pPr algn="l"/>
            <a:r>
              <a:rPr sz="900" b="1" i="0">
                <a:solidFill>
                  <a:srgbClr val="C98BA6"/>
                </a:solidFill>
                <a:latin typeface="Calibri"/>
              </a:rPr>
              <a:t>Completed</a:t>
            </a:r>
          </a:p>
        </p:txBody>
      </p:sp>
      <p:sp>
        <p:nvSpPr>
          <p:cNvPr id="29" name="Rectangle 28"/>
          <p:cNvSpPr/>
          <p:nvPr/>
        </p:nvSpPr>
        <p:spPr>
          <a:xfrm>
            <a:off x="457200" y="3264408"/>
            <a:ext cx="6675120" cy="420624"/>
          </a:xfrm>
          <a:prstGeom prst="rect">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355848"/>
            <a:ext cx="2377440" cy="292608"/>
          </a:xfrm>
          <a:prstGeom prst="rect">
            <a:avLst/>
          </a:prstGeom>
          <a:noFill/>
        </p:spPr>
        <p:txBody>
          <a:bodyPr wrap="square">
            <a:spAutoFit/>
          </a:bodyPr>
          <a:lstStyle/>
          <a:p>
            <a:pPr algn="l"/>
            <a:r>
              <a:rPr sz="850" b="0" i="0">
                <a:solidFill>
                  <a:srgbClr val="333344"/>
                </a:solidFill>
                <a:latin typeface="Calibri"/>
              </a:rPr>
              <a:t>Chapter 1: Atomic Structure</a:t>
            </a:r>
          </a:p>
        </p:txBody>
      </p:sp>
      <p:sp>
        <p:nvSpPr>
          <p:cNvPr id="31" name="TextBox 30"/>
          <p:cNvSpPr txBox="1"/>
          <p:nvPr/>
        </p:nvSpPr>
        <p:spPr>
          <a:xfrm>
            <a:off x="3108960" y="3355848"/>
            <a:ext cx="2377440" cy="292608"/>
          </a:xfrm>
          <a:prstGeom prst="rect">
            <a:avLst/>
          </a:prstGeom>
          <a:noFill/>
        </p:spPr>
        <p:txBody>
          <a:bodyPr wrap="square">
            <a:spAutoFit/>
          </a:bodyPr>
          <a:lstStyle/>
          <a:p>
            <a:pPr algn="l"/>
            <a:r>
              <a:rPr sz="850" b="0" i="0">
                <a:solidFill>
                  <a:srgbClr val="2E8648"/>
                </a:solidFill>
                <a:latin typeface="Calibri"/>
              </a:rPr>
              <a:t>✅ Complete</a:t>
            </a:r>
          </a:p>
        </p:txBody>
      </p:sp>
      <p:sp>
        <p:nvSpPr>
          <p:cNvPr id="32" name="TextBox 31"/>
          <p:cNvSpPr txBox="1"/>
          <p:nvPr/>
        </p:nvSpPr>
        <p:spPr>
          <a:xfrm>
            <a:off x="4389120" y="3355848"/>
            <a:ext cx="2377440" cy="292608"/>
          </a:xfrm>
          <a:prstGeom prst="rect">
            <a:avLst/>
          </a:prstGeom>
          <a:noFill/>
        </p:spPr>
        <p:txBody>
          <a:bodyPr wrap="square">
            <a:spAutoFit/>
          </a:bodyPr>
          <a:lstStyle/>
          <a:p>
            <a:pPr algn="l"/>
            <a:r>
              <a:rPr sz="850" b="0" i="0">
                <a:solidFill>
                  <a:srgbClr val="333344"/>
                </a:solidFill>
                <a:latin typeface="Calibri"/>
              </a:rPr>
              <a:t>90%</a:t>
            </a:r>
          </a:p>
        </p:txBody>
      </p:sp>
      <p:sp>
        <p:nvSpPr>
          <p:cNvPr id="33" name="TextBox 32"/>
          <p:cNvSpPr txBox="1"/>
          <p:nvPr/>
        </p:nvSpPr>
        <p:spPr>
          <a:xfrm>
            <a:off x="5486400" y="3355848"/>
            <a:ext cx="2377440" cy="292608"/>
          </a:xfrm>
          <a:prstGeom prst="rect">
            <a:avLst/>
          </a:prstGeom>
          <a:noFill/>
        </p:spPr>
        <p:txBody>
          <a:bodyPr wrap="square">
            <a:spAutoFit/>
          </a:bodyPr>
          <a:lstStyle/>
          <a:p>
            <a:pPr algn="l"/>
            <a:r>
              <a:rPr sz="850" b="0" i="0">
                <a:solidFill>
                  <a:srgbClr val="333344"/>
                </a:solidFill>
                <a:latin typeface="Calibri"/>
              </a:rPr>
              <a:t>May 12</a:t>
            </a:r>
          </a:p>
        </p:txBody>
      </p:sp>
      <p:sp>
        <p:nvSpPr>
          <p:cNvPr id="34" name="Rectangle 33"/>
          <p:cNvSpPr/>
          <p:nvPr/>
        </p:nvSpPr>
        <p:spPr>
          <a:xfrm>
            <a:off x="457200" y="3703320"/>
            <a:ext cx="667512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3794760"/>
            <a:ext cx="2377440" cy="292608"/>
          </a:xfrm>
          <a:prstGeom prst="rect">
            <a:avLst/>
          </a:prstGeom>
          <a:noFill/>
        </p:spPr>
        <p:txBody>
          <a:bodyPr wrap="square">
            <a:spAutoFit/>
          </a:bodyPr>
          <a:lstStyle/>
          <a:p>
            <a:pPr algn="l"/>
            <a:r>
              <a:rPr sz="850" b="0" i="0">
                <a:solidFill>
                  <a:srgbClr val="333344"/>
                </a:solidFill>
                <a:latin typeface="Calibri"/>
              </a:rPr>
              <a:t>Chapter 2: Chemical Bonding</a:t>
            </a:r>
          </a:p>
        </p:txBody>
      </p:sp>
      <p:sp>
        <p:nvSpPr>
          <p:cNvPr id="36" name="TextBox 35"/>
          <p:cNvSpPr txBox="1"/>
          <p:nvPr/>
        </p:nvSpPr>
        <p:spPr>
          <a:xfrm>
            <a:off x="3108960" y="3794760"/>
            <a:ext cx="2377440" cy="292608"/>
          </a:xfrm>
          <a:prstGeom prst="rect">
            <a:avLst/>
          </a:prstGeom>
          <a:noFill/>
        </p:spPr>
        <p:txBody>
          <a:bodyPr wrap="square">
            <a:spAutoFit/>
          </a:bodyPr>
          <a:lstStyle/>
          <a:p>
            <a:pPr algn="l"/>
            <a:r>
              <a:rPr sz="850" b="0" i="0">
                <a:solidFill>
                  <a:srgbClr val="2E8648"/>
                </a:solidFill>
                <a:latin typeface="Calibri"/>
              </a:rPr>
              <a:t>✅ Complete</a:t>
            </a:r>
          </a:p>
        </p:txBody>
      </p:sp>
      <p:sp>
        <p:nvSpPr>
          <p:cNvPr id="37" name="TextBox 36"/>
          <p:cNvSpPr txBox="1"/>
          <p:nvPr/>
        </p:nvSpPr>
        <p:spPr>
          <a:xfrm>
            <a:off x="4389120" y="3794760"/>
            <a:ext cx="2377440" cy="292608"/>
          </a:xfrm>
          <a:prstGeom prst="rect">
            <a:avLst/>
          </a:prstGeom>
          <a:noFill/>
        </p:spPr>
        <p:txBody>
          <a:bodyPr wrap="square">
            <a:spAutoFit/>
          </a:bodyPr>
          <a:lstStyle/>
          <a:p>
            <a:pPr algn="l"/>
            <a:r>
              <a:rPr sz="850" b="0" i="0">
                <a:solidFill>
                  <a:srgbClr val="333344"/>
                </a:solidFill>
                <a:latin typeface="Calibri"/>
              </a:rPr>
              <a:t>85%</a:t>
            </a:r>
          </a:p>
        </p:txBody>
      </p:sp>
      <p:sp>
        <p:nvSpPr>
          <p:cNvPr id="38" name="TextBox 37"/>
          <p:cNvSpPr txBox="1"/>
          <p:nvPr/>
        </p:nvSpPr>
        <p:spPr>
          <a:xfrm>
            <a:off x="5486400" y="3794760"/>
            <a:ext cx="2377440" cy="292608"/>
          </a:xfrm>
          <a:prstGeom prst="rect">
            <a:avLst/>
          </a:prstGeom>
          <a:noFill/>
        </p:spPr>
        <p:txBody>
          <a:bodyPr wrap="square">
            <a:spAutoFit/>
          </a:bodyPr>
          <a:lstStyle/>
          <a:p>
            <a:pPr algn="l"/>
            <a:r>
              <a:rPr sz="850" b="0" i="0">
                <a:solidFill>
                  <a:srgbClr val="333344"/>
                </a:solidFill>
                <a:latin typeface="Calibri"/>
              </a:rPr>
              <a:t>May 18</a:t>
            </a:r>
          </a:p>
        </p:txBody>
      </p:sp>
      <p:sp>
        <p:nvSpPr>
          <p:cNvPr id="39" name="Rectangle 38"/>
          <p:cNvSpPr/>
          <p:nvPr/>
        </p:nvSpPr>
        <p:spPr>
          <a:xfrm>
            <a:off x="457200" y="4142232"/>
            <a:ext cx="6675120" cy="420624"/>
          </a:xfrm>
          <a:prstGeom prst="rect">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4233672"/>
            <a:ext cx="2377440" cy="292608"/>
          </a:xfrm>
          <a:prstGeom prst="rect">
            <a:avLst/>
          </a:prstGeom>
          <a:noFill/>
        </p:spPr>
        <p:txBody>
          <a:bodyPr wrap="square">
            <a:spAutoFit/>
          </a:bodyPr>
          <a:lstStyle/>
          <a:p>
            <a:pPr algn="l"/>
            <a:r>
              <a:rPr sz="850" b="0" i="0">
                <a:solidFill>
                  <a:srgbClr val="333344"/>
                </a:solidFill>
                <a:latin typeface="Calibri"/>
              </a:rPr>
              <a:t>Chapter 3: Molecular Geometry</a:t>
            </a:r>
          </a:p>
        </p:txBody>
      </p:sp>
      <p:sp>
        <p:nvSpPr>
          <p:cNvPr id="41" name="TextBox 40"/>
          <p:cNvSpPr txBox="1"/>
          <p:nvPr/>
        </p:nvSpPr>
        <p:spPr>
          <a:xfrm>
            <a:off x="3108960" y="4233672"/>
            <a:ext cx="2377440" cy="292608"/>
          </a:xfrm>
          <a:prstGeom prst="rect">
            <a:avLst/>
          </a:prstGeom>
          <a:noFill/>
        </p:spPr>
        <p:txBody>
          <a:bodyPr wrap="square">
            <a:spAutoFit/>
          </a:bodyPr>
          <a:lstStyle/>
          <a:p>
            <a:pPr algn="l"/>
            <a:r>
              <a:rPr sz="850" b="0" i="0">
                <a:solidFill>
                  <a:srgbClr val="2E8648"/>
                </a:solidFill>
                <a:latin typeface="Calibri"/>
              </a:rPr>
              <a:t>✅ Complete</a:t>
            </a:r>
          </a:p>
        </p:txBody>
      </p:sp>
      <p:sp>
        <p:nvSpPr>
          <p:cNvPr id="42" name="TextBox 41"/>
          <p:cNvSpPr txBox="1"/>
          <p:nvPr/>
        </p:nvSpPr>
        <p:spPr>
          <a:xfrm>
            <a:off x="4389120" y="4233672"/>
            <a:ext cx="2377440" cy="292608"/>
          </a:xfrm>
          <a:prstGeom prst="rect">
            <a:avLst/>
          </a:prstGeom>
          <a:noFill/>
        </p:spPr>
        <p:txBody>
          <a:bodyPr wrap="square">
            <a:spAutoFit/>
          </a:bodyPr>
          <a:lstStyle/>
          <a:p>
            <a:pPr algn="l"/>
            <a:r>
              <a:rPr sz="850" b="0" i="0">
                <a:solidFill>
                  <a:srgbClr val="333344"/>
                </a:solidFill>
                <a:latin typeface="Calibri"/>
              </a:rPr>
              <a:t>78%</a:t>
            </a:r>
          </a:p>
        </p:txBody>
      </p:sp>
      <p:sp>
        <p:nvSpPr>
          <p:cNvPr id="43" name="TextBox 42"/>
          <p:cNvSpPr txBox="1"/>
          <p:nvPr/>
        </p:nvSpPr>
        <p:spPr>
          <a:xfrm>
            <a:off x="5486400" y="4233672"/>
            <a:ext cx="2377440" cy="292608"/>
          </a:xfrm>
          <a:prstGeom prst="rect">
            <a:avLst/>
          </a:prstGeom>
          <a:noFill/>
        </p:spPr>
        <p:txBody>
          <a:bodyPr wrap="square">
            <a:spAutoFit/>
          </a:bodyPr>
          <a:lstStyle/>
          <a:p>
            <a:pPr algn="l"/>
            <a:r>
              <a:rPr sz="850" b="0" i="0">
                <a:solidFill>
                  <a:srgbClr val="333344"/>
                </a:solidFill>
                <a:latin typeface="Calibri"/>
              </a:rPr>
              <a:t>May 25</a:t>
            </a:r>
          </a:p>
        </p:txBody>
      </p:sp>
      <p:sp>
        <p:nvSpPr>
          <p:cNvPr id="44" name="Rectangle 43"/>
          <p:cNvSpPr/>
          <p:nvPr/>
        </p:nvSpPr>
        <p:spPr>
          <a:xfrm>
            <a:off x="457200" y="4581144"/>
            <a:ext cx="667512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4672584"/>
            <a:ext cx="2377440" cy="292608"/>
          </a:xfrm>
          <a:prstGeom prst="rect">
            <a:avLst/>
          </a:prstGeom>
          <a:noFill/>
        </p:spPr>
        <p:txBody>
          <a:bodyPr wrap="square">
            <a:spAutoFit/>
          </a:bodyPr>
          <a:lstStyle/>
          <a:p>
            <a:pPr algn="l"/>
            <a:r>
              <a:rPr sz="850" b="0" i="0">
                <a:solidFill>
                  <a:srgbClr val="333344"/>
                </a:solidFill>
                <a:latin typeface="Calibri"/>
              </a:rPr>
              <a:t>Chapter 4: Thermodynamics</a:t>
            </a:r>
          </a:p>
        </p:txBody>
      </p:sp>
      <p:sp>
        <p:nvSpPr>
          <p:cNvPr id="46" name="TextBox 45"/>
          <p:cNvSpPr txBox="1"/>
          <p:nvPr/>
        </p:nvSpPr>
        <p:spPr>
          <a:xfrm>
            <a:off x="3108960" y="4672584"/>
            <a:ext cx="2377440" cy="292608"/>
          </a:xfrm>
          <a:prstGeom prst="rect">
            <a:avLst/>
          </a:prstGeom>
          <a:noFill/>
        </p:spPr>
        <p:txBody>
          <a:bodyPr wrap="square">
            <a:spAutoFit/>
          </a:bodyPr>
          <a:lstStyle/>
          <a:p>
            <a:pPr algn="l"/>
            <a:r>
              <a:rPr sz="850" b="0" i="0">
                <a:solidFill>
                  <a:srgbClr val="C98BA6"/>
                </a:solidFill>
                <a:latin typeface="Calibri"/>
              </a:rPr>
              <a:t>▶ In Progress</a:t>
            </a:r>
          </a:p>
        </p:txBody>
      </p:sp>
      <p:sp>
        <p:nvSpPr>
          <p:cNvPr id="47" name="TextBox 46"/>
          <p:cNvSpPr txBox="1"/>
          <p:nvPr/>
        </p:nvSpPr>
        <p:spPr>
          <a:xfrm>
            <a:off x="4389120" y="4672584"/>
            <a:ext cx="2377440" cy="292608"/>
          </a:xfrm>
          <a:prstGeom prst="rect">
            <a:avLst/>
          </a:prstGeom>
          <a:noFill/>
        </p:spPr>
        <p:txBody>
          <a:bodyPr wrap="square">
            <a:spAutoFit/>
          </a:bodyPr>
          <a:lstStyle/>
          <a:p>
            <a:pPr algn="l"/>
            <a:r>
              <a:rPr sz="850" b="0" i="0">
                <a:solidFill>
                  <a:srgbClr val="333344"/>
                </a:solidFill>
                <a:latin typeface="Calibri"/>
              </a:rPr>
              <a:t>—</a:t>
            </a:r>
          </a:p>
        </p:txBody>
      </p:sp>
      <p:sp>
        <p:nvSpPr>
          <p:cNvPr id="48" name="TextBox 47"/>
          <p:cNvSpPr txBox="1"/>
          <p:nvPr/>
        </p:nvSpPr>
        <p:spPr>
          <a:xfrm>
            <a:off x="5486400" y="4672584"/>
            <a:ext cx="2377440" cy="292608"/>
          </a:xfrm>
          <a:prstGeom prst="rect">
            <a:avLst/>
          </a:prstGeom>
          <a:noFill/>
        </p:spPr>
        <p:txBody>
          <a:bodyPr wrap="square">
            <a:spAutoFit/>
          </a:bodyPr>
          <a:lstStyle/>
          <a:p>
            <a:pPr algn="l"/>
            <a:r>
              <a:rPr sz="850" b="0" i="0">
                <a:solidFill>
                  <a:srgbClr val="333344"/>
                </a:solidFill>
                <a:latin typeface="Calibri"/>
              </a:rPr>
              <a:t>—</a:t>
            </a:r>
          </a:p>
        </p:txBody>
      </p:sp>
      <p:sp>
        <p:nvSpPr>
          <p:cNvPr id="49" name="Rectangle 48"/>
          <p:cNvSpPr/>
          <p:nvPr/>
        </p:nvSpPr>
        <p:spPr>
          <a:xfrm>
            <a:off x="457200" y="5020056"/>
            <a:ext cx="6675120" cy="420624"/>
          </a:xfrm>
          <a:prstGeom prst="rect">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5111496"/>
            <a:ext cx="2377440" cy="292608"/>
          </a:xfrm>
          <a:prstGeom prst="rect">
            <a:avLst/>
          </a:prstGeom>
          <a:noFill/>
        </p:spPr>
        <p:txBody>
          <a:bodyPr wrap="square">
            <a:spAutoFit/>
          </a:bodyPr>
          <a:lstStyle/>
          <a:p>
            <a:pPr algn="l"/>
            <a:r>
              <a:rPr sz="850" b="0" i="0">
                <a:solidFill>
                  <a:srgbClr val="333344"/>
                </a:solidFill>
                <a:latin typeface="Calibri"/>
              </a:rPr>
              <a:t>Chapter 5: Kinetics</a:t>
            </a:r>
          </a:p>
        </p:txBody>
      </p:sp>
      <p:sp>
        <p:nvSpPr>
          <p:cNvPr id="51" name="TextBox 50"/>
          <p:cNvSpPr txBox="1"/>
          <p:nvPr/>
        </p:nvSpPr>
        <p:spPr>
          <a:xfrm>
            <a:off x="3108960" y="5111496"/>
            <a:ext cx="2377440" cy="292608"/>
          </a:xfrm>
          <a:prstGeom prst="rect">
            <a:avLst/>
          </a:prstGeom>
          <a:noFill/>
        </p:spPr>
        <p:txBody>
          <a:bodyPr wrap="square">
            <a:spAutoFit/>
          </a:bodyPr>
          <a:lstStyle/>
          <a:p>
            <a:pPr algn="l"/>
            <a:r>
              <a:rPr sz="850" b="0" i="0">
                <a:solidFill>
                  <a:srgbClr val="333344"/>
                </a:solidFill>
                <a:latin typeface="Calibri"/>
              </a:rPr>
              <a:t>🔒 Locked</a:t>
            </a:r>
          </a:p>
        </p:txBody>
      </p:sp>
      <p:sp>
        <p:nvSpPr>
          <p:cNvPr id="52" name="TextBox 51"/>
          <p:cNvSpPr txBox="1"/>
          <p:nvPr/>
        </p:nvSpPr>
        <p:spPr>
          <a:xfrm>
            <a:off x="4389120" y="5111496"/>
            <a:ext cx="2377440" cy="292608"/>
          </a:xfrm>
          <a:prstGeom prst="rect">
            <a:avLst/>
          </a:prstGeom>
          <a:noFill/>
        </p:spPr>
        <p:txBody>
          <a:bodyPr wrap="square">
            <a:spAutoFit/>
          </a:bodyPr>
          <a:lstStyle/>
          <a:p>
            <a:pPr algn="l"/>
            <a:r>
              <a:rPr sz="850" b="0" i="0">
                <a:solidFill>
                  <a:srgbClr val="333344"/>
                </a:solidFill>
                <a:latin typeface="Calibri"/>
              </a:rPr>
              <a:t>—</a:t>
            </a:r>
          </a:p>
        </p:txBody>
      </p:sp>
      <p:sp>
        <p:nvSpPr>
          <p:cNvPr id="53" name="TextBox 52"/>
          <p:cNvSpPr txBox="1"/>
          <p:nvPr/>
        </p:nvSpPr>
        <p:spPr>
          <a:xfrm>
            <a:off x="5486400" y="5111496"/>
            <a:ext cx="2377440" cy="292608"/>
          </a:xfrm>
          <a:prstGeom prst="rect">
            <a:avLst/>
          </a:prstGeom>
          <a:noFill/>
        </p:spPr>
        <p:txBody>
          <a:bodyPr wrap="square">
            <a:spAutoFit/>
          </a:bodyPr>
          <a:lstStyle/>
          <a:p>
            <a:pPr algn="l"/>
            <a:r>
              <a:rPr sz="850" b="0" i="0">
                <a:solidFill>
                  <a:srgbClr val="333344"/>
                </a:solidFill>
                <a:latin typeface="Calibri"/>
              </a:rPr>
              <a:t>—</a:t>
            </a:r>
          </a:p>
        </p:txBody>
      </p:sp>
      <p:sp>
        <p:nvSpPr>
          <p:cNvPr id="54" name="Rectangle 53"/>
          <p:cNvSpPr/>
          <p:nvPr/>
        </p:nvSpPr>
        <p:spPr>
          <a:xfrm>
            <a:off x="457200" y="5458968"/>
            <a:ext cx="667512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5550408"/>
            <a:ext cx="2377440" cy="292608"/>
          </a:xfrm>
          <a:prstGeom prst="rect">
            <a:avLst/>
          </a:prstGeom>
          <a:noFill/>
        </p:spPr>
        <p:txBody>
          <a:bodyPr wrap="square">
            <a:spAutoFit/>
          </a:bodyPr>
          <a:lstStyle/>
          <a:p>
            <a:pPr algn="l"/>
            <a:r>
              <a:rPr sz="850" b="0" i="0">
                <a:solidFill>
                  <a:srgbClr val="333344"/>
                </a:solidFill>
                <a:latin typeface="Calibri"/>
              </a:rPr>
              <a:t>Chapter 6: Equilibrium</a:t>
            </a:r>
          </a:p>
        </p:txBody>
      </p:sp>
      <p:sp>
        <p:nvSpPr>
          <p:cNvPr id="56" name="TextBox 55"/>
          <p:cNvSpPr txBox="1"/>
          <p:nvPr/>
        </p:nvSpPr>
        <p:spPr>
          <a:xfrm>
            <a:off x="3108960" y="5550408"/>
            <a:ext cx="2377440" cy="292608"/>
          </a:xfrm>
          <a:prstGeom prst="rect">
            <a:avLst/>
          </a:prstGeom>
          <a:noFill/>
        </p:spPr>
        <p:txBody>
          <a:bodyPr wrap="square">
            <a:spAutoFit/>
          </a:bodyPr>
          <a:lstStyle/>
          <a:p>
            <a:pPr algn="l"/>
            <a:r>
              <a:rPr sz="850" b="0" i="0">
                <a:solidFill>
                  <a:srgbClr val="333344"/>
                </a:solidFill>
                <a:latin typeface="Calibri"/>
              </a:rPr>
              <a:t>🔒 Locked</a:t>
            </a:r>
          </a:p>
        </p:txBody>
      </p:sp>
      <p:sp>
        <p:nvSpPr>
          <p:cNvPr id="57" name="TextBox 56"/>
          <p:cNvSpPr txBox="1"/>
          <p:nvPr/>
        </p:nvSpPr>
        <p:spPr>
          <a:xfrm>
            <a:off x="4389120" y="5550408"/>
            <a:ext cx="2377440" cy="292608"/>
          </a:xfrm>
          <a:prstGeom prst="rect">
            <a:avLst/>
          </a:prstGeom>
          <a:noFill/>
        </p:spPr>
        <p:txBody>
          <a:bodyPr wrap="square">
            <a:spAutoFit/>
          </a:bodyPr>
          <a:lstStyle/>
          <a:p>
            <a:pPr algn="l"/>
            <a:r>
              <a:rPr sz="850" b="0" i="0">
                <a:solidFill>
                  <a:srgbClr val="333344"/>
                </a:solidFill>
                <a:latin typeface="Calibri"/>
              </a:rPr>
              <a:t>—</a:t>
            </a:r>
          </a:p>
        </p:txBody>
      </p:sp>
      <p:sp>
        <p:nvSpPr>
          <p:cNvPr id="58" name="TextBox 57"/>
          <p:cNvSpPr txBox="1"/>
          <p:nvPr/>
        </p:nvSpPr>
        <p:spPr>
          <a:xfrm>
            <a:off x="5486400" y="5550408"/>
            <a:ext cx="2377440" cy="292608"/>
          </a:xfrm>
          <a:prstGeom prst="rect">
            <a:avLst/>
          </a:prstGeom>
          <a:noFill/>
        </p:spPr>
        <p:txBody>
          <a:bodyPr wrap="square">
            <a:spAutoFit/>
          </a:bodyPr>
          <a:lstStyle/>
          <a:p>
            <a:pPr algn="l"/>
            <a:r>
              <a:rPr sz="850" b="0" i="0">
                <a:solidFill>
                  <a:srgbClr val="333344"/>
                </a:solidFill>
                <a:latin typeface="Calibri"/>
              </a:rPr>
              <a:t>—</a:t>
            </a:r>
          </a:p>
        </p:txBody>
      </p:sp>
      <p:sp>
        <p:nvSpPr>
          <p:cNvPr id="59" name="TextBox 58"/>
          <p:cNvSpPr txBox="1"/>
          <p:nvPr/>
        </p:nvSpPr>
        <p:spPr>
          <a:xfrm>
            <a:off x="7498079" y="2907792"/>
            <a:ext cx="4389120" cy="384048"/>
          </a:xfrm>
          <a:prstGeom prst="rect">
            <a:avLst/>
          </a:prstGeom>
          <a:noFill/>
        </p:spPr>
        <p:txBody>
          <a:bodyPr wrap="square">
            <a:spAutoFit/>
          </a:bodyPr>
          <a:lstStyle/>
          <a:p>
            <a:pPr algn="l"/>
            <a:r>
              <a:rPr sz="1300" b="1" i="0">
                <a:solidFill>
                  <a:srgbClr val="3E1D68"/>
                </a:solidFill>
                <a:latin typeface="Calibri"/>
              </a:rPr>
              <a:t>Progress Indicators</a:t>
            </a:r>
          </a:p>
        </p:txBody>
      </p:sp>
      <p:sp>
        <p:nvSpPr>
          <p:cNvPr id="60" name="Rectangle 59"/>
          <p:cNvSpPr/>
          <p:nvPr/>
        </p:nvSpPr>
        <p:spPr>
          <a:xfrm>
            <a:off x="7498079" y="3273552"/>
            <a:ext cx="2926080" cy="36576"/>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498079" y="3401568"/>
            <a:ext cx="4389120" cy="62179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89519" y="3493008"/>
            <a:ext cx="347472" cy="411480"/>
          </a:xfrm>
          <a:prstGeom prst="rect">
            <a:avLst/>
          </a:prstGeom>
          <a:noFill/>
        </p:spPr>
        <p:txBody>
          <a:bodyPr wrap="square">
            <a:spAutoFit/>
          </a:bodyPr>
          <a:lstStyle/>
          <a:p>
            <a:pPr algn="ctr"/>
            <a:r>
              <a:rPr sz="1600" b="0" i="0">
                <a:solidFill>
                  <a:srgbClr val="FFFFFF"/>
                </a:solidFill>
                <a:latin typeface="Calibri"/>
              </a:rPr>
              <a:t>✅</a:t>
            </a:r>
          </a:p>
        </p:txBody>
      </p:sp>
      <p:sp>
        <p:nvSpPr>
          <p:cNvPr id="63" name="TextBox 62"/>
          <p:cNvSpPr txBox="1"/>
          <p:nvPr/>
        </p:nvSpPr>
        <p:spPr>
          <a:xfrm>
            <a:off x="8046719" y="3474720"/>
            <a:ext cx="3657600" cy="256032"/>
          </a:xfrm>
          <a:prstGeom prst="rect">
            <a:avLst/>
          </a:prstGeom>
          <a:noFill/>
        </p:spPr>
        <p:txBody>
          <a:bodyPr wrap="square">
            <a:spAutoFit/>
          </a:bodyPr>
          <a:lstStyle/>
          <a:p>
            <a:pPr algn="l"/>
            <a:r>
              <a:rPr sz="1000" b="1" i="0">
                <a:solidFill>
                  <a:srgbClr val="3E1D68"/>
                </a:solidFill>
                <a:latin typeface="Calibri"/>
              </a:rPr>
              <a:t>Complete</a:t>
            </a:r>
          </a:p>
        </p:txBody>
      </p:sp>
      <p:sp>
        <p:nvSpPr>
          <p:cNvPr id="64" name="TextBox 63"/>
          <p:cNvSpPr txBox="1"/>
          <p:nvPr/>
        </p:nvSpPr>
        <p:spPr>
          <a:xfrm>
            <a:off x="8046719" y="3721608"/>
            <a:ext cx="3657600" cy="256032"/>
          </a:xfrm>
          <a:prstGeom prst="rect">
            <a:avLst/>
          </a:prstGeom>
          <a:noFill/>
        </p:spPr>
        <p:txBody>
          <a:bodyPr wrap="square">
            <a:spAutoFit/>
          </a:bodyPr>
          <a:lstStyle/>
          <a:p>
            <a:pPr algn="l"/>
            <a:r>
              <a:rPr sz="850" b="0" i="0">
                <a:solidFill>
                  <a:srgbClr val="333344"/>
                </a:solidFill>
                <a:latin typeface="Calibri"/>
              </a:rPr>
              <a:t>All lessons &amp; quiz done (&gt;80%)</a:t>
            </a:r>
          </a:p>
        </p:txBody>
      </p:sp>
      <p:sp>
        <p:nvSpPr>
          <p:cNvPr id="65" name="Rectangle 64"/>
          <p:cNvSpPr/>
          <p:nvPr/>
        </p:nvSpPr>
        <p:spPr>
          <a:xfrm>
            <a:off x="7498079" y="4114800"/>
            <a:ext cx="4389120" cy="62179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589519" y="4206240"/>
            <a:ext cx="347472" cy="411480"/>
          </a:xfrm>
          <a:prstGeom prst="rect">
            <a:avLst/>
          </a:prstGeom>
          <a:noFill/>
        </p:spPr>
        <p:txBody>
          <a:bodyPr wrap="square">
            <a:spAutoFit/>
          </a:bodyPr>
          <a:lstStyle/>
          <a:p>
            <a:pPr algn="ctr"/>
            <a:r>
              <a:rPr sz="1600" b="0" i="0">
                <a:solidFill>
                  <a:srgbClr val="FFFFFF"/>
                </a:solidFill>
                <a:latin typeface="Calibri"/>
              </a:rPr>
              <a:t>▶</a:t>
            </a:r>
          </a:p>
        </p:txBody>
      </p:sp>
      <p:sp>
        <p:nvSpPr>
          <p:cNvPr id="67" name="TextBox 66"/>
          <p:cNvSpPr txBox="1"/>
          <p:nvPr/>
        </p:nvSpPr>
        <p:spPr>
          <a:xfrm>
            <a:off x="8046719" y="4187952"/>
            <a:ext cx="3657600" cy="256032"/>
          </a:xfrm>
          <a:prstGeom prst="rect">
            <a:avLst/>
          </a:prstGeom>
          <a:noFill/>
        </p:spPr>
        <p:txBody>
          <a:bodyPr wrap="square">
            <a:spAutoFit/>
          </a:bodyPr>
          <a:lstStyle/>
          <a:p>
            <a:pPr algn="l"/>
            <a:r>
              <a:rPr sz="1000" b="1" i="0">
                <a:solidFill>
                  <a:srgbClr val="3E1D68"/>
                </a:solidFill>
                <a:latin typeface="Calibri"/>
              </a:rPr>
              <a:t>In Progress</a:t>
            </a:r>
          </a:p>
        </p:txBody>
      </p:sp>
      <p:sp>
        <p:nvSpPr>
          <p:cNvPr id="68" name="TextBox 67"/>
          <p:cNvSpPr txBox="1"/>
          <p:nvPr/>
        </p:nvSpPr>
        <p:spPr>
          <a:xfrm>
            <a:off x="8046719" y="4434840"/>
            <a:ext cx="3657600" cy="256032"/>
          </a:xfrm>
          <a:prstGeom prst="rect">
            <a:avLst/>
          </a:prstGeom>
          <a:noFill/>
        </p:spPr>
        <p:txBody>
          <a:bodyPr wrap="square">
            <a:spAutoFit/>
          </a:bodyPr>
          <a:lstStyle/>
          <a:p>
            <a:pPr algn="l"/>
            <a:r>
              <a:rPr sz="850" b="0" i="0">
                <a:solidFill>
                  <a:srgbClr val="333344"/>
                </a:solidFill>
                <a:latin typeface="Calibri"/>
              </a:rPr>
              <a:t>Currently working through chapter</a:t>
            </a:r>
          </a:p>
        </p:txBody>
      </p:sp>
      <p:sp>
        <p:nvSpPr>
          <p:cNvPr id="69" name="Rectangle 68"/>
          <p:cNvSpPr/>
          <p:nvPr/>
        </p:nvSpPr>
        <p:spPr>
          <a:xfrm>
            <a:off x="7498079" y="4828032"/>
            <a:ext cx="4389120" cy="62179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589519" y="4919472"/>
            <a:ext cx="347472" cy="411480"/>
          </a:xfrm>
          <a:prstGeom prst="rect">
            <a:avLst/>
          </a:prstGeom>
          <a:noFill/>
        </p:spPr>
        <p:txBody>
          <a:bodyPr wrap="square">
            <a:spAutoFit/>
          </a:bodyPr>
          <a:lstStyle/>
          <a:p>
            <a:pPr algn="ctr"/>
            <a:r>
              <a:rPr sz="1600" b="0" i="0">
                <a:solidFill>
                  <a:srgbClr val="FFFFFF"/>
                </a:solidFill>
                <a:latin typeface="Calibri"/>
              </a:rPr>
              <a:t>🔒</a:t>
            </a:r>
          </a:p>
        </p:txBody>
      </p:sp>
      <p:sp>
        <p:nvSpPr>
          <p:cNvPr id="71" name="TextBox 70"/>
          <p:cNvSpPr txBox="1"/>
          <p:nvPr/>
        </p:nvSpPr>
        <p:spPr>
          <a:xfrm>
            <a:off x="8046719" y="4901184"/>
            <a:ext cx="3657600" cy="256032"/>
          </a:xfrm>
          <a:prstGeom prst="rect">
            <a:avLst/>
          </a:prstGeom>
          <a:noFill/>
        </p:spPr>
        <p:txBody>
          <a:bodyPr wrap="square">
            <a:spAutoFit/>
          </a:bodyPr>
          <a:lstStyle/>
          <a:p>
            <a:pPr algn="l"/>
            <a:r>
              <a:rPr sz="1000" b="1" i="0">
                <a:solidFill>
                  <a:srgbClr val="3E1D68"/>
                </a:solidFill>
                <a:latin typeface="Calibri"/>
              </a:rPr>
              <a:t>Locked</a:t>
            </a:r>
          </a:p>
        </p:txBody>
      </p:sp>
      <p:sp>
        <p:nvSpPr>
          <p:cNvPr id="72" name="TextBox 71"/>
          <p:cNvSpPr txBox="1"/>
          <p:nvPr/>
        </p:nvSpPr>
        <p:spPr>
          <a:xfrm>
            <a:off x="8046719" y="5148072"/>
            <a:ext cx="3657600" cy="256032"/>
          </a:xfrm>
          <a:prstGeom prst="rect">
            <a:avLst/>
          </a:prstGeom>
          <a:noFill/>
        </p:spPr>
        <p:txBody>
          <a:bodyPr wrap="square">
            <a:spAutoFit/>
          </a:bodyPr>
          <a:lstStyle/>
          <a:p>
            <a:pPr algn="l"/>
            <a:r>
              <a:rPr sz="850" b="0" i="0">
                <a:solidFill>
                  <a:srgbClr val="333344"/>
                </a:solidFill>
                <a:latin typeface="Calibri"/>
              </a:rPr>
              <a:t>Complete previous chapter first</a:t>
            </a:r>
          </a:p>
        </p:txBody>
      </p:sp>
      <p:sp>
        <p:nvSpPr>
          <p:cNvPr id="73" name="Rectangle 72"/>
          <p:cNvSpPr/>
          <p:nvPr/>
        </p:nvSpPr>
        <p:spPr>
          <a:xfrm>
            <a:off x="7498079" y="5541264"/>
            <a:ext cx="4389120" cy="621792"/>
          </a:xfrm>
          <a:prstGeom prst="rect">
            <a:avLst/>
          </a:prstGeom>
          <a:solidFill>
            <a:srgbClr val="F5ECF3"/>
          </a:solidFill>
          <a:ln w="762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589519" y="5632704"/>
            <a:ext cx="347472" cy="411480"/>
          </a:xfrm>
          <a:prstGeom prst="rect">
            <a:avLst/>
          </a:prstGeom>
          <a:noFill/>
        </p:spPr>
        <p:txBody>
          <a:bodyPr wrap="square">
            <a:spAutoFit/>
          </a:bodyPr>
          <a:lstStyle/>
          <a:p>
            <a:pPr algn="ctr"/>
            <a:r>
              <a:rPr sz="1600" b="0" i="0">
                <a:solidFill>
                  <a:srgbClr val="FFFFFF"/>
                </a:solidFill>
                <a:latin typeface="Calibri"/>
              </a:rPr>
              <a:t>⭐</a:t>
            </a:r>
          </a:p>
        </p:txBody>
      </p:sp>
      <p:sp>
        <p:nvSpPr>
          <p:cNvPr id="75" name="TextBox 74"/>
          <p:cNvSpPr txBox="1"/>
          <p:nvPr/>
        </p:nvSpPr>
        <p:spPr>
          <a:xfrm>
            <a:off x="8046719" y="5614416"/>
            <a:ext cx="3657600" cy="256032"/>
          </a:xfrm>
          <a:prstGeom prst="rect">
            <a:avLst/>
          </a:prstGeom>
          <a:noFill/>
        </p:spPr>
        <p:txBody>
          <a:bodyPr wrap="square">
            <a:spAutoFit/>
          </a:bodyPr>
          <a:lstStyle/>
          <a:p>
            <a:pPr algn="l"/>
            <a:r>
              <a:rPr sz="1000" b="1" i="0">
                <a:solidFill>
                  <a:srgbClr val="3E1D68"/>
                </a:solidFill>
                <a:latin typeface="Calibri"/>
              </a:rPr>
              <a:t>Mastered</a:t>
            </a:r>
          </a:p>
        </p:txBody>
      </p:sp>
      <p:sp>
        <p:nvSpPr>
          <p:cNvPr id="76" name="TextBox 75"/>
          <p:cNvSpPr txBox="1"/>
          <p:nvPr/>
        </p:nvSpPr>
        <p:spPr>
          <a:xfrm>
            <a:off x="8046719" y="5861304"/>
            <a:ext cx="3657600" cy="256032"/>
          </a:xfrm>
          <a:prstGeom prst="rect">
            <a:avLst/>
          </a:prstGeom>
          <a:noFill/>
        </p:spPr>
        <p:txBody>
          <a:bodyPr wrap="square">
            <a:spAutoFit/>
          </a:bodyPr>
          <a:lstStyle/>
          <a:p>
            <a:pPr algn="l"/>
            <a:r>
              <a:rPr sz="850" b="0" i="0">
                <a:solidFill>
                  <a:srgbClr val="333344"/>
                </a:solidFill>
                <a:latin typeface="Calibri"/>
              </a:rPr>
              <a:t>Quiz score ≥ 90% — excellent!</a:t>
            </a:r>
          </a:p>
        </p:txBody>
      </p:sp>
      <p:sp>
        <p:nvSpPr>
          <p:cNvPr id="77" name="Rectangle 76"/>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38912" y="5742432"/>
            <a:ext cx="402336" cy="402336"/>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2" y="5802783"/>
            <a:ext cx="281634" cy="28163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6694" y="5802783"/>
            <a:ext cx="281634" cy="28163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99263" y="6245352"/>
            <a:ext cx="281634" cy="28163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99263" y="5360214"/>
            <a:ext cx="281634" cy="28163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863072" y="5532120"/>
            <a:ext cx="822960" cy="822960"/>
          </a:xfrm>
          <a:prstGeom prst="ellipse">
            <a:avLst/>
          </a:prstGeom>
          <a:noFill/>
          <a:ln w="19050">
            <a:solidFill>
              <a:srgbClr val="F5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164824" y="5833872"/>
            <a:ext cx="219456" cy="219456"/>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01168"/>
            <a:ext cx="2286000" cy="457200"/>
          </a:xfrm>
          <a:prstGeom prst="rect">
            <a:avLst/>
          </a:prstGeom>
          <a:noFill/>
        </p:spPr>
        <p:txBody>
          <a:bodyPr wrap="square">
            <a:spAutoFit/>
          </a:bodyPr>
          <a:lstStyle/>
          <a:p>
            <a:pPr algn="l"/>
            <a:r>
              <a:rPr sz="900" b="1" i="0">
                <a:solidFill>
                  <a:srgbClr val="C98BA6"/>
                </a:solidFill>
                <a:latin typeface="Calibri"/>
              </a:rPr>
              <a:t>STUDY GUIDE</a:t>
            </a:r>
          </a:p>
        </p:txBody>
      </p:sp>
      <p:sp>
        <p:nvSpPr>
          <p:cNvPr id="14" name="TextBox 13"/>
          <p:cNvSpPr txBox="1"/>
          <p:nvPr/>
        </p:nvSpPr>
        <p:spPr>
          <a:xfrm>
            <a:off x="457200" y="475488"/>
            <a:ext cx="9144000" cy="640080"/>
          </a:xfrm>
          <a:prstGeom prst="rect">
            <a:avLst/>
          </a:prstGeom>
          <a:noFill/>
        </p:spPr>
        <p:txBody>
          <a:bodyPr wrap="square">
            <a:spAutoFit/>
          </a:bodyPr>
          <a:lstStyle/>
          <a:p>
            <a:pPr algn="l"/>
            <a:r>
              <a:rPr sz="2800" b="1" i="0">
                <a:solidFill>
                  <a:srgbClr val="FFFFFF"/>
                </a:solidFill>
                <a:latin typeface="Calibri"/>
              </a:rPr>
              <a:t>Recommended Study Workflow</a:t>
            </a:r>
          </a:p>
        </p:txBody>
      </p:sp>
      <p:sp>
        <p:nvSpPr>
          <p:cNvPr id="15" name="Rectangle 14"/>
          <p:cNvSpPr/>
          <p:nvPr/>
        </p:nvSpPr>
        <p:spPr>
          <a:xfrm>
            <a:off x="6057900" y="1508760"/>
            <a:ext cx="73152" cy="4846320"/>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 y="1508760"/>
            <a:ext cx="4937760" cy="658368"/>
          </a:xfrm>
          <a:prstGeom prst="rect">
            <a:avLst/>
          </a:prstGeom>
          <a:solidFill>
            <a:srgbClr val="3E1D68"/>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91540" y="1581912"/>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1540" y="1581912"/>
            <a:ext cx="512064" cy="512064"/>
          </a:xfrm>
          <a:prstGeom prst="rect">
            <a:avLst/>
          </a:prstGeom>
          <a:noFill/>
        </p:spPr>
        <p:txBody>
          <a:bodyPr wrap="square">
            <a:spAutoFit/>
          </a:bodyPr>
          <a:lstStyle/>
          <a:p>
            <a:pPr algn="ctr"/>
            <a:r>
              <a:rPr sz="1400" b="0" i="0">
                <a:solidFill>
                  <a:srgbClr val="FFFFFF"/>
                </a:solidFill>
                <a:latin typeface="Calibri"/>
              </a:rPr>
              <a:t>📹</a:t>
            </a:r>
          </a:p>
        </p:txBody>
      </p:sp>
      <p:sp>
        <p:nvSpPr>
          <p:cNvPr id="19" name="TextBox 18"/>
          <p:cNvSpPr txBox="1"/>
          <p:nvPr/>
        </p:nvSpPr>
        <p:spPr>
          <a:xfrm>
            <a:off x="1440180" y="1563624"/>
            <a:ext cx="4206240" cy="256032"/>
          </a:xfrm>
          <a:prstGeom prst="rect">
            <a:avLst/>
          </a:prstGeom>
          <a:noFill/>
        </p:spPr>
        <p:txBody>
          <a:bodyPr wrap="square">
            <a:spAutoFit/>
          </a:bodyPr>
          <a:lstStyle/>
          <a:p>
            <a:pPr algn="l"/>
            <a:r>
              <a:rPr sz="1000" b="1" i="0">
                <a:solidFill>
                  <a:srgbClr val="C98BA6"/>
                </a:solidFill>
                <a:latin typeface="Calibri"/>
              </a:rPr>
              <a:t>Watch the Lecture</a:t>
            </a:r>
          </a:p>
        </p:txBody>
      </p:sp>
      <p:sp>
        <p:nvSpPr>
          <p:cNvPr id="20" name="TextBox 19"/>
          <p:cNvSpPr txBox="1"/>
          <p:nvPr/>
        </p:nvSpPr>
        <p:spPr>
          <a:xfrm>
            <a:off x="1440180" y="1828800"/>
            <a:ext cx="4206240" cy="310896"/>
          </a:xfrm>
          <a:prstGeom prst="rect">
            <a:avLst/>
          </a:prstGeom>
          <a:noFill/>
        </p:spPr>
        <p:txBody>
          <a:bodyPr wrap="square">
            <a:spAutoFit/>
          </a:bodyPr>
          <a:lstStyle/>
          <a:p>
            <a:pPr algn="l"/>
            <a:r>
              <a:rPr sz="850" b="0" i="0">
                <a:solidFill>
                  <a:srgbClr val="FFFFFF"/>
                </a:solidFill>
                <a:latin typeface="Calibri"/>
              </a:rPr>
              <a:t>Open the chapter and watch the video lesson. Take notes in your notebook.</a:t>
            </a:r>
          </a:p>
        </p:txBody>
      </p:sp>
      <p:sp>
        <p:nvSpPr>
          <p:cNvPr id="21" name="Oval 20"/>
          <p:cNvSpPr/>
          <p:nvPr/>
        </p:nvSpPr>
        <p:spPr>
          <a:xfrm>
            <a:off x="6003036" y="1746504"/>
            <a:ext cx="182880" cy="182880"/>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77940" y="2295144"/>
            <a:ext cx="4937760" cy="658368"/>
          </a:xfrm>
          <a:prstGeom prst="rect">
            <a:avLst/>
          </a:prstGeom>
          <a:solidFill>
            <a:srgbClr val="3E1D68"/>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712196" y="2368296"/>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12196" y="2368296"/>
            <a:ext cx="512064" cy="512064"/>
          </a:xfrm>
          <a:prstGeom prst="rect">
            <a:avLst/>
          </a:prstGeom>
          <a:noFill/>
        </p:spPr>
        <p:txBody>
          <a:bodyPr wrap="square">
            <a:spAutoFit/>
          </a:bodyPr>
          <a:lstStyle/>
          <a:p>
            <a:pPr algn="ctr"/>
            <a:r>
              <a:rPr sz="1400" b="0" i="0">
                <a:solidFill>
                  <a:srgbClr val="FFFFFF"/>
                </a:solidFill>
                <a:latin typeface="Calibri"/>
              </a:rPr>
              <a:t>📝</a:t>
            </a:r>
          </a:p>
        </p:txBody>
      </p:sp>
      <p:sp>
        <p:nvSpPr>
          <p:cNvPr id="25" name="TextBox 24"/>
          <p:cNvSpPr txBox="1"/>
          <p:nvPr/>
        </p:nvSpPr>
        <p:spPr>
          <a:xfrm>
            <a:off x="6469380" y="2350008"/>
            <a:ext cx="4206240" cy="256032"/>
          </a:xfrm>
          <a:prstGeom prst="rect">
            <a:avLst/>
          </a:prstGeom>
          <a:noFill/>
        </p:spPr>
        <p:txBody>
          <a:bodyPr wrap="square">
            <a:spAutoFit/>
          </a:bodyPr>
          <a:lstStyle/>
          <a:p>
            <a:pPr algn="l"/>
            <a:r>
              <a:rPr sz="1000" b="1" i="0">
                <a:solidFill>
                  <a:srgbClr val="C98BA6"/>
                </a:solidFill>
                <a:latin typeface="Calibri"/>
              </a:rPr>
              <a:t>Read the Notes</a:t>
            </a:r>
          </a:p>
        </p:txBody>
      </p:sp>
      <p:sp>
        <p:nvSpPr>
          <p:cNvPr id="26" name="TextBox 25"/>
          <p:cNvSpPr txBox="1"/>
          <p:nvPr/>
        </p:nvSpPr>
        <p:spPr>
          <a:xfrm>
            <a:off x="6469380" y="2615184"/>
            <a:ext cx="4206240" cy="310896"/>
          </a:xfrm>
          <a:prstGeom prst="rect">
            <a:avLst/>
          </a:prstGeom>
          <a:noFill/>
        </p:spPr>
        <p:txBody>
          <a:bodyPr wrap="square">
            <a:spAutoFit/>
          </a:bodyPr>
          <a:lstStyle/>
          <a:p>
            <a:pPr algn="l"/>
            <a:r>
              <a:rPr sz="850" b="0" i="0">
                <a:solidFill>
                  <a:srgbClr val="FFFFFF"/>
                </a:solidFill>
                <a:latin typeface="Calibri"/>
              </a:rPr>
              <a:t>Download and read the lecture notes PDF. Highlight key formulas and definitions.</a:t>
            </a:r>
          </a:p>
        </p:txBody>
      </p:sp>
      <p:sp>
        <p:nvSpPr>
          <p:cNvPr id="27" name="Oval 26"/>
          <p:cNvSpPr/>
          <p:nvPr/>
        </p:nvSpPr>
        <p:spPr>
          <a:xfrm>
            <a:off x="6003036" y="2532888"/>
            <a:ext cx="182880" cy="182880"/>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0100" y="3081528"/>
            <a:ext cx="4937760" cy="658368"/>
          </a:xfrm>
          <a:prstGeom prst="rect">
            <a:avLst/>
          </a:prstGeom>
          <a:solidFill>
            <a:srgbClr val="6A3D9A"/>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1540" y="3154680"/>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540" y="3154680"/>
            <a:ext cx="512064" cy="512064"/>
          </a:xfrm>
          <a:prstGeom prst="rect">
            <a:avLst/>
          </a:prstGeom>
          <a:noFill/>
        </p:spPr>
        <p:txBody>
          <a:bodyPr wrap="square">
            <a:spAutoFit/>
          </a:bodyPr>
          <a:lstStyle/>
          <a:p>
            <a:pPr algn="ctr"/>
            <a:r>
              <a:rPr sz="1400" b="0" i="0">
                <a:solidFill>
                  <a:srgbClr val="FFFFFF"/>
                </a:solidFill>
                <a:latin typeface="Calibri"/>
              </a:rPr>
              <a:t>✏️</a:t>
            </a:r>
          </a:p>
        </p:txBody>
      </p:sp>
      <p:sp>
        <p:nvSpPr>
          <p:cNvPr id="31" name="TextBox 30"/>
          <p:cNvSpPr txBox="1"/>
          <p:nvPr/>
        </p:nvSpPr>
        <p:spPr>
          <a:xfrm>
            <a:off x="1440180" y="3136392"/>
            <a:ext cx="4206240" cy="256032"/>
          </a:xfrm>
          <a:prstGeom prst="rect">
            <a:avLst/>
          </a:prstGeom>
          <a:noFill/>
        </p:spPr>
        <p:txBody>
          <a:bodyPr wrap="square">
            <a:spAutoFit/>
          </a:bodyPr>
          <a:lstStyle/>
          <a:p>
            <a:pPr algn="l"/>
            <a:r>
              <a:rPr sz="1000" b="1" i="0">
                <a:solidFill>
                  <a:srgbClr val="C98BA6"/>
                </a:solidFill>
                <a:latin typeface="Calibri"/>
              </a:rPr>
              <a:t>Solve Practice Questions</a:t>
            </a:r>
          </a:p>
        </p:txBody>
      </p:sp>
      <p:sp>
        <p:nvSpPr>
          <p:cNvPr id="32" name="TextBox 31"/>
          <p:cNvSpPr txBox="1"/>
          <p:nvPr/>
        </p:nvSpPr>
        <p:spPr>
          <a:xfrm>
            <a:off x="1440180" y="3401568"/>
            <a:ext cx="4206240" cy="310896"/>
          </a:xfrm>
          <a:prstGeom prst="rect">
            <a:avLst/>
          </a:prstGeom>
          <a:noFill/>
        </p:spPr>
        <p:txBody>
          <a:bodyPr wrap="square">
            <a:spAutoFit/>
          </a:bodyPr>
          <a:lstStyle/>
          <a:p>
            <a:pPr algn="l"/>
            <a:r>
              <a:rPr sz="850" b="0" i="0">
                <a:solidFill>
                  <a:srgbClr val="FFFFFF"/>
                </a:solidFill>
                <a:latin typeface="Calibri"/>
              </a:rPr>
              <a:t>Work through the practice set. Don't skip — even difficult questions!</a:t>
            </a:r>
          </a:p>
        </p:txBody>
      </p:sp>
      <p:sp>
        <p:nvSpPr>
          <p:cNvPr id="33" name="Oval 32"/>
          <p:cNvSpPr/>
          <p:nvPr/>
        </p:nvSpPr>
        <p:spPr>
          <a:xfrm>
            <a:off x="6003036" y="3319272"/>
            <a:ext cx="182880" cy="182880"/>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377940" y="3867912"/>
            <a:ext cx="4937760" cy="658368"/>
          </a:xfrm>
          <a:prstGeom prst="rect">
            <a:avLst/>
          </a:prstGeom>
          <a:solidFill>
            <a:srgbClr val="3E1D68"/>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712196" y="3941064"/>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712196" y="3941064"/>
            <a:ext cx="512064" cy="512064"/>
          </a:xfrm>
          <a:prstGeom prst="rect">
            <a:avLst/>
          </a:prstGeom>
          <a:noFill/>
        </p:spPr>
        <p:txBody>
          <a:bodyPr wrap="square">
            <a:spAutoFit/>
          </a:bodyPr>
          <a:lstStyle/>
          <a:p>
            <a:pPr algn="ctr"/>
            <a:r>
              <a:rPr sz="1400" b="0" i="0">
                <a:solidFill>
                  <a:srgbClr val="FFFFFF"/>
                </a:solidFill>
                <a:latin typeface="Calibri"/>
              </a:rPr>
              <a:t>🧪</a:t>
            </a:r>
          </a:p>
        </p:txBody>
      </p:sp>
      <p:sp>
        <p:nvSpPr>
          <p:cNvPr id="37" name="TextBox 36"/>
          <p:cNvSpPr txBox="1"/>
          <p:nvPr/>
        </p:nvSpPr>
        <p:spPr>
          <a:xfrm>
            <a:off x="6469380" y="3922776"/>
            <a:ext cx="4206240" cy="256032"/>
          </a:xfrm>
          <a:prstGeom prst="rect">
            <a:avLst/>
          </a:prstGeom>
          <a:noFill/>
        </p:spPr>
        <p:txBody>
          <a:bodyPr wrap="square">
            <a:spAutoFit/>
          </a:bodyPr>
          <a:lstStyle/>
          <a:p>
            <a:pPr algn="l"/>
            <a:r>
              <a:rPr sz="1000" b="1" i="0">
                <a:solidFill>
                  <a:srgbClr val="C98BA6"/>
                </a:solidFill>
                <a:latin typeface="Calibri"/>
              </a:rPr>
              <a:t>Take the Chapter Quiz</a:t>
            </a:r>
          </a:p>
        </p:txBody>
      </p:sp>
      <p:sp>
        <p:nvSpPr>
          <p:cNvPr id="38" name="TextBox 37"/>
          <p:cNvSpPr txBox="1"/>
          <p:nvPr/>
        </p:nvSpPr>
        <p:spPr>
          <a:xfrm>
            <a:off x="6469380" y="4187952"/>
            <a:ext cx="4206240" cy="310896"/>
          </a:xfrm>
          <a:prstGeom prst="rect">
            <a:avLst/>
          </a:prstGeom>
          <a:noFill/>
        </p:spPr>
        <p:txBody>
          <a:bodyPr wrap="square">
            <a:spAutoFit/>
          </a:bodyPr>
          <a:lstStyle/>
          <a:p>
            <a:pPr algn="l"/>
            <a:r>
              <a:rPr sz="850" b="0" i="0">
                <a:solidFill>
                  <a:srgbClr val="FFFFFF"/>
                </a:solidFill>
                <a:latin typeface="Calibri"/>
              </a:rPr>
              <a:t>Test yourself with the timed quiz. Aim for 80% or higher.</a:t>
            </a:r>
          </a:p>
        </p:txBody>
      </p:sp>
      <p:sp>
        <p:nvSpPr>
          <p:cNvPr id="39" name="Oval 38"/>
          <p:cNvSpPr/>
          <p:nvPr/>
        </p:nvSpPr>
        <p:spPr>
          <a:xfrm>
            <a:off x="6003036" y="4105656"/>
            <a:ext cx="182880" cy="182880"/>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0100" y="4654296"/>
            <a:ext cx="4937760" cy="658368"/>
          </a:xfrm>
          <a:prstGeom prst="rect">
            <a:avLst/>
          </a:prstGeom>
          <a:solidFill>
            <a:srgbClr val="3E1D68"/>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91540" y="4727448"/>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1540" y="4727448"/>
            <a:ext cx="512064" cy="512064"/>
          </a:xfrm>
          <a:prstGeom prst="rect">
            <a:avLst/>
          </a:prstGeom>
          <a:noFill/>
        </p:spPr>
        <p:txBody>
          <a:bodyPr wrap="square">
            <a:spAutoFit/>
          </a:bodyPr>
          <a:lstStyle/>
          <a:p>
            <a:pPr algn="ctr"/>
            <a:r>
              <a:rPr sz="1400" b="0" i="0">
                <a:solidFill>
                  <a:srgbClr val="FFFFFF"/>
                </a:solidFill>
                <a:latin typeface="Calibri"/>
              </a:rPr>
              <a:t>🔍</a:t>
            </a:r>
          </a:p>
        </p:txBody>
      </p:sp>
      <p:sp>
        <p:nvSpPr>
          <p:cNvPr id="43" name="TextBox 42"/>
          <p:cNvSpPr txBox="1"/>
          <p:nvPr/>
        </p:nvSpPr>
        <p:spPr>
          <a:xfrm>
            <a:off x="1440180" y="4709160"/>
            <a:ext cx="4206240" cy="256032"/>
          </a:xfrm>
          <a:prstGeom prst="rect">
            <a:avLst/>
          </a:prstGeom>
          <a:noFill/>
        </p:spPr>
        <p:txBody>
          <a:bodyPr wrap="square">
            <a:spAutoFit/>
          </a:bodyPr>
          <a:lstStyle/>
          <a:p>
            <a:pPr algn="l"/>
            <a:r>
              <a:rPr sz="1000" b="1" i="0">
                <a:solidFill>
                  <a:srgbClr val="C98BA6"/>
                </a:solidFill>
                <a:latin typeface="Calibri"/>
              </a:rPr>
              <a:t>Review Mistakes</a:t>
            </a:r>
          </a:p>
        </p:txBody>
      </p:sp>
      <p:sp>
        <p:nvSpPr>
          <p:cNvPr id="44" name="TextBox 43"/>
          <p:cNvSpPr txBox="1"/>
          <p:nvPr/>
        </p:nvSpPr>
        <p:spPr>
          <a:xfrm>
            <a:off x="1440180" y="4974336"/>
            <a:ext cx="4206240" cy="310896"/>
          </a:xfrm>
          <a:prstGeom prst="rect">
            <a:avLst/>
          </a:prstGeom>
          <a:noFill/>
        </p:spPr>
        <p:txBody>
          <a:bodyPr wrap="square">
            <a:spAutoFit/>
          </a:bodyPr>
          <a:lstStyle/>
          <a:p>
            <a:pPr algn="l"/>
            <a:r>
              <a:rPr sz="850" b="0" i="0">
                <a:solidFill>
                  <a:srgbClr val="FFFFFF"/>
                </a:solidFill>
                <a:latin typeface="Calibri"/>
              </a:rPr>
              <a:t>Go back to any questions you got wrong. Re-read the explanation.</a:t>
            </a:r>
          </a:p>
        </p:txBody>
      </p:sp>
      <p:sp>
        <p:nvSpPr>
          <p:cNvPr id="45" name="Oval 44"/>
          <p:cNvSpPr/>
          <p:nvPr/>
        </p:nvSpPr>
        <p:spPr>
          <a:xfrm>
            <a:off x="6003036" y="4892040"/>
            <a:ext cx="182880" cy="182880"/>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77940" y="5440680"/>
            <a:ext cx="4937760" cy="658368"/>
          </a:xfrm>
          <a:prstGeom prst="rect">
            <a:avLst/>
          </a:prstGeom>
          <a:solidFill>
            <a:srgbClr val="6A3D9A"/>
          </a:solidFill>
          <a:ln w="127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712196" y="5513832"/>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712196" y="5513832"/>
            <a:ext cx="512064" cy="512064"/>
          </a:xfrm>
          <a:prstGeom prst="rect">
            <a:avLst/>
          </a:prstGeom>
          <a:noFill/>
        </p:spPr>
        <p:txBody>
          <a:bodyPr wrap="square">
            <a:spAutoFit/>
          </a:bodyPr>
          <a:lstStyle/>
          <a:p>
            <a:pPr algn="ctr"/>
            <a:r>
              <a:rPr sz="1400" b="0" i="0">
                <a:solidFill>
                  <a:srgbClr val="FFFFFF"/>
                </a:solidFill>
                <a:latin typeface="Calibri"/>
              </a:rPr>
              <a:t>⭐</a:t>
            </a:r>
          </a:p>
        </p:txBody>
      </p:sp>
      <p:sp>
        <p:nvSpPr>
          <p:cNvPr id="49" name="TextBox 48"/>
          <p:cNvSpPr txBox="1"/>
          <p:nvPr/>
        </p:nvSpPr>
        <p:spPr>
          <a:xfrm>
            <a:off x="6469380" y="5495544"/>
            <a:ext cx="4206240" cy="256032"/>
          </a:xfrm>
          <a:prstGeom prst="rect">
            <a:avLst/>
          </a:prstGeom>
          <a:noFill/>
        </p:spPr>
        <p:txBody>
          <a:bodyPr wrap="square">
            <a:spAutoFit/>
          </a:bodyPr>
          <a:lstStyle/>
          <a:p>
            <a:pPr algn="l"/>
            <a:r>
              <a:rPr sz="1000" b="1" i="0">
                <a:solidFill>
                  <a:srgbClr val="C98BA6"/>
                </a:solidFill>
                <a:latin typeface="Calibri"/>
              </a:rPr>
              <a:t>Master the Chapter</a:t>
            </a:r>
          </a:p>
        </p:txBody>
      </p:sp>
      <p:sp>
        <p:nvSpPr>
          <p:cNvPr id="50" name="TextBox 49"/>
          <p:cNvSpPr txBox="1"/>
          <p:nvPr/>
        </p:nvSpPr>
        <p:spPr>
          <a:xfrm>
            <a:off x="6469380" y="5760720"/>
            <a:ext cx="4206240" cy="310896"/>
          </a:xfrm>
          <a:prstGeom prst="rect">
            <a:avLst/>
          </a:prstGeom>
          <a:noFill/>
        </p:spPr>
        <p:txBody>
          <a:bodyPr wrap="square">
            <a:spAutoFit/>
          </a:bodyPr>
          <a:lstStyle/>
          <a:p>
            <a:pPr algn="l"/>
            <a:r>
              <a:rPr sz="850" b="0" i="0">
                <a:solidFill>
                  <a:srgbClr val="FFFFFF"/>
                </a:solidFill>
                <a:latin typeface="Calibri"/>
              </a:rPr>
              <a:t>Once you score 80%+ on the quiz, you're ready for the next chapter!</a:t>
            </a:r>
          </a:p>
        </p:txBody>
      </p:sp>
      <p:sp>
        <p:nvSpPr>
          <p:cNvPr id="51" name="Oval 50"/>
          <p:cNvSpPr/>
          <p:nvPr/>
        </p:nvSpPr>
        <p:spPr>
          <a:xfrm>
            <a:off x="6003036" y="5678424"/>
            <a:ext cx="182880" cy="182880"/>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16152"/>
            <a:ext cx="12188952" cy="6400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3072" y="137160"/>
            <a:ext cx="1005840" cy="10058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53035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28832" y="5468112"/>
            <a:ext cx="402336" cy="402336"/>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731752" y="5528463"/>
            <a:ext cx="281634" cy="28163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46614" y="5528463"/>
            <a:ext cx="281634" cy="28163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289183" y="5971032"/>
            <a:ext cx="281634" cy="28163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89183" y="5085894"/>
            <a:ext cx="281634" cy="281634"/>
          </a:xfrm>
          <a:prstGeom prst="ellipse">
            <a:avLst/>
          </a:prstGeom>
          <a:solidFill>
            <a:srgbClr val="F5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01168"/>
            <a:ext cx="1828800" cy="457200"/>
          </a:xfrm>
          <a:prstGeom prst="rect">
            <a:avLst/>
          </a:prstGeom>
          <a:noFill/>
        </p:spPr>
        <p:txBody>
          <a:bodyPr wrap="square">
            <a:spAutoFit/>
          </a:bodyPr>
          <a:lstStyle/>
          <a:p>
            <a:pPr algn="l"/>
            <a:r>
              <a:rPr sz="900" b="1" i="0">
                <a:solidFill>
                  <a:srgbClr val="C98BA6"/>
                </a:solidFill>
                <a:latin typeface="Calibri"/>
              </a:rPr>
              <a:t>SUPPORT</a:t>
            </a:r>
          </a:p>
        </p:txBody>
      </p:sp>
      <p:sp>
        <p:nvSpPr>
          <p:cNvPr id="12" name="TextBox 11"/>
          <p:cNvSpPr txBox="1"/>
          <p:nvPr/>
        </p:nvSpPr>
        <p:spPr>
          <a:xfrm>
            <a:off x="457200" y="475488"/>
            <a:ext cx="9144000" cy="640080"/>
          </a:xfrm>
          <a:prstGeom prst="rect">
            <a:avLst/>
          </a:prstGeom>
          <a:noFill/>
        </p:spPr>
        <p:txBody>
          <a:bodyPr wrap="square">
            <a:spAutoFit/>
          </a:bodyPr>
          <a:lstStyle/>
          <a:p>
            <a:pPr algn="l"/>
            <a:r>
              <a:rPr sz="2800" b="1" i="0">
                <a:solidFill>
                  <a:srgbClr val="FFFFFF"/>
                </a:solidFill>
                <a:latin typeface="Calibri"/>
              </a:rPr>
              <a:t>Contact &amp; Support</a:t>
            </a:r>
          </a:p>
        </p:txBody>
      </p:sp>
      <p:sp>
        <p:nvSpPr>
          <p:cNvPr id="13" name="Rectangle 12"/>
          <p:cNvSpPr/>
          <p:nvPr/>
        </p:nvSpPr>
        <p:spPr>
          <a:xfrm>
            <a:off x="457200" y="1481328"/>
            <a:ext cx="4389120" cy="4754880"/>
          </a:xfrm>
          <a:prstGeom prst="rect">
            <a:avLst/>
          </a:prstGeom>
          <a:solidFill>
            <a:srgbClr val="3E1D68"/>
          </a:solidFill>
          <a:ln w="2540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965960" y="1709928"/>
            <a:ext cx="1371600" cy="1371600"/>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057400" y="1801368"/>
            <a:ext cx="1188720" cy="1188720"/>
          </a:xfrm>
          <a:prstGeom prst="ellipse">
            <a:avLst/>
          </a:prstGeom>
          <a:solidFill>
            <a:srgbClr val="6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57400" y="1801368"/>
            <a:ext cx="1188720" cy="1188720"/>
          </a:xfrm>
          <a:prstGeom prst="rect">
            <a:avLst/>
          </a:prstGeom>
          <a:noFill/>
        </p:spPr>
        <p:txBody>
          <a:bodyPr wrap="square">
            <a:spAutoFit/>
          </a:bodyPr>
          <a:lstStyle/>
          <a:p>
            <a:pPr algn="ctr"/>
            <a:r>
              <a:rPr sz="2200" b="1" i="0">
                <a:solidFill>
                  <a:srgbClr val="FFFFFF"/>
                </a:solidFill>
                <a:latin typeface="Calibri"/>
              </a:rPr>
              <a:t>NZ</a:t>
            </a:r>
          </a:p>
        </p:txBody>
      </p:sp>
      <p:sp>
        <p:nvSpPr>
          <p:cNvPr id="17" name="TextBox 16"/>
          <p:cNvSpPr txBox="1"/>
          <p:nvPr/>
        </p:nvSpPr>
        <p:spPr>
          <a:xfrm>
            <a:off x="640080" y="3310128"/>
            <a:ext cx="4023360" cy="475488"/>
          </a:xfrm>
          <a:prstGeom prst="rect">
            <a:avLst/>
          </a:prstGeom>
          <a:noFill/>
        </p:spPr>
        <p:txBody>
          <a:bodyPr wrap="square">
            <a:spAutoFit/>
          </a:bodyPr>
          <a:lstStyle/>
          <a:p>
            <a:pPr algn="ctr"/>
            <a:r>
              <a:rPr sz="1400" b="1" i="0">
                <a:solidFill>
                  <a:srgbClr val="FFFFFF"/>
                </a:solidFill>
                <a:latin typeface="Calibri"/>
              </a:rPr>
              <a:t>Teacher Nourhan Zaher</a:t>
            </a:r>
          </a:p>
        </p:txBody>
      </p:sp>
      <p:sp>
        <p:nvSpPr>
          <p:cNvPr id="18" name="TextBox 17"/>
          <p:cNvSpPr txBox="1"/>
          <p:nvPr/>
        </p:nvSpPr>
        <p:spPr>
          <a:xfrm>
            <a:off x="640080" y="3785616"/>
            <a:ext cx="4023360" cy="640080"/>
          </a:xfrm>
          <a:prstGeom prst="rect">
            <a:avLst/>
          </a:prstGeom>
          <a:noFill/>
        </p:spPr>
        <p:txBody>
          <a:bodyPr wrap="square">
            <a:spAutoFit/>
          </a:bodyPr>
          <a:lstStyle/>
          <a:p>
            <a:pPr algn="ctr"/>
            <a:r>
              <a:rPr sz="1000" b="0" i="0">
                <a:solidFill>
                  <a:srgbClr val="C98BA6"/>
                </a:solidFill>
                <a:latin typeface="Calibri"/>
              </a:rPr>
              <a:t>Chemistry Instructor
Qatar University – CHEM 101 &amp; CHEM 103</a:t>
            </a:r>
          </a:p>
        </p:txBody>
      </p:sp>
      <p:sp>
        <p:nvSpPr>
          <p:cNvPr id="19" name="Rectangle 18"/>
          <p:cNvSpPr/>
          <p:nvPr/>
        </p:nvSpPr>
        <p:spPr>
          <a:xfrm>
            <a:off x="914400" y="4517136"/>
            <a:ext cx="3474720" cy="36576"/>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663440"/>
            <a:ext cx="4023360" cy="530352"/>
          </a:xfrm>
          <a:prstGeom prst="rect">
            <a:avLst/>
          </a:prstGeom>
          <a:noFill/>
        </p:spPr>
        <p:txBody>
          <a:bodyPr wrap="square">
            <a:spAutoFit/>
          </a:bodyPr>
          <a:lstStyle/>
          <a:p>
            <a:pPr algn="ctr"/>
            <a:r>
              <a:rPr sz="1000" b="0" i="0">
                <a:solidFill>
                  <a:srgbClr val="FFFFFF"/>
                </a:solidFill>
                <a:latin typeface="Calibri"/>
              </a:rPr>
              <a:t>Available for:
Questions · Support · Guidance</a:t>
            </a:r>
          </a:p>
        </p:txBody>
      </p:sp>
      <p:sp>
        <p:nvSpPr>
          <p:cNvPr id="21" name="Rectangle 20"/>
          <p:cNvSpPr/>
          <p:nvPr/>
        </p:nvSpPr>
        <p:spPr>
          <a:xfrm>
            <a:off x="914400" y="5340096"/>
            <a:ext cx="3474720" cy="384048"/>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385815"/>
            <a:ext cx="3474720" cy="310896"/>
          </a:xfrm>
          <a:prstGeom prst="rect">
            <a:avLst/>
          </a:prstGeom>
          <a:noFill/>
        </p:spPr>
        <p:txBody>
          <a:bodyPr wrap="square">
            <a:spAutoFit/>
          </a:bodyPr>
          <a:lstStyle/>
          <a:p>
            <a:pPr algn="ctr"/>
            <a:r>
              <a:rPr sz="950" b="1" i="0">
                <a:solidFill>
                  <a:srgbClr val="FFFFFF"/>
                </a:solidFill>
                <a:latin typeface="Calibri"/>
              </a:rPr>
              <a:t>Responds within 24 hours</a:t>
            </a:r>
          </a:p>
        </p:txBody>
      </p:sp>
      <p:sp>
        <p:nvSpPr>
          <p:cNvPr id="23" name="Rectangle 22"/>
          <p:cNvSpPr/>
          <p:nvPr/>
        </p:nvSpPr>
        <p:spPr>
          <a:xfrm>
            <a:off x="5486400" y="1536192"/>
            <a:ext cx="6400800" cy="1444752"/>
          </a:xfrm>
          <a:prstGeom prst="rect">
            <a:avLst/>
          </a:prstGeom>
          <a:solidFill>
            <a:srgbClr val="F5ECF3"/>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669280" y="1874520"/>
            <a:ext cx="768096" cy="768096"/>
          </a:xfrm>
          <a:prstGeom prst="ellipse">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0" y="1874520"/>
            <a:ext cx="768096" cy="768096"/>
          </a:xfrm>
          <a:prstGeom prst="rect">
            <a:avLst/>
          </a:prstGeom>
          <a:noFill/>
        </p:spPr>
        <p:txBody>
          <a:bodyPr wrap="square">
            <a:spAutoFit/>
          </a:bodyPr>
          <a:lstStyle/>
          <a:p>
            <a:pPr algn="ctr"/>
            <a:r>
              <a:rPr sz="2000" b="0" i="0">
                <a:solidFill>
                  <a:srgbClr val="FFFFFF"/>
                </a:solidFill>
                <a:latin typeface="Calibri"/>
              </a:rPr>
              <a:t>📱</a:t>
            </a:r>
          </a:p>
        </p:txBody>
      </p:sp>
      <p:sp>
        <p:nvSpPr>
          <p:cNvPr id="26" name="TextBox 25"/>
          <p:cNvSpPr txBox="1"/>
          <p:nvPr/>
        </p:nvSpPr>
        <p:spPr>
          <a:xfrm>
            <a:off x="6675120" y="1737360"/>
            <a:ext cx="1828800" cy="320040"/>
          </a:xfrm>
          <a:prstGeom prst="rect">
            <a:avLst/>
          </a:prstGeom>
          <a:noFill/>
        </p:spPr>
        <p:txBody>
          <a:bodyPr wrap="square">
            <a:spAutoFit/>
          </a:bodyPr>
          <a:lstStyle/>
          <a:p>
            <a:pPr algn="l"/>
            <a:r>
              <a:rPr sz="1000" b="1" i="0">
                <a:solidFill>
                  <a:srgbClr val="C98BA6"/>
                </a:solidFill>
                <a:latin typeface="Calibri"/>
              </a:rPr>
              <a:t>WhatsApp</a:t>
            </a:r>
          </a:p>
        </p:txBody>
      </p:sp>
      <p:sp>
        <p:nvSpPr>
          <p:cNvPr id="27" name="TextBox 26"/>
          <p:cNvSpPr txBox="1"/>
          <p:nvPr/>
        </p:nvSpPr>
        <p:spPr>
          <a:xfrm>
            <a:off x="6675120" y="2039112"/>
            <a:ext cx="4937760" cy="384048"/>
          </a:xfrm>
          <a:prstGeom prst="rect">
            <a:avLst/>
          </a:prstGeom>
          <a:noFill/>
        </p:spPr>
        <p:txBody>
          <a:bodyPr wrap="square">
            <a:spAutoFit/>
          </a:bodyPr>
          <a:lstStyle/>
          <a:p>
            <a:pPr algn="l"/>
            <a:r>
              <a:rPr sz="1500" b="1" i="0">
                <a:solidFill>
                  <a:srgbClr val="3E1D68"/>
                </a:solidFill>
                <a:latin typeface="Calibri"/>
              </a:rPr>
              <a:t>33625942</a:t>
            </a:r>
          </a:p>
        </p:txBody>
      </p:sp>
      <p:sp>
        <p:nvSpPr>
          <p:cNvPr id="28" name="TextBox 27"/>
          <p:cNvSpPr txBox="1"/>
          <p:nvPr/>
        </p:nvSpPr>
        <p:spPr>
          <a:xfrm>
            <a:off x="6675120" y="2450592"/>
            <a:ext cx="5029200" cy="438912"/>
          </a:xfrm>
          <a:prstGeom prst="rect">
            <a:avLst/>
          </a:prstGeom>
          <a:noFill/>
        </p:spPr>
        <p:txBody>
          <a:bodyPr wrap="square">
            <a:spAutoFit/>
          </a:bodyPr>
          <a:lstStyle/>
          <a:p>
            <a:pPr algn="l"/>
            <a:r>
              <a:rPr sz="900" b="0" i="0">
                <a:solidFill>
                  <a:srgbClr val="333344"/>
                </a:solidFill>
                <a:latin typeface="Calibri"/>
              </a:rPr>
              <a:t>Send a message anytime for quick help with questions or content access.</a:t>
            </a:r>
          </a:p>
        </p:txBody>
      </p:sp>
      <p:sp>
        <p:nvSpPr>
          <p:cNvPr id="29" name="Rectangle 28"/>
          <p:cNvSpPr/>
          <p:nvPr/>
        </p:nvSpPr>
        <p:spPr>
          <a:xfrm>
            <a:off x="5486400" y="3136392"/>
            <a:ext cx="6400800" cy="1444752"/>
          </a:xfrm>
          <a:prstGeom prst="rect">
            <a:avLst/>
          </a:prstGeom>
          <a:solidFill>
            <a:srgbClr val="F5ECF3"/>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669280" y="3474720"/>
            <a:ext cx="768096" cy="768096"/>
          </a:xfrm>
          <a:prstGeom prst="ellipse">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0" y="3474720"/>
            <a:ext cx="768096" cy="768096"/>
          </a:xfrm>
          <a:prstGeom prst="rect">
            <a:avLst/>
          </a:prstGeom>
          <a:noFill/>
        </p:spPr>
        <p:txBody>
          <a:bodyPr wrap="square">
            <a:spAutoFit/>
          </a:bodyPr>
          <a:lstStyle/>
          <a:p>
            <a:pPr algn="ctr"/>
            <a:r>
              <a:rPr sz="2000" b="0" i="0">
                <a:solidFill>
                  <a:srgbClr val="FFFFFF"/>
                </a:solidFill>
                <a:latin typeface="Calibri"/>
              </a:rPr>
              <a:t>✉️</a:t>
            </a:r>
          </a:p>
        </p:txBody>
      </p:sp>
      <p:sp>
        <p:nvSpPr>
          <p:cNvPr id="32" name="TextBox 31"/>
          <p:cNvSpPr txBox="1"/>
          <p:nvPr/>
        </p:nvSpPr>
        <p:spPr>
          <a:xfrm>
            <a:off x="6675120" y="3337560"/>
            <a:ext cx="1828800" cy="320040"/>
          </a:xfrm>
          <a:prstGeom prst="rect">
            <a:avLst/>
          </a:prstGeom>
          <a:noFill/>
        </p:spPr>
        <p:txBody>
          <a:bodyPr wrap="square">
            <a:spAutoFit/>
          </a:bodyPr>
          <a:lstStyle/>
          <a:p>
            <a:pPr algn="l"/>
            <a:r>
              <a:rPr sz="1000" b="1" i="0">
                <a:solidFill>
                  <a:srgbClr val="C98BA6"/>
                </a:solidFill>
                <a:latin typeface="Calibri"/>
              </a:rPr>
              <a:t>Email</a:t>
            </a:r>
          </a:p>
        </p:txBody>
      </p:sp>
      <p:sp>
        <p:nvSpPr>
          <p:cNvPr id="33" name="TextBox 32"/>
          <p:cNvSpPr txBox="1"/>
          <p:nvPr/>
        </p:nvSpPr>
        <p:spPr>
          <a:xfrm>
            <a:off x="6675120" y="3639312"/>
            <a:ext cx="4937760" cy="384048"/>
          </a:xfrm>
          <a:prstGeom prst="rect">
            <a:avLst/>
          </a:prstGeom>
          <a:noFill/>
        </p:spPr>
        <p:txBody>
          <a:bodyPr wrap="square">
            <a:spAutoFit/>
          </a:bodyPr>
          <a:lstStyle/>
          <a:p>
            <a:pPr algn="l"/>
            <a:r>
              <a:rPr sz="1500" b="1" i="0">
                <a:solidFill>
                  <a:srgbClr val="3E1D68"/>
                </a:solidFill>
                <a:latin typeface="Calibri"/>
              </a:rPr>
              <a:t>noorzaher164@gmail.com</a:t>
            </a:r>
          </a:p>
        </p:txBody>
      </p:sp>
      <p:sp>
        <p:nvSpPr>
          <p:cNvPr id="34" name="TextBox 33"/>
          <p:cNvSpPr txBox="1"/>
          <p:nvPr/>
        </p:nvSpPr>
        <p:spPr>
          <a:xfrm>
            <a:off x="6675120" y="4050792"/>
            <a:ext cx="5029200" cy="438912"/>
          </a:xfrm>
          <a:prstGeom prst="rect">
            <a:avLst/>
          </a:prstGeom>
          <a:noFill/>
        </p:spPr>
        <p:txBody>
          <a:bodyPr wrap="square">
            <a:spAutoFit/>
          </a:bodyPr>
          <a:lstStyle/>
          <a:p>
            <a:pPr algn="l"/>
            <a:r>
              <a:rPr sz="900" b="0" i="0">
                <a:solidFill>
                  <a:srgbClr val="333344"/>
                </a:solidFill>
                <a:latin typeface="Calibri"/>
              </a:rPr>
              <a:t>For detailed questions, material requests, or account issues.</a:t>
            </a:r>
          </a:p>
        </p:txBody>
      </p:sp>
      <p:sp>
        <p:nvSpPr>
          <p:cNvPr id="35" name="Rectangle 34"/>
          <p:cNvSpPr/>
          <p:nvPr/>
        </p:nvSpPr>
        <p:spPr>
          <a:xfrm>
            <a:off x="5486400" y="4736592"/>
            <a:ext cx="6400800" cy="1444752"/>
          </a:xfrm>
          <a:prstGeom prst="rect">
            <a:avLst/>
          </a:prstGeom>
          <a:solidFill>
            <a:srgbClr val="F5ECF3"/>
          </a:solidFill>
          <a:ln w="1524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669280" y="5074920"/>
            <a:ext cx="768096" cy="768096"/>
          </a:xfrm>
          <a:prstGeom prst="ellipse">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0" y="5074920"/>
            <a:ext cx="768096" cy="768096"/>
          </a:xfrm>
          <a:prstGeom prst="rect">
            <a:avLst/>
          </a:prstGeom>
          <a:noFill/>
        </p:spPr>
        <p:txBody>
          <a:bodyPr wrap="square">
            <a:spAutoFit/>
          </a:bodyPr>
          <a:lstStyle/>
          <a:p>
            <a:pPr algn="ctr"/>
            <a:r>
              <a:rPr sz="2000" b="0" i="0">
                <a:solidFill>
                  <a:srgbClr val="FFFFFF"/>
                </a:solidFill>
                <a:latin typeface="Calibri"/>
              </a:rPr>
              <a:t>🌐</a:t>
            </a:r>
          </a:p>
        </p:txBody>
      </p:sp>
      <p:sp>
        <p:nvSpPr>
          <p:cNvPr id="38" name="TextBox 37"/>
          <p:cNvSpPr txBox="1"/>
          <p:nvPr/>
        </p:nvSpPr>
        <p:spPr>
          <a:xfrm>
            <a:off x="6675120" y="4937760"/>
            <a:ext cx="1828800" cy="320040"/>
          </a:xfrm>
          <a:prstGeom prst="rect">
            <a:avLst/>
          </a:prstGeom>
          <a:noFill/>
        </p:spPr>
        <p:txBody>
          <a:bodyPr wrap="square">
            <a:spAutoFit/>
          </a:bodyPr>
          <a:lstStyle/>
          <a:p>
            <a:pPr algn="l"/>
            <a:r>
              <a:rPr sz="1000" b="1" i="0">
                <a:solidFill>
                  <a:srgbClr val="C98BA6"/>
                </a:solidFill>
                <a:latin typeface="Calibri"/>
              </a:rPr>
              <a:t>Website</a:t>
            </a:r>
          </a:p>
        </p:txBody>
      </p:sp>
      <p:sp>
        <p:nvSpPr>
          <p:cNvPr id="39" name="TextBox 38"/>
          <p:cNvSpPr txBox="1"/>
          <p:nvPr/>
        </p:nvSpPr>
        <p:spPr>
          <a:xfrm>
            <a:off x="6675120" y="5239512"/>
            <a:ext cx="4937760" cy="384048"/>
          </a:xfrm>
          <a:prstGeom prst="rect">
            <a:avLst/>
          </a:prstGeom>
          <a:noFill/>
        </p:spPr>
        <p:txBody>
          <a:bodyPr wrap="square">
            <a:spAutoFit/>
          </a:bodyPr>
          <a:lstStyle/>
          <a:p>
            <a:pPr algn="l"/>
            <a:r>
              <a:rPr sz="1500" b="1" i="0">
                <a:solidFill>
                  <a:srgbClr val="3E1D68"/>
                </a:solidFill>
                <a:latin typeface="Calibri"/>
              </a:rPr>
              <a:t>chembridge.msnour.com</a:t>
            </a:r>
          </a:p>
        </p:txBody>
      </p:sp>
      <p:sp>
        <p:nvSpPr>
          <p:cNvPr id="40" name="TextBox 39"/>
          <p:cNvSpPr txBox="1"/>
          <p:nvPr/>
        </p:nvSpPr>
        <p:spPr>
          <a:xfrm>
            <a:off x="6675120" y="5650992"/>
            <a:ext cx="5029200" cy="438912"/>
          </a:xfrm>
          <a:prstGeom prst="rect">
            <a:avLst/>
          </a:prstGeom>
          <a:noFill/>
        </p:spPr>
        <p:txBody>
          <a:bodyPr wrap="square">
            <a:spAutoFit/>
          </a:bodyPr>
          <a:lstStyle/>
          <a:p>
            <a:pPr algn="l"/>
            <a:r>
              <a:rPr sz="900" b="0" i="0">
                <a:solidFill>
                  <a:srgbClr val="333344"/>
                </a:solidFill>
                <a:latin typeface="Calibri"/>
              </a:rPr>
              <a:t>Your main learning hub — always available 24/7.</a:t>
            </a:r>
          </a:p>
        </p:txBody>
      </p:sp>
      <p:sp>
        <p:nvSpPr>
          <p:cNvPr id="41" name="Rectangle 40"/>
          <p:cNvSpPr/>
          <p:nvPr/>
        </p:nvSpPr>
        <p:spPr>
          <a:xfrm>
            <a:off x="0" y="6565392"/>
            <a:ext cx="12188952" cy="292608"/>
          </a:xfrm>
          <a:prstGeom prst="rect">
            <a:avLst/>
          </a:prstGeom>
          <a:solidFill>
            <a:srgbClr val="3E1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6601968"/>
            <a:ext cx="11640312" cy="292608"/>
          </a:xfrm>
          <a:prstGeom prst="rect">
            <a:avLst/>
          </a:prstGeom>
          <a:noFill/>
        </p:spPr>
        <p:txBody>
          <a:bodyPr wrap="square">
            <a:spAutoFit/>
          </a:bodyPr>
          <a:lstStyle/>
          <a:p>
            <a:pPr algn="ctr"/>
            <a:r>
              <a:rPr sz="800" b="0" i="0">
                <a:solidFill>
                  <a:srgbClr val="C98BA6"/>
                </a:solidFill>
                <a:latin typeface="Calibri"/>
              </a:rPr>
              <a:t>ChemBridge – Nourhan's Chemistry Tutoring  |  chembridge.msnour.com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3E1D68"/>
        </a:solidFill>
        <a:effectLst/>
      </p:bgPr>
    </p:bg>
    <p:spTree>
      <p:nvGrpSpPr>
        <p:cNvPr id="1" name=""/>
        <p:cNvGrpSpPr/>
        <p:nvPr/>
      </p:nvGrpSpPr>
      <p:grpSpPr/>
      <p:sp>
        <p:nvSpPr>
          <p:cNvPr id="2" name="Oval 1"/>
          <p:cNvSpPr/>
          <p:nvPr/>
        </p:nvSpPr>
        <p:spPr>
          <a:xfrm>
            <a:off x="182880" y="640080"/>
            <a:ext cx="1463040" cy="146304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4672" y="126187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424160" y="1097280"/>
            <a:ext cx="1097280" cy="109728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863072" y="153619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74320" y="5486400"/>
            <a:ext cx="914400" cy="91440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583387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89920" y="4846320"/>
            <a:ext cx="1280160" cy="128016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20272" y="537667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77840" y="182880"/>
            <a:ext cx="731520" cy="731520"/>
          </a:xfrm>
          <a:prstGeom prst="ellipse">
            <a:avLst/>
          </a:prstGeom>
          <a:noFill/>
          <a:ln w="19050">
            <a:solidFill>
              <a:srgbClr val="C98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833872" y="438912"/>
            <a:ext cx="219456" cy="219456"/>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72768" y="2304288"/>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212848" y="2381098"/>
            <a:ext cx="358444" cy="35844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86308" y="2381098"/>
            <a:ext cx="358444" cy="35844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49578" y="2944368"/>
            <a:ext cx="358444" cy="35844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649578" y="1817828"/>
            <a:ext cx="358444" cy="35844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802368" y="4773168"/>
            <a:ext cx="512064" cy="51206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442448" y="4849978"/>
            <a:ext cx="358444" cy="35844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15908" y="4849978"/>
            <a:ext cx="358444" cy="35844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879178" y="5413248"/>
            <a:ext cx="358444" cy="35844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879178" y="4286708"/>
            <a:ext cx="358444" cy="358444"/>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7200" y="3931920"/>
            <a:ext cx="365760" cy="365760"/>
          </a:xfrm>
          <a:prstGeom prst="ellipse">
            <a:avLst/>
          </a:prstGeom>
          <a:solidFill>
            <a:srgbClr val="6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4401" y="3986785"/>
            <a:ext cx="256030" cy="256030"/>
          </a:xfrm>
          <a:prstGeom prst="ellipse">
            <a:avLst/>
          </a:prstGeom>
          <a:solidFill>
            <a:srgbClr val="6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9729" y="3986785"/>
            <a:ext cx="256030" cy="256030"/>
          </a:xfrm>
          <a:prstGeom prst="ellipse">
            <a:avLst/>
          </a:prstGeom>
          <a:solidFill>
            <a:srgbClr val="6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12065" y="4389121"/>
            <a:ext cx="256030" cy="256030"/>
          </a:xfrm>
          <a:prstGeom prst="ellipse">
            <a:avLst/>
          </a:prstGeom>
          <a:solidFill>
            <a:srgbClr val="6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12065" y="3584449"/>
            <a:ext cx="256030" cy="256030"/>
          </a:xfrm>
          <a:prstGeom prst="ellipse">
            <a:avLst/>
          </a:prstGeom>
          <a:solidFill>
            <a:srgbClr val="6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338560" y="2743200"/>
            <a:ext cx="365760" cy="365760"/>
          </a:xfrm>
          <a:prstGeom prst="ellipse">
            <a:avLst/>
          </a:prstGeom>
          <a:solidFill>
            <a:srgbClr val="6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795761" y="2798065"/>
            <a:ext cx="256030" cy="256030"/>
          </a:xfrm>
          <a:prstGeom prst="ellipse">
            <a:avLst/>
          </a:prstGeom>
          <a:solidFill>
            <a:srgbClr val="6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991089" y="2798065"/>
            <a:ext cx="256030" cy="256030"/>
          </a:xfrm>
          <a:prstGeom prst="ellipse">
            <a:avLst/>
          </a:prstGeom>
          <a:solidFill>
            <a:srgbClr val="6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393425" y="3200401"/>
            <a:ext cx="256030" cy="256030"/>
          </a:xfrm>
          <a:prstGeom prst="ellipse">
            <a:avLst/>
          </a:prstGeom>
          <a:solidFill>
            <a:srgbClr val="6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393425" y="2395729"/>
            <a:ext cx="256030" cy="256030"/>
          </a:xfrm>
          <a:prstGeom prst="ellipse">
            <a:avLst/>
          </a:prstGeom>
          <a:solidFill>
            <a:srgbClr val="6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894076" y="228600"/>
            <a:ext cx="6400800" cy="6400800"/>
          </a:xfrm>
          <a:prstGeom prst="ellipse">
            <a:avLst/>
          </a:prstGeom>
          <a:solidFill>
            <a:srgbClr val="553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534156" y="868680"/>
            <a:ext cx="5120640" cy="5120640"/>
          </a:xfrm>
          <a:prstGeom prst="ellipse">
            <a:avLst/>
          </a:prstGeom>
          <a:solidFill>
            <a:srgbClr val="4A2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088636" y="1691640"/>
            <a:ext cx="2011680" cy="2011680"/>
          </a:xfrm>
          <a:prstGeom prst="ellipse">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225796" y="1828800"/>
            <a:ext cx="1737360" cy="17373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25796" y="1828800"/>
            <a:ext cx="1737360" cy="1737360"/>
          </a:xfrm>
          <a:prstGeom prst="rect">
            <a:avLst/>
          </a:prstGeom>
          <a:noFill/>
        </p:spPr>
        <p:txBody>
          <a:bodyPr wrap="square">
            <a:spAutoFit/>
          </a:bodyPr>
          <a:lstStyle/>
          <a:p>
            <a:pPr algn="ctr"/>
            <a:r>
              <a:rPr sz="3200" b="1" i="0">
                <a:solidFill>
                  <a:srgbClr val="3E1D68"/>
                </a:solidFill>
                <a:latin typeface="Calibri"/>
              </a:rPr>
              <a:t>CB</a:t>
            </a:r>
          </a:p>
        </p:txBody>
      </p:sp>
      <p:sp>
        <p:nvSpPr>
          <p:cNvPr id="37" name="TextBox 36"/>
          <p:cNvSpPr txBox="1"/>
          <p:nvPr/>
        </p:nvSpPr>
        <p:spPr>
          <a:xfrm>
            <a:off x="1371600" y="3246120"/>
            <a:ext cx="9445752" cy="731520"/>
          </a:xfrm>
          <a:prstGeom prst="rect">
            <a:avLst/>
          </a:prstGeom>
          <a:noFill/>
        </p:spPr>
        <p:txBody>
          <a:bodyPr wrap="square">
            <a:spAutoFit/>
          </a:bodyPr>
          <a:lstStyle/>
          <a:p>
            <a:pPr algn="ctr"/>
            <a:r>
              <a:rPr sz="3000" b="1" i="0">
                <a:solidFill>
                  <a:srgbClr val="FFFFFF"/>
                </a:solidFill>
                <a:latin typeface="Calibri"/>
              </a:rPr>
              <a:t>Start Your Chemistry Journey Today</a:t>
            </a:r>
          </a:p>
        </p:txBody>
      </p:sp>
      <p:sp>
        <p:nvSpPr>
          <p:cNvPr id="38" name="Rectangle 37"/>
          <p:cNvSpPr/>
          <p:nvPr/>
        </p:nvSpPr>
        <p:spPr>
          <a:xfrm>
            <a:off x="3200400" y="4041648"/>
            <a:ext cx="5760720" cy="54864"/>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71600" y="4187952"/>
            <a:ext cx="9445752" cy="475488"/>
          </a:xfrm>
          <a:prstGeom prst="rect">
            <a:avLst/>
          </a:prstGeom>
          <a:noFill/>
        </p:spPr>
        <p:txBody>
          <a:bodyPr wrap="square">
            <a:spAutoFit/>
          </a:bodyPr>
          <a:lstStyle/>
          <a:p>
            <a:pPr algn="ctr"/>
            <a:r>
              <a:rPr sz="1400" b="0" i="1">
                <a:solidFill>
                  <a:srgbClr val="C98BA6"/>
                </a:solidFill>
                <a:latin typeface="Calibri"/>
              </a:rPr>
              <a:t>ChemBridge – Bridging the Gap Between You and Chemistry</a:t>
            </a:r>
          </a:p>
        </p:txBody>
      </p:sp>
      <p:sp>
        <p:nvSpPr>
          <p:cNvPr id="40" name="Rectangle 39"/>
          <p:cNvSpPr/>
          <p:nvPr/>
        </p:nvSpPr>
        <p:spPr>
          <a:xfrm>
            <a:off x="4082796" y="4773168"/>
            <a:ext cx="4023360" cy="530352"/>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82796" y="4828032"/>
            <a:ext cx="4023360" cy="438912"/>
          </a:xfrm>
          <a:prstGeom prst="rect">
            <a:avLst/>
          </a:prstGeom>
          <a:noFill/>
        </p:spPr>
        <p:txBody>
          <a:bodyPr wrap="square">
            <a:spAutoFit/>
          </a:bodyPr>
          <a:lstStyle/>
          <a:p>
            <a:pPr algn="ctr"/>
            <a:r>
              <a:rPr sz="1200" b="1" i="0">
                <a:solidFill>
                  <a:srgbClr val="FFFFFF"/>
                </a:solidFill>
                <a:latin typeface="Calibri"/>
              </a:rPr>
              <a:t>🌐  Visit chembridge.msnour.com  →</a:t>
            </a:r>
          </a:p>
        </p:txBody>
      </p:sp>
      <p:sp>
        <p:nvSpPr>
          <p:cNvPr id="42" name="TextBox 41"/>
          <p:cNvSpPr txBox="1"/>
          <p:nvPr/>
        </p:nvSpPr>
        <p:spPr>
          <a:xfrm>
            <a:off x="1828800" y="5486400"/>
            <a:ext cx="8531352" cy="320040"/>
          </a:xfrm>
          <a:prstGeom prst="rect">
            <a:avLst/>
          </a:prstGeom>
          <a:noFill/>
        </p:spPr>
        <p:txBody>
          <a:bodyPr wrap="square">
            <a:spAutoFit/>
          </a:bodyPr>
          <a:lstStyle/>
          <a:p>
            <a:pPr algn="ctr"/>
            <a:r>
              <a:rPr sz="1000" b="0" i="1">
                <a:solidFill>
                  <a:srgbClr val="E8D5B7"/>
                </a:solidFill>
                <a:latin typeface="Calibri"/>
              </a:rPr>
              <a:t>by Teacher Nourhan Zaher</a:t>
            </a:r>
          </a:p>
        </p:txBody>
      </p:sp>
      <p:sp>
        <p:nvSpPr>
          <p:cNvPr id="43" name="Rectangle 42"/>
          <p:cNvSpPr/>
          <p:nvPr/>
        </p:nvSpPr>
        <p:spPr>
          <a:xfrm>
            <a:off x="0" y="6400800"/>
            <a:ext cx="12188952" cy="457200"/>
          </a:xfrm>
          <a:prstGeom prst="rect">
            <a:avLst/>
          </a:prstGeom>
          <a:solidFill>
            <a:srgbClr val="C98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 y="6455664"/>
            <a:ext cx="11640312" cy="347472"/>
          </a:xfrm>
          <a:prstGeom prst="rect">
            <a:avLst/>
          </a:prstGeom>
          <a:noFill/>
        </p:spPr>
        <p:txBody>
          <a:bodyPr wrap="square">
            <a:spAutoFit/>
          </a:bodyPr>
          <a:lstStyle/>
          <a:p>
            <a:pPr algn="ctr"/>
            <a:r>
              <a:rPr sz="850" b="1" i="0">
                <a:solidFill>
                  <a:srgbClr val="FFFFFF"/>
                </a:solidFill>
                <a:latin typeface="Calibri"/>
              </a:rPr>
              <a:t>ChemBridge  |  CHEM 101 &amp; CHEM 103  |  Qatar University  |  chembridge.msnour.com  |  33625942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